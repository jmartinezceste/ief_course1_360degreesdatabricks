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80" r:id="rId2"/>
    <p:sldId id="2147474067" r:id="rId3"/>
    <p:sldId id="274" r:id="rId4"/>
    <p:sldId id="275" r:id="rId5"/>
    <p:sldId id="276" r:id="rId6"/>
    <p:sldId id="277" r:id="rId7"/>
    <p:sldId id="256" r:id="rId8"/>
    <p:sldId id="278" r:id="rId9"/>
    <p:sldId id="2147474068" r:id="rId10"/>
    <p:sldId id="282" r:id="rId11"/>
    <p:sldId id="283" r:id="rId12"/>
    <p:sldId id="279" r:id="rId13"/>
    <p:sldId id="2147474069" r:id="rId14"/>
    <p:sldId id="2147474070" r:id="rId15"/>
    <p:sldId id="281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8BBC"/>
    <a:srgbClr val="156082"/>
    <a:srgbClr val="FFF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50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CE6E01-8152-4A2A-B076-1FEB18D3E2AD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1CCDE-4723-4995-BE44-3BF9696042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071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.com/?utm_campaign=product&amp;utm_source=web_translator&amp;utm_medium=web&amp;utm_content=copy_free_translation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90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5ee5cc475b_0_15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5ee5cc475b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5ee5cc475b_0_40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5ee5cc475b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5ee5cc475b_0_54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5ee5cc475b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ee5cc475b_0_63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5ee5cc475b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B571-A625-D97A-3F1A-E9E01B06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00FF99-4E8F-DE66-887F-36E234D04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5049056-6C9F-BA8C-5AA3-61CD03182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422CD4B-BF5A-FE65-29C5-B8A760772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🔹 Clústeres multiuso: ideales para el desarrollo interactivo, las pruebas y la colaboración. Considérelos como su espacio de trabajo compartido para crear y experimentar.</a:t>
            </a:r>
          </a:p>
          <a:p>
            <a:r>
              <a:rPr lang="es-ES" dirty="0"/>
              <a:t>🔹 Clústeres de tareas: diseñados específicamente para ejecutar tareas programadas o activadas. Se activan para la tarea y se apagan automáticamente cuando terminan, lo que los hace ideales para ETL de producción.</a:t>
            </a:r>
          </a:p>
          <a:p>
            <a:r>
              <a:rPr lang="es-ES" dirty="0"/>
              <a:t>🔹 Pools de clústeres: no son un clúster en sí, sino una forma de precalentar los recursos informáticos para que los clústeres se inicien más rápido. Perfectos para entornos con trabajos cortos frecuentes.</a:t>
            </a:r>
          </a:p>
          <a:p>
            <a:r>
              <a:rPr lang="es-ES" dirty="0"/>
              <a:t>🔹 Almacenes SQL: optimizados para consultas SQL y herramientas de BI como Power BI y </a:t>
            </a:r>
            <a:r>
              <a:rPr lang="es-ES" dirty="0" err="1"/>
              <a:t>Tableau</a:t>
            </a:r>
            <a:r>
              <a:rPr lang="es-ES" dirty="0"/>
              <a:t>. Computación de pago por segundo diseñada para paneles de control y análisis ad hoc.</a:t>
            </a:r>
          </a:p>
          <a:p>
            <a:r>
              <a:rPr lang="es-ES" dirty="0"/>
              <a:t>💡 Consejo:</a:t>
            </a:r>
          </a:p>
          <a:p>
            <a:r>
              <a:rPr lang="es-ES" dirty="0"/>
              <a:t>Utilice </a:t>
            </a:r>
            <a:r>
              <a:rPr lang="es-ES" dirty="0" err="1"/>
              <a:t>All-Purpose</a:t>
            </a:r>
            <a:r>
              <a:rPr lang="es-ES" dirty="0"/>
              <a:t> para el trabajo de desarrollo,</a:t>
            </a:r>
          </a:p>
          <a:p>
            <a:r>
              <a:rPr lang="es-ES" dirty="0"/>
              <a:t>Job </a:t>
            </a:r>
            <a:r>
              <a:rPr lang="es-ES" dirty="0" err="1"/>
              <a:t>Clusters</a:t>
            </a:r>
            <a:r>
              <a:rPr lang="es-ES" dirty="0"/>
              <a:t> para la producción,</a:t>
            </a:r>
          </a:p>
          <a:p>
            <a:r>
              <a:rPr lang="es-ES" dirty="0"/>
              <a:t>Pools para reducir el tiempo de arranque,</a:t>
            </a:r>
          </a:p>
          <a:p>
            <a:r>
              <a:rPr lang="es-ES" dirty="0"/>
              <a:t>SQL </a:t>
            </a:r>
            <a:r>
              <a:rPr lang="es-ES" dirty="0" err="1"/>
              <a:t>Warehouses</a:t>
            </a:r>
            <a:r>
              <a:rPr lang="es-ES" dirty="0"/>
              <a:t> para BI.</a:t>
            </a:r>
          </a:p>
          <a:p>
            <a:r>
              <a:rPr lang="es-ES" dirty="0"/>
              <a:t>Elegir sabiamente = mayor rendimiento + menor coste ✅</a:t>
            </a:r>
          </a:p>
          <a:p>
            <a:br>
              <a:rPr lang="es-ES" dirty="0"/>
            </a:br>
            <a:endParaRPr lang="es-ES" dirty="0"/>
          </a:p>
          <a:p>
            <a:r>
              <a:rPr lang="es-ES" i="1" dirty="0"/>
              <a:t>Traducción realizada con la versión gratuita del traductor </a:t>
            </a:r>
            <a:r>
              <a:rPr lang="es-ES" i="1" dirty="0">
                <a:hlinkClick r:id="rId3"/>
              </a:rPr>
              <a:t>DeepL.com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1CCDE-4723-4995-BE44-3BF9696042C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6649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38E091-E43C-F7CA-5E9E-DD20C4D70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59D6BA5-52ED-5D6D-2764-D39D180CB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AB4E31-A1E3-5630-0E15-D5456850C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272350-A523-ECB5-4F40-53A4C0391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006481-B905-FCA0-E1E2-91580B89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566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F9C217-078D-C8DB-EF67-3E695D66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591B1C-3C48-4C2D-4703-0F251210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45B66C6-FFA1-15C7-1176-7A9B1EACF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87B9E0-B37E-77F9-B759-2FDCEA12B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E84334-C8E5-34FB-B366-BB71EE5DA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26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867F77-012B-B367-60F9-32A546F4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A27D0E0-6E41-52AD-9215-A651F552B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66BDC9-BC15-A5A9-E6A2-B6D2DC78F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4C9B5C4-B612-F7BF-80E2-C9685DE64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7A2D4A-1339-CA75-0317-785630129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6335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4050E9-E96A-5B59-1F6C-6765FB0C9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02451C-1009-D2B6-4863-FDCAB8813F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54BB175-BB03-DA75-1DC6-F039B1F9C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0754830-BC4E-B663-B29B-18E2F77E6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56672F-9A2A-DA42-267F-2B17979B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AFE0A4-D58F-B7B6-B800-F77F571D9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7316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FB2DE5-2333-1759-E791-438A593EC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FD5603-DADD-6C55-1D50-6381DB04F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7C031D-30E5-10D8-3498-9060C0F56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8A08613-49FF-324C-2DF5-3AD4F4156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34C84B-D135-1CA2-9C9B-80BA24545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BA3F350-9634-0CBE-E28B-F9AE2044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3E752CD-AC5D-77AD-5236-E17A05F5E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445B470-4DB7-C1B0-8FE5-936456D2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5556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BD265-76D5-2CEA-0E3C-78C92D73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509088-E4C4-5251-CD2C-BD1F5D83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9D4F82B-5080-5143-DCEB-16173447E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0C85115-0E4B-3AB8-6FDE-1C661767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3055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974F96F-6712-BAE8-462F-D04E8E8B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B09FDF-195D-FED2-9F47-94BCAF07E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CEB949-6C79-02F8-D61A-5E5CACB68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1678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CF6E8-E529-DC28-C906-A365AEB22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8C7F5C-79D1-FF1E-49D8-E5AD76555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D01EB8-B0C1-D217-8C8B-D3164242F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7E46647-8BFE-61F8-B6A9-94E5A1BFE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358348B-031D-E70A-5F70-C026F9910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42BE20-B066-2ED9-AE6E-F5547AEF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4034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51B83-BFD2-D388-5E2D-D7D6DA1F9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03E77C4-8A09-C55F-59F1-20220D051B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0F6D75-37A0-2476-A0CE-50EB0B24F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B17BCE-604C-FD49-7798-FDEEBD29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942784-0712-BE51-62D0-C15F1E129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12BC6A-46D9-7FE2-2D97-F71DEC03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9878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D4453-A95F-239B-5DF3-B605E2C8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366EFD1-328E-300B-B0E2-44514BF35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0E0AB2-C3C4-FF08-BEE2-8CAA44270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1CDD342-D477-7453-519A-1765A2132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9D8B94-C9EB-7DC4-6F2C-152534263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7998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447428B-F8E5-420B-5F12-E77BF4B51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AFB9EB6-9FE0-8669-B21D-15FDE6E5B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7EF534-B94D-61C1-C6D1-3CCE443AF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0FA0C-2197-F2DB-035F-EA6D57C45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0505EA-2281-7376-7EBF-C7D9FDE4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7790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313E622-8B38-8BEA-5FCC-B718B5BA5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57FB6E4-AB5E-FE1B-AC88-936668C6F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2242DE-81D5-B303-1311-42CA4F47F0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4D64EB-E19D-4BED-B428-FA061CDD0C0E}" type="datetimeFigureOut">
              <a:rPr lang="es-ES" smtClean="0"/>
              <a:t>25/11/2025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62C761-63D9-5AF4-AE3E-21F6639482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3A9FA2-0DFD-6243-1283-257C28E86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6ED373-F968-42F9-B08E-CCCC7140338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6466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26F5230-4B0B-9C0B-CABB-8A3431A6A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43000"/>
            <a:ext cx="9144000" cy="4114800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s-ES" dirty="0" err="1"/>
              <a:t>Databricks</a:t>
            </a:r>
            <a:endParaRPr lang="es-ES" dirty="0"/>
          </a:p>
          <a:p>
            <a:pPr marL="914400" lvl="1" indent="-457200" algn="l">
              <a:buAutoNum type="arabicPeriod"/>
            </a:pPr>
            <a:r>
              <a:rPr lang="es-ES" dirty="0"/>
              <a:t>Claves de la Plataforma</a:t>
            </a:r>
          </a:p>
          <a:p>
            <a:pPr marL="914400" lvl="1" indent="-457200" algn="l">
              <a:buAutoNum type="arabicPeriod"/>
            </a:pPr>
            <a:r>
              <a:rPr lang="es-ES" dirty="0" err="1"/>
              <a:t>Databricks</a:t>
            </a:r>
            <a:r>
              <a:rPr lang="es-ES" dirty="0"/>
              <a:t> como Data </a:t>
            </a:r>
            <a:r>
              <a:rPr lang="es-ES" dirty="0" err="1"/>
              <a:t>Lakehouse</a:t>
            </a:r>
            <a:endParaRPr lang="es-ES" dirty="0"/>
          </a:p>
          <a:p>
            <a:pPr marL="914400" lvl="1" indent="-457200" algn="l">
              <a:buAutoNum type="arabicPeriod"/>
            </a:pPr>
            <a:r>
              <a:rPr lang="es-ES" dirty="0"/>
              <a:t>Ecosistema de Datos</a:t>
            </a:r>
          </a:p>
          <a:p>
            <a:pPr marL="457200" indent="-457200" algn="l">
              <a:buAutoNum type="arabicPeriod"/>
            </a:pPr>
            <a:r>
              <a:rPr lang="es-ES" dirty="0" err="1"/>
              <a:t>Clusters</a:t>
            </a:r>
            <a:endParaRPr lang="es-ES" dirty="0"/>
          </a:p>
          <a:p>
            <a:pPr marL="914400" lvl="1" indent="-457200" algn="l">
              <a:buAutoNum type="arabicPeriod"/>
            </a:pPr>
            <a:r>
              <a:rPr lang="es-ES" dirty="0"/>
              <a:t>¿Qué es?</a:t>
            </a:r>
          </a:p>
          <a:p>
            <a:pPr marL="914400" lvl="1" indent="-457200" algn="l">
              <a:buAutoNum type="arabicPeriod"/>
            </a:pPr>
            <a:r>
              <a:rPr lang="es-ES" dirty="0"/>
              <a:t>Modos de Acceso</a:t>
            </a:r>
          </a:p>
          <a:p>
            <a:pPr marL="914400" lvl="1" indent="-457200" algn="l">
              <a:buAutoNum type="arabicPeriod"/>
            </a:pPr>
            <a:r>
              <a:rPr lang="es-ES" dirty="0"/>
              <a:t>Tipos de </a:t>
            </a:r>
            <a:r>
              <a:rPr lang="es-ES" dirty="0" err="1"/>
              <a:t>Clusters</a:t>
            </a:r>
            <a:endParaRPr lang="es-ES" dirty="0"/>
          </a:p>
          <a:p>
            <a:pPr marL="914400" lvl="1" indent="-457200" algn="l">
              <a:buAutoNum type="arabicPeriod"/>
            </a:pPr>
            <a:r>
              <a:rPr lang="es-ES" dirty="0"/>
              <a:t>Buenas Practicas</a:t>
            </a:r>
          </a:p>
          <a:p>
            <a:pPr marL="457200" indent="-457200" algn="l">
              <a:buAutoNum type="arabicPeriod"/>
            </a:pPr>
            <a:r>
              <a:rPr lang="es-ES" dirty="0"/>
              <a:t>Spark</a:t>
            </a:r>
          </a:p>
          <a:p>
            <a:pPr marL="914400" lvl="1" indent="-457200" algn="l">
              <a:buAutoNum type="arabicPeriod"/>
            </a:pPr>
            <a:r>
              <a:rPr lang="es-ES" dirty="0" err="1"/>
              <a:t>Intro</a:t>
            </a:r>
            <a:endParaRPr lang="es-ES" dirty="0"/>
          </a:p>
          <a:p>
            <a:pPr marL="914400" lvl="1" indent="-457200" algn="l">
              <a:buAutoNum type="arabicPeriod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2968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F30D9C47-C0B8-5576-6621-2E91145DC431}"/>
              </a:ext>
            </a:extLst>
          </p:cNvPr>
          <p:cNvSpPr txBox="1"/>
          <p:nvPr/>
        </p:nvSpPr>
        <p:spPr>
          <a:xfrm>
            <a:off x="4007768" y="2537902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DATABRICKS</a:t>
            </a:r>
          </a:p>
        </p:txBody>
      </p:sp>
    </p:spTree>
    <p:extLst>
      <p:ext uri="{BB962C8B-B14F-4D97-AF65-F5344CB8AC3E}">
        <p14:creationId xmlns:p14="http://schemas.microsoft.com/office/powerpoint/2010/main" val="4121299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5ee5cc475b_0_15"/>
          <p:cNvSpPr txBox="1">
            <a:spLocks noGrp="1"/>
          </p:cNvSpPr>
          <p:nvPr>
            <p:ph type="title"/>
          </p:nvPr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Fundamentales</a:t>
            </a:r>
            <a:endParaRPr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  <p:pic>
        <p:nvPicPr>
          <p:cNvPr id="275" name="Google Shape;275;g35ee5cc475b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5046" y="1599462"/>
            <a:ext cx="2057409" cy="1083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g35ee5cc475b_0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67422" y="1484024"/>
            <a:ext cx="1776932" cy="1122128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g35ee5cc475b_0_15"/>
          <p:cNvSpPr txBox="1"/>
          <p:nvPr/>
        </p:nvSpPr>
        <p:spPr>
          <a:xfrm>
            <a:off x="2243640" y="2783942"/>
            <a:ext cx="1536600" cy="18843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200025" indent="-109537">
              <a:buClr>
                <a:srgbClr val="323F4F"/>
              </a:buClr>
              <a:buSzPts val="1100"/>
              <a:buFont typeface="Arial"/>
              <a:buChar char="•"/>
            </a:pPr>
            <a:r>
              <a:rPr lang="es-ES" sz="11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Motor de procesamiento distribuido</a:t>
            </a:r>
            <a:endParaRPr sz="1100" dirty="0"/>
          </a:p>
          <a:p>
            <a:pPr marL="200025" indent="-39687">
              <a:buClr>
                <a:schemeClr val="lt1"/>
              </a:buClr>
              <a:buSzPts val="1400"/>
            </a:pPr>
            <a:endParaRPr sz="13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0025" indent="-109537">
              <a:buClr>
                <a:srgbClr val="323F4F"/>
              </a:buClr>
              <a:buSzPts val="1100"/>
              <a:buFont typeface="Arial"/>
              <a:buChar char="•"/>
            </a:pPr>
            <a:r>
              <a:rPr lang="es-E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Corazón de </a:t>
            </a:r>
            <a:r>
              <a:rPr lang="es-ES" sz="11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Databricks</a:t>
            </a:r>
            <a:r>
              <a:rPr lang="es-E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ejecuta todo (ETL, SQL, ML, </a:t>
            </a:r>
            <a:r>
              <a:rPr lang="es-E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streaming</a:t>
            </a:r>
            <a:r>
              <a:rPr lang="es-E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…)</a:t>
            </a:r>
            <a:endParaRPr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5ee5cc475b_0_15"/>
          <p:cNvSpPr txBox="1"/>
          <p:nvPr/>
        </p:nvSpPr>
        <p:spPr>
          <a:xfrm>
            <a:off x="5287578" y="2783942"/>
            <a:ext cx="1536600" cy="18843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200025" indent="-96837">
              <a:buClr>
                <a:srgbClr val="323F4F"/>
              </a:buClr>
              <a:buSzPts val="900"/>
              <a:buFont typeface="Calibri"/>
              <a:buChar char="•"/>
            </a:pPr>
            <a:r>
              <a:rPr lang="es-ES" sz="110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Capa de almacenamiento transaccional sobre Spark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200025" indent="-39687">
              <a:buClr>
                <a:schemeClr val="lt1"/>
              </a:buClr>
              <a:buSzPts val="1400"/>
            </a:pPr>
            <a:endParaRPr sz="110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0025" indent="-109537">
              <a:buClr>
                <a:srgbClr val="323F4F"/>
              </a:buClr>
              <a:buSzPts val="1100"/>
              <a:buFont typeface="Arial"/>
              <a:buChar char="•"/>
            </a:pPr>
            <a:r>
              <a:rPr lang="es-ES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de archivos confiable</a:t>
            </a: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añade ACID, versionado, time travel</a:t>
            </a:r>
            <a:endParaRPr sz="110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g35ee5cc475b_0_15"/>
          <p:cNvSpPr txBox="1"/>
          <p:nvPr/>
        </p:nvSpPr>
        <p:spPr>
          <a:xfrm>
            <a:off x="8091203" y="2783942"/>
            <a:ext cx="1536600" cy="18843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103188">
              <a:buClr>
                <a:srgbClr val="323F4F"/>
              </a:buClr>
              <a:buSzPts val="900"/>
            </a:pP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Imagen 6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3CCC971E-482A-2A1B-0FE0-BB62991CD4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452" y="1517012"/>
            <a:ext cx="2167891" cy="12202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5ee5cc475b_0_40"/>
          <p:cNvSpPr txBox="1">
            <a:spLocks noGrp="1"/>
          </p:cNvSpPr>
          <p:nvPr>
            <p:ph type="title"/>
          </p:nvPr>
        </p:nvSpPr>
        <p:spPr>
          <a:xfrm>
            <a:off x="2152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 fontScale="90000"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/>
              <a:t>Delta Lake</a:t>
            </a:r>
            <a:r>
              <a:rPr lang="es-ES">
                <a:solidFill>
                  <a:schemeClr val="accent1"/>
                </a:solidFill>
              </a:rPr>
              <a:t>| Data Warehouse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287" name="Google Shape;287;g35ee5cc475b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900" y="1173751"/>
            <a:ext cx="3787450" cy="4276899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g35ee5cc475b_0_40"/>
          <p:cNvSpPr txBox="1"/>
          <p:nvPr/>
        </p:nvSpPr>
        <p:spPr>
          <a:xfrm>
            <a:off x="7817050" y="1416400"/>
            <a:ext cx="2289600" cy="34869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Data Warehouse</a:t>
            </a:r>
            <a:endParaRPr sz="1000">
              <a:solidFill>
                <a:schemeClr val="dk1"/>
              </a:solidFill>
            </a:endParaRPr>
          </a:p>
          <a:p>
            <a:pPr>
              <a:spcBef>
                <a:spcPts val="1200"/>
              </a:spcBef>
            </a:pP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✅Pros: 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Estructura clara y gobernabilidad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Ideal para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 y SQL tradicional</a:t>
            </a:r>
            <a:br>
              <a:rPr lang="es-ES" sz="1000" b="1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❌Cons: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Difícil manejar datos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estructurados</a:t>
            </a: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(audio, video, texto)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No está pensado para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</a:t>
            </a: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ni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ciencia de datos</a:t>
            </a:r>
            <a:b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Poco flexible ante grandes volúmenes o variedad de datos</a:t>
            </a:r>
            <a:endParaRPr sz="110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5ee5cc475b_0_54"/>
          <p:cNvSpPr txBox="1"/>
          <p:nvPr/>
        </p:nvSpPr>
        <p:spPr>
          <a:xfrm>
            <a:off x="7871149" y="1578725"/>
            <a:ext cx="2289600" cy="35142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Data Lake</a:t>
            </a: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✅ Pros: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1. Escalable y económico (almacenamiento en bruto)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2. Acepta </a:t>
            </a:r>
            <a:r>
              <a:rPr lang="es-ES" sz="10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cualquier tipo de datos</a:t>
            </a: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 (estructurados o no)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❌</a:t>
            </a:r>
            <a:r>
              <a:rPr lang="es-ES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control de calidad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→ puede volverse una "ciénaga de datos"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Bajo rendimiento para consultas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Mala integración con herramientas BI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No garantiza integridad ni transacciones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5ee5cc475b_0_54"/>
          <p:cNvSpPr txBox="1">
            <a:spLocks noGrp="1"/>
          </p:cNvSpPr>
          <p:nvPr>
            <p:ph type="title"/>
          </p:nvPr>
        </p:nvSpPr>
        <p:spPr>
          <a:xfrm>
            <a:off x="2152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 fontScale="90000"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dirty="0"/>
              <a:t>Delta Lake</a:t>
            </a:r>
            <a:r>
              <a:rPr lang="es-ES" dirty="0">
                <a:solidFill>
                  <a:schemeClr val="accent1"/>
                </a:solidFill>
              </a:rPr>
              <a:t>| Data Lake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296" name="Google Shape;296;g35ee5cc475b_0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7975" y="1090750"/>
            <a:ext cx="3869600" cy="449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5ee5cc475b_0_63"/>
          <p:cNvSpPr txBox="1"/>
          <p:nvPr/>
        </p:nvSpPr>
        <p:spPr>
          <a:xfrm>
            <a:off x="2653500" y="4835775"/>
            <a:ext cx="6885000" cy="8115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>
              <a:lnSpc>
                <a:spcPct val="115000"/>
              </a:lnSpc>
            </a:pP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10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Lakehouse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la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evolución natural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que: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Une lo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 del Data </a:t>
            </a:r>
            <a:r>
              <a:rPr lang="es-ES" sz="10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Warehouse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(gobierno, fiabilidad, rendimiento)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Con lo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 del Data Lake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(flexibilidad, diversidad, escalabilidad)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</a:pP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4" name="Google Shape;304;g35ee5cc475b_0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9438" y="1217626"/>
            <a:ext cx="7193124" cy="301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88;g35ee5cc475b_0_40">
            <a:extLst>
              <a:ext uri="{FF2B5EF4-FFF2-40B4-BE49-F238E27FC236}">
                <a16:creationId xmlns:a16="http://schemas.microsoft.com/office/drawing/2014/main" id="{705E88E7-B596-8AA5-7EF7-F2FE88D46F7B}"/>
              </a:ext>
            </a:extLst>
          </p:cNvPr>
          <p:cNvSpPr txBox="1"/>
          <p:nvPr/>
        </p:nvSpPr>
        <p:spPr>
          <a:xfrm>
            <a:off x="127200" y="1217626"/>
            <a:ext cx="2025450" cy="3157524"/>
          </a:xfrm>
          <a:prstGeom prst="rect">
            <a:avLst/>
          </a:prstGeom>
          <a:solidFill>
            <a:srgbClr val="156082">
              <a:alpha val="3922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</a:t>
            </a:r>
            <a:r>
              <a:rPr lang="es-ES" sz="11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Warehouse</a:t>
            </a:r>
            <a:endParaRPr sz="1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1200"/>
              </a:spcBef>
            </a:pP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Pros: 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Estructura clara y gobernabilidad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2. Ideal para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 y SQL tradicional</a:t>
            </a:r>
            <a:br>
              <a:rPr lang="es-ES" sz="1000" b="1" dirty="0">
                <a:solidFill>
                  <a:schemeClr val="bg1">
                    <a:lumMod val="50000"/>
                  </a:schemeClr>
                </a:solidFill>
              </a:rPr>
            </a:br>
            <a:endParaRPr sz="1000" dirty="0">
              <a:solidFill>
                <a:schemeClr val="bg1">
                  <a:lumMod val="5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" sz="1000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Cons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Difícil manejar datos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 estructurados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(audio, video, texto)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2. No está pensado para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Machine </a:t>
            </a:r>
            <a:r>
              <a:rPr lang="es-ES" sz="10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Learning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ni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ciencia de datos</a:t>
            </a:r>
            <a:b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3. Poco flexible ante grandes volúmenes o variedad de datos</a:t>
            </a:r>
            <a:endParaRPr sz="1100" dirty="0">
              <a:solidFill>
                <a:schemeClr val="bg1">
                  <a:lumMod val="5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94;g35ee5cc475b_0_54">
            <a:extLst>
              <a:ext uri="{FF2B5EF4-FFF2-40B4-BE49-F238E27FC236}">
                <a16:creationId xmlns:a16="http://schemas.microsoft.com/office/drawing/2014/main" id="{650D6D0B-7E68-F152-586A-0E30244EC659}"/>
              </a:ext>
            </a:extLst>
          </p:cNvPr>
          <p:cNvSpPr txBox="1"/>
          <p:nvPr/>
        </p:nvSpPr>
        <p:spPr>
          <a:xfrm>
            <a:off x="10039350" y="1217626"/>
            <a:ext cx="2025450" cy="3157524"/>
          </a:xfrm>
          <a:prstGeom prst="rect">
            <a:avLst/>
          </a:prstGeom>
          <a:solidFill>
            <a:srgbClr val="156082">
              <a:alpha val="3922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>
              <a:defRPr lang="es-ES"/>
            </a:defPPr>
            <a:lvl1pPr algn="ctr">
              <a:defRPr sz="1100" b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>
            <a:br>
              <a:rPr lang="es-ES" dirty="0">
                <a:sym typeface="Calibri"/>
              </a:rPr>
            </a:br>
            <a:br>
              <a:rPr lang="es-ES" dirty="0">
                <a:sym typeface="Calibri"/>
              </a:rPr>
            </a:br>
            <a:r>
              <a:rPr lang="es-ES" dirty="0">
                <a:sym typeface="Calibri"/>
              </a:rPr>
              <a:t>Data Lake</a:t>
            </a:r>
            <a:endParaRPr dirty="0">
              <a:sym typeface="Calibri"/>
            </a:endParaRPr>
          </a:p>
          <a:p>
            <a:pPr algn="l"/>
            <a:r>
              <a:rPr lang="es-ES" sz="1000" b="0" dirty="0">
                <a:sym typeface="Calibri"/>
              </a:rPr>
              <a:t>Pros: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1. Escalable y económico (almacenamiento en bruto)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2. Acepta cualquier tipo de datos (estructurados o no)</a:t>
            </a:r>
            <a:br>
              <a:rPr lang="es-ES" sz="1000" b="0" dirty="0">
                <a:sym typeface="Calibri"/>
              </a:rPr>
            </a:br>
            <a:br>
              <a:rPr lang="es-ES" sz="1000" b="0" dirty="0">
                <a:sym typeface="Calibri"/>
              </a:rPr>
            </a:br>
            <a:r>
              <a:rPr lang="es-ES" sz="1000" b="0" dirty="0" err="1">
                <a:sym typeface="Calibri"/>
              </a:rPr>
              <a:t>Cons</a:t>
            </a:r>
            <a:r>
              <a:rPr lang="es-ES" sz="1000" b="0" dirty="0">
                <a:sym typeface="Calibri"/>
              </a:rPr>
              <a:t>: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1. Sin control de calidad → puede volverse una "ciénaga de datos"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2. Bajo rendimiento para consultas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3. Mala integración con herramientas BI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4. No garantiza integridad ni transacciones</a:t>
            </a:r>
            <a:endParaRPr sz="1000" b="0" dirty="0">
              <a:sym typeface="Calibri"/>
            </a:endParaRPr>
          </a:p>
          <a:p>
            <a:endParaRPr dirty="0">
              <a:sym typeface="Calibri"/>
            </a:endParaRPr>
          </a:p>
          <a:p>
            <a:endParaRPr dirty="0">
              <a:sym typeface="Calibri"/>
            </a:endParaRPr>
          </a:p>
        </p:txBody>
      </p:sp>
      <p:sp>
        <p:nvSpPr>
          <p:cNvPr id="4" name="Google Shape;274;g35ee5cc475b_0_15">
            <a:extLst>
              <a:ext uri="{FF2B5EF4-FFF2-40B4-BE49-F238E27FC236}">
                <a16:creationId xmlns:a16="http://schemas.microsoft.com/office/drawing/2014/main" id="{C9581D65-1176-4E49-E4B1-8860507A0273}"/>
              </a:ext>
            </a:extLst>
          </p:cNvPr>
          <p:cNvSpPr txBox="1">
            <a:spLocks/>
          </p:cNvSpPr>
          <p:nvPr/>
        </p:nvSpPr>
        <p:spPr>
          <a:xfrm>
            <a:off x="350164" y="194087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Data </a:t>
            </a: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Lakehouse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1665D657-1A33-5E52-7A15-905F0F68831D}"/>
              </a:ext>
            </a:extLst>
          </p:cNvPr>
          <p:cNvSpPr/>
          <p:nvPr/>
        </p:nvSpPr>
        <p:spPr>
          <a:xfrm>
            <a:off x="1610816" y="3920608"/>
            <a:ext cx="8970368" cy="792088"/>
          </a:xfrm>
          <a:prstGeom prst="rect">
            <a:avLst/>
          </a:prstGeom>
          <a:solidFill>
            <a:schemeClr val="accent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Modern Data </a:t>
            </a:r>
            <a:r>
              <a:rPr lang="es-ES" sz="1600" dirty="0" err="1"/>
              <a:t>Ecosistem</a:t>
            </a:r>
            <a:endParaRPr lang="es-ES" sz="1600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6AB4533-B371-E57F-5983-DADBF9F4C25C}"/>
              </a:ext>
            </a:extLst>
          </p:cNvPr>
          <p:cNvSpPr/>
          <p:nvPr/>
        </p:nvSpPr>
        <p:spPr>
          <a:xfrm>
            <a:off x="1610816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 err="1"/>
              <a:t>ETLs</a:t>
            </a:r>
            <a:endParaRPr lang="es-ES" sz="16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D971373-4487-49C7-E2F1-24C3393BC6ED}"/>
              </a:ext>
            </a:extLst>
          </p:cNvPr>
          <p:cNvSpPr/>
          <p:nvPr/>
        </p:nvSpPr>
        <p:spPr>
          <a:xfrm>
            <a:off x="3144684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Data </a:t>
            </a:r>
            <a:r>
              <a:rPr lang="es-ES" sz="1600" dirty="0" err="1"/>
              <a:t>Warehouse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3412B4-2574-5317-2292-87C049E2CF60}"/>
              </a:ext>
            </a:extLst>
          </p:cNvPr>
          <p:cNvSpPr/>
          <p:nvPr/>
        </p:nvSpPr>
        <p:spPr>
          <a:xfrm>
            <a:off x="4678552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Business </a:t>
            </a:r>
            <a:r>
              <a:rPr lang="es-ES" sz="1600" dirty="0" err="1"/>
              <a:t>Inteligence</a:t>
            </a:r>
            <a:endParaRPr lang="es-ES" sz="160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2F95259-7ECF-599E-56F7-FC6D60EFA1D9}"/>
              </a:ext>
            </a:extLst>
          </p:cNvPr>
          <p:cNvSpPr/>
          <p:nvPr/>
        </p:nvSpPr>
        <p:spPr>
          <a:xfrm>
            <a:off x="6212420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Data Cloud Storage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0C50565-4B8F-02A6-AA75-B4A6E74A6CDD}"/>
              </a:ext>
            </a:extLst>
          </p:cNvPr>
          <p:cNvSpPr/>
          <p:nvPr/>
        </p:nvSpPr>
        <p:spPr>
          <a:xfrm>
            <a:off x="7746288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IA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80FBC1F-1B13-7E24-E3AE-FE981BCE447A}"/>
              </a:ext>
            </a:extLst>
          </p:cNvPr>
          <p:cNvSpPr/>
          <p:nvPr/>
        </p:nvSpPr>
        <p:spPr>
          <a:xfrm>
            <a:off x="9280156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 err="1"/>
              <a:t>Governance</a:t>
            </a:r>
            <a:endParaRPr lang="es-ES" sz="1600" dirty="0"/>
          </a:p>
        </p:txBody>
      </p:sp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AFD85734-DA86-B218-F039-8C3EB13E716E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Ecosistema de Datos I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1E3AAB99-2CD8-172D-3619-2C4059B12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763" y="4998051"/>
            <a:ext cx="296195" cy="296195"/>
          </a:xfrm>
          <a:prstGeom prst="rect">
            <a:avLst/>
          </a:prstGeom>
        </p:spPr>
      </p:pic>
      <p:pic>
        <p:nvPicPr>
          <p:cNvPr id="17" name="Imagen 16" descr="Icono&#10;&#10;El contenido generado por IA puede ser incorrecto.">
            <a:extLst>
              <a:ext uri="{FF2B5EF4-FFF2-40B4-BE49-F238E27FC236}">
                <a16:creationId xmlns:a16="http://schemas.microsoft.com/office/drawing/2014/main" id="{CA586C10-B1CF-719F-DA91-90AC62A23A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3464" y="3221931"/>
            <a:ext cx="296195" cy="296195"/>
          </a:xfrm>
          <a:prstGeom prst="rect">
            <a:avLst/>
          </a:prstGeom>
        </p:spPr>
      </p:pic>
      <p:pic>
        <p:nvPicPr>
          <p:cNvPr id="21" name="Imagen 20" descr="Un dibujo de un perro&#10;&#10;El contenido generado por IA puede ser incorrecto.">
            <a:extLst>
              <a:ext uri="{FF2B5EF4-FFF2-40B4-BE49-F238E27FC236}">
                <a16:creationId xmlns:a16="http://schemas.microsoft.com/office/drawing/2014/main" id="{B8E03813-0F57-F392-E0BE-A8A141C75D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836" y="3216655"/>
            <a:ext cx="296195" cy="296195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DF465CB-6CCB-4EDF-C10A-63D56E33D1A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100" y="3221932"/>
            <a:ext cx="296195" cy="296195"/>
          </a:xfrm>
          <a:prstGeom prst="rect">
            <a:avLst/>
          </a:prstGeom>
        </p:spPr>
      </p:pic>
      <p:pic>
        <p:nvPicPr>
          <p:cNvPr id="27" name="Imagen 26" descr="Texto, Icono&#10;&#10;El contenido generado por IA puede ser incorrecto.">
            <a:extLst>
              <a:ext uri="{FF2B5EF4-FFF2-40B4-BE49-F238E27FC236}">
                <a16:creationId xmlns:a16="http://schemas.microsoft.com/office/drawing/2014/main" id="{70E96256-4F72-0B7F-7E7E-05B3D959A9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148" y="3207123"/>
            <a:ext cx="325815" cy="325815"/>
          </a:xfrm>
          <a:prstGeom prst="rect">
            <a:avLst/>
          </a:prstGeom>
        </p:spPr>
      </p:pic>
      <p:pic>
        <p:nvPicPr>
          <p:cNvPr id="31" name="Imagen 30" descr="Icono&#10;&#10;El contenido generado por IA puede ser incorrecto.">
            <a:extLst>
              <a:ext uri="{FF2B5EF4-FFF2-40B4-BE49-F238E27FC236}">
                <a16:creationId xmlns:a16="http://schemas.microsoft.com/office/drawing/2014/main" id="{D6BAF803-96A5-C794-D51D-BD9FDBC81B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572" y="3214352"/>
            <a:ext cx="296195" cy="296195"/>
          </a:xfrm>
          <a:prstGeom prst="rect">
            <a:avLst/>
          </a:prstGeom>
        </p:spPr>
      </p:pic>
      <p:pic>
        <p:nvPicPr>
          <p:cNvPr id="37" name="Imagen 36" descr="Un dibujo de una cara feliz&#10;&#10;El contenido generado por IA puede ser incorrecto.">
            <a:extLst>
              <a:ext uri="{FF2B5EF4-FFF2-40B4-BE49-F238E27FC236}">
                <a16:creationId xmlns:a16="http://schemas.microsoft.com/office/drawing/2014/main" id="{402B7CFE-F628-CF1A-FF8B-6F6C88A65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704" y="3216655"/>
            <a:ext cx="296195" cy="296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06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BDE07CA8-0623-C9E6-84FF-E8342EFE2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93" y="1253331"/>
            <a:ext cx="4667243" cy="4351338"/>
          </a:xfrm>
        </p:spPr>
      </p:pic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612AB3A1-7738-9FEB-32B7-B887A6ECCED3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Ecosistema de Datos II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91BE9F-DEA1-1AAC-71CC-CACEA41AC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594" y="1420092"/>
            <a:ext cx="4700446" cy="349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17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A2ED0D-CF44-836B-BD91-A42D2BBE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84776B-CB76-91C5-3D5E-E8A973BFA1AD}"/>
              </a:ext>
            </a:extLst>
          </p:cNvPr>
          <p:cNvSpPr txBox="1"/>
          <p:nvPr/>
        </p:nvSpPr>
        <p:spPr>
          <a:xfrm>
            <a:off x="4007768" y="2537902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CLUSTER</a:t>
            </a:r>
          </a:p>
        </p:txBody>
      </p:sp>
    </p:spTree>
    <p:extLst>
      <p:ext uri="{BB962C8B-B14F-4D97-AF65-F5344CB8AC3E}">
        <p14:creationId xmlns:p14="http://schemas.microsoft.com/office/powerpoint/2010/main" val="2609652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ángulo: esquinas redondeadas 176">
            <a:extLst>
              <a:ext uri="{FF2B5EF4-FFF2-40B4-BE49-F238E27FC236}">
                <a16:creationId xmlns:a16="http://schemas.microsoft.com/office/drawing/2014/main" id="{4D84B106-53AC-9A3D-9CBB-4712BAD17585}"/>
              </a:ext>
            </a:extLst>
          </p:cNvPr>
          <p:cNvSpPr/>
          <p:nvPr/>
        </p:nvSpPr>
        <p:spPr>
          <a:xfrm>
            <a:off x="1625599" y="857049"/>
            <a:ext cx="8271083" cy="5469881"/>
          </a:xfrm>
          <a:prstGeom prst="roundRect">
            <a:avLst>
              <a:gd name="adj" fmla="val 969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947AD0C-194F-F56D-88B8-AD26436F0753}"/>
              </a:ext>
            </a:extLst>
          </p:cNvPr>
          <p:cNvSpPr/>
          <p:nvPr/>
        </p:nvSpPr>
        <p:spPr>
          <a:xfrm>
            <a:off x="5325743" y="1086898"/>
            <a:ext cx="714163" cy="3572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>
                <a:solidFill>
                  <a:schemeClr val="tx1"/>
                </a:solidFill>
                <a:latin typeface="Montserrat" panose="00000500000000000000" pitchFamily="2" charset="0"/>
              </a:rPr>
              <a:t>Driver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0832691-DAC5-6799-57DF-2061D7A6A11E}"/>
              </a:ext>
            </a:extLst>
          </p:cNvPr>
          <p:cNvSpPr/>
          <p:nvPr/>
        </p:nvSpPr>
        <p:spPr>
          <a:xfrm>
            <a:off x="4377264" y="1816413"/>
            <a:ext cx="2611120" cy="3572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 err="1">
                <a:solidFill>
                  <a:schemeClr val="tx1"/>
                </a:solidFill>
                <a:latin typeface="Montserrat" panose="00000500000000000000" pitchFamily="2" charset="0"/>
              </a:rPr>
              <a:t>Cluster</a:t>
            </a:r>
            <a:r>
              <a:rPr lang="es-ES" sz="1100" dirty="0">
                <a:solidFill>
                  <a:schemeClr val="tx1"/>
                </a:solidFill>
                <a:latin typeface="Montserrat" panose="00000500000000000000" pitchFamily="2" charset="0"/>
              </a:rPr>
              <a:t> Manager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13B43463-780B-B49B-94F3-B28BA14C557B}"/>
              </a:ext>
            </a:extLst>
          </p:cNvPr>
          <p:cNvGrpSpPr/>
          <p:nvPr/>
        </p:nvGrpSpPr>
        <p:grpSpPr>
          <a:xfrm>
            <a:off x="5444151" y="2462501"/>
            <a:ext cx="484149" cy="352346"/>
            <a:chOff x="4658644" y="3338619"/>
            <a:chExt cx="484148" cy="352346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A1268E0F-B436-1B3D-4206-A03A2083CCA3}"/>
                </a:ext>
              </a:extLst>
            </p:cNvPr>
            <p:cNvSpPr/>
            <p:nvPr/>
          </p:nvSpPr>
          <p:spPr>
            <a:xfrm>
              <a:off x="4721304" y="3338619"/>
              <a:ext cx="352346" cy="35234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5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454BDEE0-2B02-A892-8078-B84B49F912B1}"/>
                </a:ext>
              </a:extLst>
            </p:cNvPr>
            <p:cNvSpPr txBox="1"/>
            <p:nvPr/>
          </p:nvSpPr>
          <p:spPr>
            <a:xfrm>
              <a:off x="4658644" y="3386316"/>
              <a:ext cx="4841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" sz="1000" dirty="0">
                  <a:latin typeface="Montserrat" panose="00000500000000000000" pitchFamily="2" charset="0"/>
                </a:rPr>
                <a:t>DAG</a:t>
              </a:r>
              <a:endParaRPr lang="es-ES" sz="140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95" name="Grupo 94">
            <a:extLst>
              <a:ext uri="{FF2B5EF4-FFF2-40B4-BE49-F238E27FC236}">
                <a16:creationId xmlns:a16="http://schemas.microsoft.com/office/drawing/2014/main" id="{520F1BDA-A63A-D407-5590-0DD58C06A667}"/>
              </a:ext>
            </a:extLst>
          </p:cNvPr>
          <p:cNvGrpSpPr/>
          <p:nvPr/>
        </p:nvGrpSpPr>
        <p:grpSpPr>
          <a:xfrm>
            <a:off x="2187133" y="3543269"/>
            <a:ext cx="2082413" cy="2578708"/>
            <a:chOff x="2209993" y="3543269"/>
            <a:chExt cx="2082413" cy="2578708"/>
          </a:xfrm>
        </p:grpSpPr>
        <p:sp>
          <p:nvSpPr>
            <p:cNvPr id="93" name="Rectángulo: esquinas redondeadas 92">
              <a:extLst>
                <a:ext uri="{FF2B5EF4-FFF2-40B4-BE49-F238E27FC236}">
                  <a16:creationId xmlns:a16="http://schemas.microsoft.com/office/drawing/2014/main" id="{EF0C4A12-80A5-FEBF-7018-0747DB3E07D3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>
                <a:latin typeface="Montserrat" panose="00000500000000000000" pitchFamily="2" charset="0"/>
              </a:endParaRPr>
            </a:p>
          </p:txBody>
        </p:sp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23DE5054-DE1F-DA97-281A-957B532B3845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BC902A90-A745-91F2-0BF0-3CE2DE07B0AD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39" name="Grupo 38">
                <a:extLst>
                  <a:ext uri="{FF2B5EF4-FFF2-40B4-BE49-F238E27FC236}">
                    <a16:creationId xmlns:a16="http://schemas.microsoft.com/office/drawing/2014/main" id="{C3595CA2-87C4-272E-E5BF-D61F5D389FBC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AA77E767-E93E-81FF-DB7C-CE897BEA3FBA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2" name="Rectángulo 11">
                  <a:extLst>
                    <a:ext uri="{FF2B5EF4-FFF2-40B4-BE49-F238E27FC236}">
                      <a16:creationId xmlns:a16="http://schemas.microsoft.com/office/drawing/2014/main" id="{D5DE2AD7-E377-4567-870C-C0074D9BE022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" name="Rectángulo 12">
                  <a:extLst>
                    <a:ext uri="{FF2B5EF4-FFF2-40B4-BE49-F238E27FC236}">
                      <a16:creationId xmlns:a16="http://schemas.microsoft.com/office/drawing/2014/main" id="{3D5A89F7-13B4-851F-178D-239799DD6887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28" name="Grupo 27">
                  <a:extLst>
                    <a:ext uri="{FF2B5EF4-FFF2-40B4-BE49-F238E27FC236}">
                      <a16:creationId xmlns:a16="http://schemas.microsoft.com/office/drawing/2014/main" id="{F6F71706-CE9A-D4C4-B2F5-0CD7DCAB7CDE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21" name="Grupo 20">
                    <a:extLst>
                      <a:ext uri="{FF2B5EF4-FFF2-40B4-BE49-F238E27FC236}">
                        <a16:creationId xmlns:a16="http://schemas.microsoft.com/office/drawing/2014/main" id="{975DBA19-8128-FD12-0742-7112567C4099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" name="Rectángulo 13">
                      <a:extLst>
                        <a:ext uri="{FF2B5EF4-FFF2-40B4-BE49-F238E27FC236}">
                          <a16:creationId xmlns:a16="http://schemas.microsoft.com/office/drawing/2014/main" id="{FD1DBCAF-CE22-E6D5-C759-FF6C8CC7B3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0" name="CuadroTexto 19">
                      <a:extLst>
                        <a:ext uri="{FF2B5EF4-FFF2-40B4-BE49-F238E27FC236}">
                          <a16:creationId xmlns:a16="http://schemas.microsoft.com/office/drawing/2014/main" id="{80A0748A-70B6-621F-C7C2-43360D19FB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2" name="Grupo 21">
                    <a:extLst>
                      <a:ext uri="{FF2B5EF4-FFF2-40B4-BE49-F238E27FC236}">
                        <a16:creationId xmlns:a16="http://schemas.microsoft.com/office/drawing/2014/main" id="{1742EC0E-E37D-299F-1E20-2CF7E528203F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3" name="Rectángulo 22">
                      <a:extLst>
                        <a:ext uri="{FF2B5EF4-FFF2-40B4-BE49-F238E27FC236}">
                          <a16:creationId xmlns:a16="http://schemas.microsoft.com/office/drawing/2014/main" id="{31663F29-9D77-C651-676C-C2C0B2C735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4" name="CuadroTexto 23">
                      <a:extLst>
                        <a:ext uri="{FF2B5EF4-FFF2-40B4-BE49-F238E27FC236}">
                          <a16:creationId xmlns:a16="http://schemas.microsoft.com/office/drawing/2014/main" id="{3008A82B-922D-EE7A-5860-487A581153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5" name="Grupo 24">
                    <a:extLst>
                      <a:ext uri="{FF2B5EF4-FFF2-40B4-BE49-F238E27FC236}">
                        <a16:creationId xmlns:a16="http://schemas.microsoft.com/office/drawing/2014/main" id="{8ACB8DC5-5EE8-2D82-7A06-CF6A0D0A60F0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6" name="Rectángulo 25">
                      <a:extLst>
                        <a:ext uri="{FF2B5EF4-FFF2-40B4-BE49-F238E27FC236}">
                          <a16:creationId xmlns:a16="http://schemas.microsoft.com/office/drawing/2014/main" id="{96CF71C6-141B-33EC-265C-8E7564E80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7" name="CuadroTexto 26">
                      <a:extLst>
                        <a:ext uri="{FF2B5EF4-FFF2-40B4-BE49-F238E27FC236}">
                          <a16:creationId xmlns:a16="http://schemas.microsoft.com/office/drawing/2014/main" id="{B40EA711-FCC3-276E-4C57-A73DDBECD0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29" name="Grupo 28">
                  <a:extLst>
                    <a:ext uri="{FF2B5EF4-FFF2-40B4-BE49-F238E27FC236}">
                      <a16:creationId xmlns:a16="http://schemas.microsoft.com/office/drawing/2014/main" id="{987BCD0B-4162-DB7C-7E0D-900099B1886D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30" name="Grupo 29">
                    <a:extLst>
                      <a:ext uri="{FF2B5EF4-FFF2-40B4-BE49-F238E27FC236}">
                        <a16:creationId xmlns:a16="http://schemas.microsoft.com/office/drawing/2014/main" id="{1B8F0331-8372-948A-11E4-56EED1349A07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7" name="Rectángulo 36">
                      <a:extLst>
                        <a:ext uri="{FF2B5EF4-FFF2-40B4-BE49-F238E27FC236}">
                          <a16:creationId xmlns:a16="http://schemas.microsoft.com/office/drawing/2014/main" id="{49D9315F-3287-9AA7-0422-66F5631157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8" name="CuadroTexto 37">
                      <a:extLst>
                        <a:ext uri="{FF2B5EF4-FFF2-40B4-BE49-F238E27FC236}">
                          <a16:creationId xmlns:a16="http://schemas.microsoft.com/office/drawing/2014/main" id="{02DDAFBC-E06A-47F8-E82F-35985ED983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1" name="Grupo 30">
                    <a:extLst>
                      <a:ext uri="{FF2B5EF4-FFF2-40B4-BE49-F238E27FC236}">
                        <a16:creationId xmlns:a16="http://schemas.microsoft.com/office/drawing/2014/main" id="{5852379A-2316-0720-C4D4-55140462878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5" name="Rectángulo 34">
                      <a:extLst>
                        <a:ext uri="{FF2B5EF4-FFF2-40B4-BE49-F238E27FC236}">
                          <a16:creationId xmlns:a16="http://schemas.microsoft.com/office/drawing/2014/main" id="{F7C7E86E-D251-8568-C142-6DAE448281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6" name="CuadroTexto 35">
                      <a:extLst>
                        <a:ext uri="{FF2B5EF4-FFF2-40B4-BE49-F238E27FC236}">
                          <a16:creationId xmlns:a16="http://schemas.microsoft.com/office/drawing/2014/main" id="{38DDEF42-D7C5-E585-927D-E7BF801330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2" name="Grupo 31">
                    <a:extLst>
                      <a:ext uri="{FF2B5EF4-FFF2-40B4-BE49-F238E27FC236}">
                        <a16:creationId xmlns:a16="http://schemas.microsoft.com/office/drawing/2014/main" id="{9F538203-59AD-05DD-AAAA-2348A2C3451E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3" name="Rectángulo 32">
                      <a:extLst>
                        <a:ext uri="{FF2B5EF4-FFF2-40B4-BE49-F238E27FC236}">
                          <a16:creationId xmlns:a16="http://schemas.microsoft.com/office/drawing/2014/main" id="{AF59DF45-7EDE-DCE4-8671-CDC6839D4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4" name="CuadroTexto 33">
                      <a:extLst>
                        <a:ext uri="{FF2B5EF4-FFF2-40B4-BE49-F238E27FC236}">
                          <a16:creationId xmlns:a16="http://schemas.microsoft.com/office/drawing/2014/main" id="{1EF7F39C-2C71-B38D-51FF-48028386E3E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AF7CDCB2-F709-F4B0-B2DE-87E55A05FC2C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1</a:t>
              </a:r>
            </a:p>
          </p:txBody>
        </p:sp>
      </p:grpSp>
      <p:grpSp>
        <p:nvGrpSpPr>
          <p:cNvPr id="96" name="Grupo 95">
            <a:extLst>
              <a:ext uri="{FF2B5EF4-FFF2-40B4-BE49-F238E27FC236}">
                <a16:creationId xmlns:a16="http://schemas.microsoft.com/office/drawing/2014/main" id="{727C4FCE-0418-6F3E-EAAE-898DDB76F10D}"/>
              </a:ext>
            </a:extLst>
          </p:cNvPr>
          <p:cNvGrpSpPr/>
          <p:nvPr/>
        </p:nvGrpSpPr>
        <p:grpSpPr>
          <a:xfrm>
            <a:off x="4656703" y="3494896"/>
            <a:ext cx="2082413" cy="2578708"/>
            <a:chOff x="2209993" y="3543269"/>
            <a:chExt cx="2082413" cy="2578708"/>
          </a:xfrm>
        </p:grpSpPr>
        <p:sp>
          <p:nvSpPr>
            <p:cNvPr id="97" name="Rectángulo: esquinas redondeadas 96">
              <a:extLst>
                <a:ext uri="{FF2B5EF4-FFF2-40B4-BE49-F238E27FC236}">
                  <a16:creationId xmlns:a16="http://schemas.microsoft.com/office/drawing/2014/main" id="{0FE003CF-2A36-B4E3-1635-FCDB1691CD0D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>
                <a:latin typeface="Montserrat" panose="00000500000000000000" pitchFamily="2" charset="0"/>
              </a:endParaRPr>
            </a:p>
          </p:txBody>
        </p:sp>
        <p:grpSp>
          <p:nvGrpSpPr>
            <p:cNvPr id="98" name="Grupo 97">
              <a:extLst>
                <a:ext uri="{FF2B5EF4-FFF2-40B4-BE49-F238E27FC236}">
                  <a16:creationId xmlns:a16="http://schemas.microsoft.com/office/drawing/2014/main" id="{3856695A-1B78-8A57-B569-43CD69B3776E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0" name="Rectángulo 99">
                <a:extLst>
                  <a:ext uri="{FF2B5EF4-FFF2-40B4-BE49-F238E27FC236}">
                    <a16:creationId xmlns:a16="http://schemas.microsoft.com/office/drawing/2014/main" id="{3676B91F-5B57-5CC8-A924-06E4143EB84E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01" name="Grupo 100">
                <a:extLst>
                  <a:ext uri="{FF2B5EF4-FFF2-40B4-BE49-F238E27FC236}">
                    <a16:creationId xmlns:a16="http://schemas.microsoft.com/office/drawing/2014/main" id="{02966A20-F4C5-3AB3-8E52-984E2BB72800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02" name="Rectángulo 101">
                  <a:extLst>
                    <a:ext uri="{FF2B5EF4-FFF2-40B4-BE49-F238E27FC236}">
                      <a16:creationId xmlns:a16="http://schemas.microsoft.com/office/drawing/2014/main" id="{79B0B42A-4A16-EBDD-06CA-1ADAEAE9F45A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3" name="Rectángulo 102">
                  <a:extLst>
                    <a:ext uri="{FF2B5EF4-FFF2-40B4-BE49-F238E27FC236}">
                      <a16:creationId xmlns:a16="http://schemas.microsoft.com/office/drawing/2014/main" id="{086D8797-6674-1EB1-E3B3-0790ACB356A1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4" name="Rectángulo 103">
                  <a:extLst>
                    <a:ext uri="{FF2B5EF4-FFF2-40B4-BE49-F238E27FC236}">
                      <a16:creationId xmlns:a16="http://schemas.microsoft.com/office/drawing/2014/main" id="{9D61B980-FD0F-EF22-6749-8B41D250AA31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05" name="Grupo 104">
                  <a:extLst>
                    <a:ext uri="{FF2B5EF4-FFF2-40B4-BE49-F238E27FC236}">
                      <a16:creationId xmlns:a16="http://schemas.microsoft.com/office/drawing/2014/main" id="{AF345A21-8F09-E143-0EEA-5C9F3DA488A1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16" name="Grupo 115">
                    <a:extLst>
                      <a:ext uri="{FF2B5EF4-FFF2-40B4-BE49-F238E27FC236}">
                        <a16:creationId xmlns:a16="http://schemas.microsoft.com/office/drawing/2014/main" id="{1FBEDBF5-B1C3-5294-CD2D-E3F51366B74C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3" name="Rectángulo 122">
                      <a:extLst>
                        <a:ext uri="{FF2B5EF4-FFF2-40B4-BE49-F238E27FC236}">
                          <a16:creationId xmlns:a16="http://schemas.microsoft.com/office/drawing/2014/main" id="{3ACD2555-D44B-B982-7048-E4E528FB92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4" name="CuadroTexto 123">
                      <a:extLst>
                        <a:ext uri="{FF2B5EF4-FFF2-40B4-BE49-F238E27FC236}">
                          <a16:creationId xmlns:a16="http://schemas.microsoft.com/office/drawing/2014/main" id="{740F38A7-6D44-CAD6-0B4D-3F73400217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51D69D2-6051-08B2-4E0C-4848921048A2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1" name="Rectángulo 120">
                      <a:extLst>
                        <a:ext uri="{FF2B5EF4-FFF2-40B4-BE49-F238E27FC236}">
                          <a16:creationId xmlns:a16="http://schemas.microsoft.com/office/drawing/2014/main" id="{62C28F68-C027-EA17-32C5-101EF5DA76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6CB309F6-AEB3-713C-D25E-5CC93705D9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8" name="Grupo 117">
                    <a:extLst>
                      <a:ext uri="{FF2B5EF4-FFF2-40B4-BE49-F238E27FC236}">
                        <a16:creationId xmlns:a16="http://schemas.microsoft.com/office/drawing/2014/main" id="{8B3F9403-6E73-7474-9C44-356E747B25FC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9" name="Rectángulo 118">
                      <a:extLst>
                        <a:ext uri="{FF2B5EF4-FFF2-40B4-BE49-F238E27FC236}">
                          <a16:creationId xmlns:a16="http://schemas.microsoft.com/office/drawing/2014/main" id="{3176C2B6-0075-0E2D-8317-1208AB14A6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0" name="CuadroTexto 119">
                      <a:extLst>
                        <a:ext uri="{FF2B5EF4-FFF2-40B4-BE49-F238E27FC236}">
                          <a16:creationId xmlns:a16="http://schemas.microsoft.com/office/drawing/2014/main" id="{751A51D0-058A-B27A-4ED5-CC6AF4BFAB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06" name="Grupo 105">
                  <a:extLst>
                    <a:ext uri="{FF2B5EF4-FFF2-40B4-BE49-F238E27FC236}">
                      <a16:creationId xmlns:a16="http://schemas.microsoft.com/office/drawing/2014/main" id="{BD8F3F5E-FFC1-B949-117B-DA022B63E149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07" name="Grupo 106">
                    <a:extLst>
                      <a:ext uri="{FF2B5EF4-FFF2-40B4-BE49-F238E27FC236}">
                        <a16:creationId xmlns:a16="http://schemas.microsoft.com/office/drawing/2014/main" id="{66367DC3-F31D-BFB1-7E1B-861D3CB0E232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4" name="Rectángulo 113">
                      <a:extLst>
                        <a:ext uri="{FF2B5EF4-FFF2-40B4-BE49-F238E27FC236}">
                          <a16:creationId xmlns:a16="http://schemas.microsoft.com/office/drawing/2014/main" id="{4686807A-ECE5-329E-9557-0B09C10FDD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5" name="CuadroTexto 114">
                      <a:extLst>
                        <a:ext uri="{FF2B5EF4-FFF2-40B4-BE49-F238E27FC236}">
                          <a16:creationId xmlns:a16="http://schemas.microsoft.com/office/drawing/2014/main" id="{8D035C86-DC1E-830B-3CE3-08B5B11271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8" name="Grupo 107">
                    <a:extLst>
                      <a:ext uri="{FF2B5EF4-FFF2-40B4-BE49-F238E27FC236}">
                        <a16:creationId xmlns:a16="http://schemas.microsoft.com/office/drawing/2014/main" id="{C247693B-7676-8883-EAA2-DDB00C918967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2" name="Rectángulo 111">
                      <a:extLst>
                        <a:ext uri="{FF2B5EF4-FFF2-40B4-BE49-F238E27FC236}">
                          <a16:creationId xmlns:a16="http://schemas.microsoft.com/office/drawing/2014/main" id="{659D4DCE-5AC4-0C29-9BBE-ED0AEA857C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3" name="CuadroTexto 112">
                      <a:extLst>
                        <a:ext uri="{FF2B5EF4-FFF2-40B4-BE49-F238E27FC236}">
                          <a16:creationId xmlns:a16="http://schemas.microsoft.com/office/drawing/2014/main" id="{E1EFE100-9756-0044-60D6-4C5C39AB25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9" name="Grupo 108">
                    <a:extLst>
                      <a:ext uri="{FF2B5EF4-FFF2-40B4-BE49-F238E27FC236}">
                        <a16:creationId xmlns:a16="http://schemas.microsoft.com/office/drawing/2014/main" id="{9FE995D6-BC41-770A-605C-AC0018B4F3F8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0" name="Rectángulo 109">
                      <a:extLst>
                        <a:ext uri="{FF2B5EF4-FFF2-40B4-BE49-F238E27FC236}">
                          <a16:creationId xmlns:a16="http://schemas.microsoft.com/office/drawing/2014/main" id="{6EB30189-1BDD-5C6B-E521-DEE5D21C20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1" name="CuadroTexto 110">
                      <a:extLst>
                        <a:ext uri="{FF2B5EF4-FFF2-40B4-BE49-F238E27FC236}">
                          <a16:creationId xmlns:a16="http://schemas.microsoft.com/office/drawing/2014/main" id="{3F52DE46-B11D-47E3-0173-657A9CCCD6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A2C8672B-E367-70A4-7B9D-1EE6BCBA57EC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2</a:t>
              </a:r>
            </a:p>
          </p:txBody>
        </p:sp>
      </p:grp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FFBC34F7-BAD7-5750-3C97-54ABF19F1BE5}"/>
              </a:ext>
            </a:extLst>
          </p:cNvPr>
          <p:cNvGrpSpPr/>
          <p:nvPr/>
        </p:nvGrpSpPr>
        <p:grpSpPr>
          <a:xfrm>
            <a:off x="7125846" y="3515319"/>
            <a:ext cx="2082413" cy="2578708"/>
            <a:chOff x="2209993" y="3543269"/>
            <a:chExt cx="2082413" cy="2578708"/>
          </a:xfrm>
        </p:grpSpPr>
        <p:sp>
          <p:nvSpPr>
            <p:cNvPr id="126" name="Rectángulo: esquinas redondeadas 125">
              <a:extLst>
                <a:ext uri="{FF2B5EF4-FFF2-40B4-BE49-F238E27FC236}">
                  <a16:creationId xmlns:a16="http://schemas.microsoft.com/office/drawing/2014/main" id="{ED9DF123-493C-880F-0C3D-544BE22568CA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latin typeface="Montserrat" panose="00000500000000000000" pitchFamily="2" charset="0"/>
              </a:endParaRPr>
            </a:p>
          </p:txBody>
        </p: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6C087F3F-F8A0-A1B1-718A-63E403B73AC9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29" name="Rectángulo 128">
                <a:extLst>
                  <a:ext uri="{FF2B5EF4-FFF2-40B4-BE49-F238E27FC236}">
                    <a16:creationId xmlns:a16="http://schemas.microsoft.com/office/drawing/2014/main" id="{F86C2648-3D34-CD80-C42D-226DE2D50322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30" name="Grupo 129">
                <a:extLst>
                  <a:ext uri="{FF2B5EF4-FFF2-40B4-BE49-F238E27FC236}">
                    <a16:creationId xmlns:a16="http://schemas.microsoft.com/office/drawing/2014/main" id="{164F8884-2FDE-9ECB-0490-A22FA3ACF5FB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31" name="Rectángulo 130">
                  <a:extLst>
                    <a:ext uri="{FF2B5EF4-FFF2-40B4-BE49-F238E27FC236}">
                      <a16:creationId xmlns:a16="http://schemas.microsoft.com/office/drawing/2014/main" id="{174042BE-C0FA-BBCF-575F-AF25CCF07E1B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2" name="Rectángulo 131">
                  <a:extLst>
                    <a:ext uri="{FF2B5EF4-FFF2-40B4-BE49-F238E27FC236}">
                      <a16:creationId xmlns:a16="http://schemas.microsoft.com/office/drawing/2014/main" id="{236A509C-8D9E-8C5D-7590-9F0E914ECBC7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3" name="Rectángulo 132">
                  <a:extLst>
                    <a:ext uri="{FF2B5EF4-FFF2-40B4-BE49-F238E27FC236}">
                      <a16:creationId xmlns:a16="http://schemas.microsoft.com/office/drawing/2014/main" id="{CE6A8DEF-82E8-C3AE-B2F1-398D13B002BF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34" name="Grupo 133">
                  <a:extLst>
                    <a:ext uri="{FF2B5EF4-FFF2-40B4-BE49-F238E27FC236}">
                      <a16:creationId xmlns:a16="http://schemas.microsoft.com/office/drawing/2014/main" id="{7B2CD3A8-837F-9E80-10B0-0AE906DD32ED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45" name="Grupo 144">
                    <a:extLst>
                      <a:ext uri="{FF2B5EF4-FFF2-40B4-BE49-F238E27FC236}">
                        <a16:creationId xmlns:a16="http://schemas.microsoft.com/office/drawing/2014/main" id="{37B6EE9E-DA1F-7157-CF9B-D2161CDD2CE6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2" name="Rectángulo 151">
                      <a:extLst>
                        <a:ext uri="{FF2B5EF4-FFF2-40B4-BE49-F238E27FC236}">
                          <a16:creationId xmlns:a16="http://schemas.microsoft.com/office/drawing/2014/main" id="{4464CB89-7143-1127-8784-7CFE4839FF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3" name="CuadroTexto 152">
                      <a:extLst>
                        <a:ext uri="{FF2B5EF4-FFF2-40B4-BE49-F238E27FC236}">
                          <a16:creationId xmlns:a16="http://schemas.microsoft.com/office/drawing/2014/main" id="{8712602A-BA1A-3A17-13E5-E3ECA4F0FF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6" name="Grupo 145">
                    <a:extLst>
                      <a:ext uri="{FF2B5EF4-FFF2-40B4-BE49-F238E27FC236}">
                        <a16:creationId xmlns:a16="http://schemas.microsoft.com/office/drawing/2014/main" id="{0937F961-CB83-F1FF-15A0-E0B12DC3BEF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0" name="Rectángulo 149">
                      <a:extLst>
                        <a:ext uri="{FF2B5EF4-FFF2-40B4-BE49-F238E27FC236}">
                          <a16:creationId xmlns:a16="http://schemas.microsoft.com/office/drawing/2014/main" id="{DD4FC32E-E0C0-B713-EF1E-BE903EF261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1" name="CuadroTexto 150">
                      <a:extLst>
                        <a:ext uri="{FF2B5EF4-FFF2-40B4-BE49-F238E27FC236}">
                          <a16:creationId xmlns:a16="http://schemas.microsoft.com/office/drawing/2014/main" id="{950328CC-C8F7-22BC-9257-0FB0F120E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7" name="Grupo 146">
                    <a:extLst>
                      <a:ext uri="{FF2B5EF4-FFF2-40B4-BE49-F238E27FC236}">
                        <a16:creationId xmlns:a16="http://schemas.microsoft.com/office/drawing/2014/main" id="{B7D88832-BBF8-6875-2988-843D22BD5E72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8" name="Rectángulo 147">
                      <a:extLst>
                        <a:ext uri="{FF2B5EF4-FFF2-40B4-BE49-F238E27FC236}">
                          <a16:creationId xmlns:a16="http://schemas.microsoft.com/office/drawing/2014/main" id="{BF31A2C7-8ECA-31C6-2BC2-C0B53D71FD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9" name="CuadroTexto 148">
                      <a:extLst>
                        <a:ext uri="{FF2B5EF4-FFF2-40B4-BE49-F238E27FC236}">
                          <a16:creationId xmlns:a16="http://schemas.microsoft.com/office/drawing/2014/main" id="{6DB5C0A4-D6F8-247A-A25D-F514BF315F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35" name="Grupo 134">
                  <a:extLst>
                    <a:ext uri="{FF2B5EF4-FFF2-40B4-BE49-F238E27FC236}">
                      <a16:creationId xmlns:a16="http://schemas.microsoft.com/office/drawing/2014/main" id="{EE66D4D9-8E54-169B-986F-3E59F1867CE0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36" name="Grupo 135">
                    <a:extLst>
                      <a:ext uri="{FF2B5EF4-FFF2-40B4-BE49-F238E27FC236}">
                        <a16:creationId xmlns:a16="http://schemas.microsoft.com/office/drawing/2014/main" id="{39918AA2-D2DE-C674-4D13-71C8172C10BC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3" name="Rectángulo 142">
                      <a:extLst>
                        <a:ext uri="{FF2B5EF4-FFF2-40B4-BE49-F238E27FC236}">
                          <a16:creationId xmlns:a16="http://schemas.microsoft.com/office/drawing/2014/main" id="{8C4E563A-6CCD-FE28-509A-61F4DEB74A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4" name="CuadroTexto 143">
                      <a:extLst>
                        <a:ext uri="{FF2B5EF4-FFF2-40B4-BE49-F238E27FC236}">
                          <a16:creationId xmlns:a16="http://schemas.microsoft.com/office/drawing/2014/main" id="{093B5E43-FAEC-F094-184A-6F16BC034A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7" name="Grupo 136">
                    <a:extLst>
                      <a:ext uri="{FF2B5EF4-FFF2-40B4-BE49-F238E27FC236}">
                        <a16:creationId xmlns:a16="http://schemas.microsoft.com/office/drawing/2014/main" id="{BE4E2673-0700-FF23-408C-7D84064D70CD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1" name="Rectángulo 140">
                      <a:extLst>
                        <a:ext uri="{FF2B5EF4-FFF2-40B4-BE49-F238E27FC236}">
                          <a16:creationId xmlns:a16="http://schemas.microsoft.com/office/drawing/2014/main" id="{D4A51B3C-D984-7CEC-0226-99082133AF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2" name="CuadroTexto 141">
                      <a:extLst>
                        <a:ext uri="{FF2B5EF4-FFF2-40B4-BE49-F238E27FC236}">
                          <a16:creationId xmlns:a16="http://schemas.microsoft.com/office/drawing/2014/main" id="{E1B86CC1-74C4-2863-EFE6-E5C408FF4E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8" name="Grupo 137">
                    <a:extLst>
                      <a:ext uri="{FF2B5EF4-FFF2-40B4-BE49-F238E27FC236}">
                        <a16:creationId xmlns:a16="http://schemas.microsoft.com/office/drawing/2014/main" id="{28CFC807-FE28-B345-A75E-B6B29567182A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39" name="Rectángulo 138">
                      <a:extLst>
                        <a:ext uri="{FF2B5EF4-FFF2-40B4-BE49-F238E27FC236}">
                          <a16:creationId xmlns:a16="http://schemas.microsoft.com/office/drawing/2014/main" id="{F54916A4-F6D7-E1AB-0BFB-A098FA65E5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0" name="CuadroTexto 139">
                      <a:extLst>
                        <a:ext uri="{FF2B5EF4-FFF2-40B4-BE49-F238E27FC236}">
                          <a16:creationId xmlns:a16="http://schemas.microsoft.com/office/drawing/2014/main" id="{D4AE4EDC-32E8-8909-07E1-5D6AB3A37D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128" name="CuadroTexto 127">
              <a:extLst>
                <a:ext uri="{FF2B5EF4-FFF2-40B4-BE49-F238E27FC236}">
                  <a16:creationId xmlns:a16="http://schemas.microsoft.com/office/drawing/2014/main" id="{F7C0D231-C6C3-CBE3-1C1A-FA3AF2991991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3</a:t>
              </a:r>
            </a:p>
          </p:txBody>
        </p:sp>
      </p:grp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ED78DD9B-A54A-0178-08A4-E198CE243499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5682824" y="1444191"/>
            <a:ext cx="1" cy="372222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02F13161-CAE0-45E9-3090-E7C53574B325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5682824" y="2173706"/>
            <a:ext cx="161" cy="288795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ector: curvado 168">
            <a:extLst>
              <a:ext uri="{FF2B5EF4-FFF2-40B4-BE49-F238E27FC236}">
                <a16:creationId xmlns:a16="http://schemas.microsoft.com/office/drawing/2014/main" id="{E9E8B2E6-1C91-DC75-1FD7-650CDC86F22E}"/>
              </a:ext>
            </a:extLst>
          </p:cNvPr>
          <p:cNvCxnSpPr>
            <a:stCxn id="9" idx="4"/>
            <a:endCxn id="93" idx="0"/>
          </p:cNvCxnSpPr>
          <p:nvPr/>
        </p:nvCxnSpPr>
        <p:spPr>
          <a:xfrm rot="5400000">
            <a:off x="4091452" y="1951736"/>
            <a:ext cx="728422" cy="2454645"/>
          </a:xfrm>
          <a:prstGeom prst="curved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ector: curvado 169">
            <a:extLst>
              <a:ext uri="{FF2B5EF4-FFF2-40B4-BE49-F238E27FC236}">
                <a16:creationId xmlns:a16="http://schemas.microsoft.com/office/drawing/2014/main" id="{2D755040-496E-B590-F4D6-D21EF28BB876}"/>
              </a:ext>
            </a:extLst>
          </p:cNvPr>
          <p:cNvCxnSpPr>
            <a:cxnSpLocks/>
            <a:stCxn id="9" idx="4"/>
            <a:endCxn id="126" idx="0"/>
          </p:cNvCxnSpPr>
          <p:nvPr/>
        </p:nvCxnSpPr>
        <p:spPr>
          <a:xfrm rot="16200000" flipH="1">
            <a:off x="6574783" y="1923049"/>
            <a:ext cx="700472" cy="248406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de flecha 172">
            <a:extLst>
              <a:ext uri="{FF2B5EF4-FFF2-40B4-BE49-F238E27FC236}">
                <a16:creationId xmlns:a16="http://schemas.microsoft.com/office/drawing/2014/main" id="{B17DBF4D-AB92-F9C5-8F4A-B14D8C1BD69C}"/>
              </a:ext>
            </a:extLst>
          </p:cNvPr>
          <p:cNvCxnSpPr>
            <a:cxnSpLocks/>
            <a:stCxn id="9" idx="4"/>
            <a:endCxn id="97" idx="0"/>
          </p:cNvCxnSpPr>
          <p:nvPr/>
        </p:nvCxnSpPr>
        <p:spPr>
          <a:xfrm>
            <a:off x="5682985" y="2814847"/>
            <a:ext cx="14925" cy="680049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CuadroTexto 177">
            <a:extLst>
              <a:ext uri="{FF2B5EF4-FFF2-40B4-BE49-F238E27FC236}">
                <a16:creationId xmlns:a16="http://schemas.microsoft.com/office/drawing/2014/main" id="{FC27350F-F9BC-4595-8390-00F9FCEEF4A8}"/>
              </a:ext>
            </a:extLst>
          </p:cNvPr>
          <p:cNvSpPr txBox="1"/>
          <p:nvPr/>
        </p:nvSpPr>
        <p:spPr>
          <a:xfrm>
            <a:off x="2736580" y="1035918"/>
            <a:ext cx="1309973" cy="37291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Montserrat" panose="00000500000000000000" pitchFamily="2" charset="0"/>
              </a:rPr>
              <a:t>CLUSTER</a:t>
            </a:r>
          </a:p>
        </p:txBody>
      </p:sp>
    </p:spTree>
    <p:extLst>
      <p:ext uri="{BB962C8B-B14F-4D97-AF65-F5344CB8AC3E}">
        <p14:creationId xmlns:p14="http://schemas.microsoft.com/office/powerpoint/2010/main" val="1996661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B966E-06C1-3592-60A7-83C4AF007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ángulo: esquinas redondeadas 176">
            <a:extLst>
              <a:ext uri="{FF2B5EF4-FFF2-40B4-BE49-F238E27FC236}">
                <a16:creationId xmlns:a16="http://schemas.microsoft.com/office/drawing/2014/main" id="{5ED877EE-9DCC-E6EB-E726-5114AF94717D}"/>
              </a:ext>
            </a:extLst>
          </p:cNvPr>
          <p:cNvSpPr/>
          <p:nvPr/>
        </p:nvSpPr>
        <p:spPr>
          <a:xfrm>
            <a:off x="1468963" y="429051"/>
            <a:ext cx="8427720" cy="5897880"/>
          </a:xfrm>
          <a:prstGeom prst="roundRect">
            <a:avLst>
              <a:gd name="adj" fmla="val 5151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2438067-B4BB-607F-D2F3-E1655CC0C8D0}"/>
              </a:ext>
            </a:extLst>
          </p:cNvPr>
          <p:cNvSpPr/>
          <p:nvPr/>
        </p:nvSpPr>
        <p:spPr>
          <a:xfrm>
            <a:off x="5325743" y="1086898"/>
            <a:ext cx="714163" cy="3572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>
                <a:solidFill>
                  <a:schemeClr val="tx1"/>
                </a:solidFill>
                <a:latin typeface="Montserrat" panose="00000500000000000000" pitchFamily="2" charset="0"/>
              </a:rPr>
              <a:t>Driver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1B5A28E-2EE5-6DF4-FAC7-B4D58F8FC3DF}"/>
              </a:ext>
            </a:extLst>
          </p:cNvPr>
          <p:cNvSpPr/>
          <p:nvPr/>
        </p:nvSpPr>
        <p:spPr>
          <a:xfrm>
            <a:off x="4377264" y="1816413"/>
            <a:ext cx="2611120" cy="3572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 err="1">
                <a:solidFill>
                  <a:schemeClr val="tx1"/>
                </a:solidFill>
                <a:latin typeface="Montserrat" panose="00000500000000000000" pitchFamily="2" charset="0"/>
              </a:rPr>
              <a:t>Cluster</a:t>
            </a:r>
            <a:r>
              <a:rPr lang="es-ES" sz="1100" dirty="0">
                <a:solidFill>
                  <a:schemeClr val="tx1"/>
                </a:solidFill>
                <a:latin typeface="Montserrat" panose="00000500000000000000" pitchFamily="2" charset="0"/>
              </a:rPr>
              <a:t> Manager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CF185437-B591-CCC4-9895-1CD64580F185}"/>
              </a:ext>
            </a:extLst>
          </p:cNvPr>
          <p:cNvGrpSpPr/>
          <p:nvPr/>
        </p:nvGrpSpPr>
        <p:grpSpPr>
          <a:xfrm>
            <a:off x="5444151" y="2462501"/>
            <a:ext cx="484149" cy="352346"/>
            <a:chOff x="4658644" y="3338619"/>
            <a:chExt cx="484148" cy="352346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33055379-3315-2491-C0FC-E7ADC0D884DE}"/>
                </a:ext>
              </a:extLst>
            </p:cNvPr>
            <p:cNvSpPr/>
            <p:nvPr/>
          </p:nvSpPr>
          <p:spPr>
            <a:xfrm>
              <a:off x="4721304" y="3338619"/>
              <a:ext cx="352346" cy="35234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5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82CACB2-627F-C9DC-B572-118407C462BE}"/>
                </a:ext>
              </a:extLst>
            </p:cNvPr>
            <p:cNvSpPr txBox="1"/>
            <p:nvPr/>
          </p:nvSpPr>
          <p:spPr>
            <a:xfrm>
              <a:off x="4658644" y="3386316"/>
              <a:ext cx="4841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" sz="1000" dirty="0">
                  <a:latin typeface="Montserrat" panose="00000500000000000000" pitchFamily="2" charset="0"/>
                </a:rPr>
                <a:t>DAG</a:t>
              </a:r>
              <a:endParaRPr lang="es-ES" sz="140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95" name="Grupo 94">
            <a:extLst>
              <a:ext uri="{FF2B5EF4-FFF2-40B4-BE49-F238E27FC236}">
                <a16:creationId xmlns:a16="http://schemas.microsoft.com/office/drawing/2014/main" id="{1768E478-AB31-56D5-3F21-7B50F7367438}"/>
              </a:ext>
            </a:extLst>
          </p:cNvPr>
          <p:cNvGrpSpPr/>
          <p:nvPr/>
        </p:nvGrpSpPr>
        <p:grpSpPr>
          <a:xfrm>
            <a:off x="2187133" y="3543269"/>
            <a:ext cx="2082413" cy="2578708"/>
            <a:chOff x="2209993" y="3543269"/>
            <a:chExt cx="2082413" cy="2578708"/>
          </a:xfrm>
        </p:grpSpPr>
        <p:sp>
          <p:nvSpPr>
            <p:cNvPr id="93" name="Rectángulo: esquinas redondeadas 92">
              <a:extLst>
                <a:ext uri="{FF2B5EF4-FFF2-40B4-BE49-F238E27FC236}">
                  <a16:creationId xmlns:a16="http://schemas.microsoft.com/office/drawing/2014/main" id="{A42B13E3-3008-08B1-5BDF-092C4C0F9844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>
                <a:latin typeface="Montserrat" panose="00000500000000000000" pitchFamily="2" charset="0"/>
              </a:endParaRPr>
            </a:p>
          </p:txBody>
        </p:sp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0CCD447E-CAB4-498D-1E4E-901FB45417EA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E666B277-749E-EC62-FB55-DDA88D4FD789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39" name="Grupo 38">
                <a:extLst>
                  <a:ext uri="{FF2B5EF4-FFF2-40B4-BE49-F238E27FC236}">
                    <a16:creationId xmlns:a16="http://schemas.microsoft.com/office/drawing/2014/main" id="{C644A9DE-D765-D429-FBAA-57A1D492C364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89DA6E1-58DE-1B9D-50CE-5DD2AA71DA68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2" name="Rectángulo 11">
                  <a:extLst>
                    <a:ext uri="{FF2B5EF4-FFF2-40B4-BE49-F238E27FC236}">
                      <a16:creationId xmlns:a16="http://schemas.microsoft.com/office/drawing/2014/main" id="{47C85B88-EBA4-04A0-AC8E-A1FB427541B3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" name="Rectángulo 12">
                  <a:extLst>
                    <a:ext uri="{FF2B5EF4-FFF2-40B4-BE49-F238E27FC236}">
                      <a16:creationId xmlns:a16="http://schemas.microsoft.com/office/drawing/2014/main" id="{A6097D8A-65A9-80AE-5A78-D39701C45300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28" name="Grupo 27">
                  <a:extLst>
                    <a:ext uri="{FF2B5EF4-FFF2-40B4-BE49-F238E27FC236}">
                      <a16:creationId xmlns:a16="http://schemas.microsoft.com/office/drawing/2014/main" id="{8C7C3428-7D7F-E324-4760-EE3279EC1B8C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21" name="Grupo 20">
                    <a:extLst>
                      <a:ext uri="{FF2B5EF4-FFF2-40B4-BE49-F238E27FC236}">
                        <a16:creationId xmlns:a16="http://schemas.microsoft.com/office/drawing/2014/main" id="{1D1FC05B-1742-B57B-DC1A-A33A862D67A6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" name="Rectángulo 13">
                      <a:extLst>
                        <a:ext uri="{FF2B5EF4-FFF2-40B4-BE49-F238E27FC236}">
                          <a16:creationId xmlns:a16="http://schemas.microsoft.com/office/drawing/2014/main" id="{E585E0A3-9797-D92D-3FF0-0D74EB31D3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0" name="CuadroTexto 19">
                      <a:extLst>
                        <a:ext uri="{FF2B5EF4-FFF2-40B4-BE49-F238E27FC236}">
                          <a16:creationId xmlns:a16="http://schemas.microsoft.com/office/drawing/2014/main" id="{5DF2D21F-4223-291F-2CB8-98C49A5DE3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2" name="Grupo 21">
                    <a:extLst>
                      <a:ext uri="{FF2B5EF4-FFF2-40B4-BE49-F238E27FC236}">
                        <a16:creationId xmlns:a16="http://schemas.microsoft.com/office/drawing/2014/main" id="{A2E5E468-3A7E-C4B9-5A79-0A3576513F0D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3" name="Rectángulo 22">
                      <a:extLst>
                        <a:ext uri="{FF2B5EF4-FFF2-40B4-BE49-F238E27FC236}">
                          <a16:creationId xmlns:a16="http://schemas.microsoft.com/office/drawing/2014/main" id="{070B5BED-83E6-866A-63D1-C23C7243D2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4" name="CuadroTexto 23">
                      <a:extLst>
                        <a:ext uri="{FF2B5EF4-FFF2-40B4-BE49-F238E27FC236}">
                          <a16:creationId xmlns:a16="http://schemas.microsoft.com/office/drawing/2014/main" id="{110D0CA4-ADCD-1C94-05D4-0D13C1E045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5" name="Grupo 24">
                    <a:extLst>
                      <a:ext uri="{FF2B5EF4-FFF2-40B4-BE49-F238E27FC236}">
                        <a16:creationId xmlns:a16="http://schemas.microsoft.com/office/drawing/2014/main" id="{D95EBB3B-85B0-5529-A74A-0C4C9BD3BA44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6" name="Rectángulo 25">
                      <a:extLst>
                        <a:ext uri="{FF2B5EF4-FFF2-40B4-BE49-F238E27FC236}">
                          <a16:creationId xmlns:a16="http://schemas.microsoft.com/office/drawing/2014/main" id="{AF33ED7C-CB9F-58EB-6D0A-73D53F7362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7" name="CuadroTexto 26">
                      <a:extLst>
                        <a:ext uri="{FF2B5EF4-FFF2-40B4-BE49-F238E27FC236}">
                          <a16:creationId xmlns:a16="http://schemas.microsoft.com/office/drawing/2014/main" id="{B2695410-32FB-DAFE-6DB7-823212F5BD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29" name="Grupo 28">
                  <a:extLst>
                    <a:ext uri="{FF2B5EF4-FFF2-40B4-BE49-F238E27FC236}">
                      <a16:creationId xmlns:a16="http://schemas.microsoft.com/office/drawing/2014/main" id="{2E50C6F6-F212-6ED4-D10A-9EC7047C74BF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30" name="Grupo 29">
                    <a:extLst>
                      <a:ext uri="{FF2B5EF4-FFF2-40B4-BE49-F238E27FC236}">
                        <a16:creationId xmlns:a16="http://schemas.microsoft.com/office/drawing/2014/main" id="{DF464356-9C55-8B0B-4220-922A5F43B5CA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7" name="Rectángulo 36">
                      <a:extLst>
                        <a:ext uri="{FF2B5EF4-FFF2-40B4-BE49-F238E27FC236}">
                          <a16:creationId xmlns:a16="http://schemas.microsoft.com/office/drawing/2014/main" id="{BE1B03C7-C220-34A6-60BB-DA0F417059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8" name="CuadroTexto 37">
                      <a:extLst>
                        <a:ext uri="{FF2B5EF4-FFF2-40B4-BE49-F238E27FC236}">
                          <a16:creationId xmlns:a16="http://schemas.microsoft.com/office/drawing/2014/main" id="{520F3B80-788B-4816-E200-A02D644080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1" name="Grupo 30">
                    <a:extLst>
                      <a:ext uri="{FF2B5EF4-FFF2-40B4-BE49-F238E27FC236}">
                        <a16:creationId xmlns:a16="http://schemas.microsoft.com/office/drawing/2014/main" id="{C5162904-F400-D5AA-7DE4-57F51B77C68A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5" name="Rectángulo 34">
                      <a:extLst>
                        <a:ext uri="{FF2B5EF4-FFF2-40B4-BE49-F238E27FC236}">
                          <a16:creationId xmlns:a16="http://schemas.microsoft.com/office/drawing/2014/main" id="{2A37B0AC-E1BB-5B6B-D4FF-5196520196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6" name="CuadroTexto 35">
                      <a:extLst>
                        <a:ext uri="{FF2B5EF4-FFF2-40B4-BE49-F238E27FC236}">
                          <a16:creationId xmlns:a16="http://schemas.microsoft.com/office/drawing/2014/main" id="{25C4AE04-7980-D250-5B94-23C42194999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2" name="Grupo 31">
                    <a:extLst>
                      <a:ext uri="{FF2B5EF4-FFF2-40B4-BE49-F238E27FC236}">
                        <a16:creationId xmlns:a16="http://schemas.microsoft.com/office/drawing/2014/main" id="{96306E2A-43B0-40BB-1868-B2F2BD755C84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3" name="Rectángulo 32">
                      <a:extLst>
                        <a:ext uri="{FF2B5EF4-FFF2-40B4-BE49-F238E27FC236}">
                          <a16:creationId xmlns:a16="http://schemas.microsoft.com/office/drawing/2014/main" id="{7C9F5924-1B2F-F88E-72DD-B2DCFC87BE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4" name="CuadroTexto 33">
                      <a:extLst>
                        <a:ext uri="{FF2B5EF4-FFF2-40B4-BE49-F238E27FC236}">
                          <a16:creationId xmlns:a16="http://schemas.microsoft.com/office/drawing/2014/main" id="{D6E4C837-8A6B-4769-CA75-A8E961DC6A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DCCDB074-1EEE-6C2B-8D61-E72FA56B9F0E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1</a:t>
              </a:r>
            </a:p>
          </p:txBody>
        </p:sp>
      </p:grpSp>
      <p:grpSp>
        <p:nvGrpSpPr>
          <p:cNvPr id="96" name="Grupo 95">
            <a:extLst>
              <a:ext uri="{FF2B5EF4-FFF2-40B4-BE49-F238E27FC236}">
                <a16:creationId xmlns:a16="http://schemas.microsoft.com/office/drawing/2014/main" id="{9C3F71A3-F5F5-BFDE-74A0-7B018B6290F3}"/>
              </a:ext>
            </a:extLst>
          </p:cNvPr>
          <p:cNvGrpSpPr/>
          <p:nvPr/>
        </p:nvGrpSpPr>
        <p:grpSpPr>
          <a:xfrm>
            <a:off x="4656703" y="3494896"/>
            <a:ext cx="2082413" cy="2578708"/>
            <a:chOff x="2209993" y="3543269"/>
            <a:chExt cx="2082413" cy="2578708"/>
          </a:xfrm>
        </p:grpSpPr>
        <p:sp>
          <p:nvSpPr>
            <p:cNvPr id="97" name="Rectángulo: esquinas redondeadas 96">
              <a:extLst>
                <a:ext uri="{FF2B5EF4-FFF2-40B4-BE49-F238E27FC236}">
                  <a16:creationId xmlns:a16="http://schemas.microsoft.com/office/drawing/2014/main" id="{FD0FE3A9-3D32-9461-3CCF-E15C2882B614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>
                <a:latin typeface="Montserrat" panose="00000500000000000000" pitchFamily="2" charset="0"/>
              </a:endParaRPr>
            </a:p>
          </p:txBody>
        </p:sp>
        <p:grpSp>
          <p:nvGrpSpPr>
            <p:cNvPr id="98" name="Grupo 97">
              <a:extLst>
                <a:ext uri="{FF2B5EF4-FFF2-40B4-BE49-F238E27FC236}">
                  <a16:creationId xmlns:a16="http://schemas.microsoft.com/office/drawing/2014/main" id="{8301A948-E25B-6C08-4BAF-968AC8EBFCB4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0" name="Rectángulo 99">
                <a:extLst>
                  <a:ext uri="{FF2B5EF4-FFF2-40B4-BE49-F238E27FC236}">
                    <a16:creationId xmlns:a16="http://schemas.microsoft.com/office/drawing/2014/main" id="{F827632B-051F-79E2-644A-CF8040928820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01" name="Grupo 100">
                <a:extLst>
                  <a:ext uri="{FF2B5EF4-FFF2-40B4-BE49-F238E27FC236}">
                    <a16:creationId xmlns:a16="http://schemas.microsoft.com/office/drawing/2014/main" id="{0C9DB96F-869C-1777-E764-0A4E38A54EF9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02" name="Rectángulo 101">
                  <a:extLst>
                    <a:ext uri="{FF2B5EF4-FFF2-40B4-BE49-F238E27FC236}">
                      <a16:creationId xmlns:a16="http://schemas.microsoft.com/office/drawing/2014/main" id="{91D47418-ED4D-C413-0560-835C719FA47D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3" name="Rectángulo 102">
                  <a:extLst>
                    <a:ext uri="{FF2B5EF4-FFF2-40B4-BE49-F238E27FC236}">
                      <a16:creationId xmlns:a16="http://schemas.microsoft.com/office/drawing/2014/main" id="{F7045B3E-7751-223F-C54E-FFBC648E5EE2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4" name="Rectángulo 103">
                  <a:extLst>
                    <a:ext uri="{FF2B5EF4-FFF2-40B4-BE49-F238E27FC236}">
                      <a16:creationId xmlns:a16="http://schemas.microsoft.com/office/drawing/2014/main" id="{54428DBB-A670-2C5E-929C-C643A2477291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05" name="Grupo 104">
                  <a:extLst>
                    <a:ext uri="{FF2B5EF4-FFF2-40B4-BE49-F238E27FC236}">
                      <a16:creationId xmlns:a16="http://schemas.microsoft.com/office/drawing/2014/main" id="{6226E9FE-EA79-D9A2-7584-DE4C9D23CC92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16" name="Grupo 115">
                    <a:extLst>
                      <a:ext uri="{FF2B5EF4-FFF2-40B4-BE49-F238E27FC236}">
                        <a16:creationId xmlns:a16="http://schemas.microsoft.com/office/drawing/2014/main" id="{8BCF9EDB-05F0-1F0D-8963-C2071DF4124D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3" name="Rectángulo 122">
                      <a:extLst>
                        <a:ext uri="{FF2B5EF4-FFF2-40B4-BE49-F238E27FC236}">
                          <a16:creationId xmlns:a16="http://schemas.microsoft.com/office/drawing/2014/main" id="{994F1F49-1FCC-BA27-1166-0DDAFB916D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4" name="CuadroTexto 123">
                      <a:extLst>
                        <a:ext uri="{FF2B5EF4-FFF2-40B4-BE49-F238E27FC236}">
                          <a16:creationId xmlns:a16="http://schemas.microsoft.com/office/drawing/2014/main" id="{C740F4BA-CA9E-B858-CA70-FACDF0388A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EA13628D-F309-5082-9C9E-D9A9E8E961A1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1" name="Rectángulo 120">
                      <a:extLst>
                        <a:ext uri="{FF2B5EF4-FFF2-40B4-BE49-F238E27FC236}">
                          <a16:creationId xmlns:a16="http://schemas.microsoft.com/office/drawing/2014/main" id="{64DD196C-F06C-CDFB-1FC1-57637C8073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39B7C962-0483-7E68-AA01-56959505D1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8" name="Grupo 117">
                    <a:extLst>
                      <a:ext uri="{FF2B5EF4-FFF2-40B4-BE49-F238E27FC236}">
                        <a16:creationId xmlns:a16="http://schemas.microsoft.com/office/drawing/2014/main" id="{1EE2AB87-42E4-922C-CCBE-C4794A1BD8BE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9" name="Rectángulo 118">
                      <a:extLst>
                        <a:ext uri="{FF2B5EF4-FFF2-40B4-BE49-F238E27FC236}">
                          <a16:creationId xmlns:a16="http://schemas.microsoft.com/office/drawing/2014/main" id="{AF10BA9F-F7B8-6EE7-04C0-4B5103E804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0" name="CuadroTexto 119">
                      <a:extLst>
                        <a:ext uri="{FF2B5EF4-FFF2-40B4-BE49-F238E27FC236}">
                          <a16:creationId xmlns:a16="http://schemas.microsoft.com/office/drawing/2014/main" id="{76A48223-D483-80C2-7981-993DD74582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06" name="Grupo 105">
                  <a:extLst>
                    <a:ext uri="{FF2B5EF4-FFF2-40B4-BE49-F238E27FC236}">
                      <a16:creationId xmlns:a16="http://schemas.microsoft.com/office/drawing/2014/main" id="{ECDA9B9C-4A42-57F5-BC27-65AE50AD3EE0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07" name="Grupo 106">
                    <a:extLst>
                      <a:ext uri="{FF2B5EF4-FFF2-40B4-BE49-F238E27FC236}">
                        <a16:creationId xmlns:a16="http://schemas.microsoft.com/office/drawing/2014/main" id="{9CA18BD0-E2F6-8A21-0E75-BF98B70507E2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4" name="Rectángulo 113">
                      <a:extLst>
                        <a:ext uri="{FF2B5EF4-FFF2-40B4-BE49-F238E27FC236}">
                          <a16:creationId xmlns:a16="http://schemas.microsoft.com/office/drawing/2014/main" id="{EC8958C8-6BBE-83A7-36B3-229313E758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5" name="CuadroTexto 114">
                      <a:extLst>
                        <a:ext uri="{FF2B5EF4-FFF2-40B4-BE49-F238E27FC236}">
                          <a16:creationId xmlns:a16="http://schemas.microsoft.com/office/drawing/2014/main" id="{9B8CAA05-05C4-232B-D497-4262991C81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8" name="Grupo 107">
                    <a:extLst>
                      <a:ext uri="{FF2B5EF4-FFF2-40B4-BE49-F238E27FC236}">
                        <a16:creationId xmlns:a16="http://schemas.microsoft.com/office/drawing/2014/main" id="{9210D093-E31B-88B4-7C37-8FF25D531C25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2" name="Rectángulo 111">
                      <a:extLst>
                        <a:ext uri="{FF2B5EF4-FFF2-40B4-BE49-F238E27FC236}">
                          <a16:creationId xmlns:a16="http://schemas.microsoft.com/office/drawing/2014/main" id="{1AB3EE95-8A8E-C0C7-2FE9-709E6882A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3" name="CuadroTexto 112">
                      <a:extLst>
                        <a:ext uri="{FF2B5EF4-FFF2-40B4-BE49-F238E27FC236}">
                          <a16:creationId xmlns:a16="http://schemas.microsoft.com/office/drawing/2014/main" id="{5A5EE639-B5AB-8729-5E1E-F3F3A7975BB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9" name="Grupo 108">
                    <a:extLst>
                      <a:ext uri="{FF2B5EF4-FFF2-40B4-BE49-F238E27FC236}">
                        <a16:creationId xmlns:a16="http://schemas.microsoft.com/office/drawing/2014/main" id="{5B97DAAF-0446-749D-3DE5-7160886E6983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0" name="Rectángulo 109">
                      <a:extLst>
                        <a:ext uri="{FF2B5EF4-FFF2-40B4-BE49-F238E27FC236}">
                          <a16:creationId xmlns:a16="http://schemas.microsoft.com/office/drawing/2014/main" id="{82DE996B-3600-521E-C323-533BD7631B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1" name="CuadroTexto 110">
                      <a:extLst>
                        <a:ext uri="{FF2B5EF4-FFF2-40B4-BE49-F238E27FC236}">
                          <a16:creationId xmlns:a16="http://schemas.microsoft.com/office/drawing/2014/main" id="{D6515A5E-F5C6-816C-B3EF-3AA3FF1E9E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3D6E962F-1958-3C5B-68BA-40D0811E3C61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2</a:t>
              </a:r>
            </a:p>
          </p:txBody>
        </p:sp>
      </p:grp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3622C279-B623-FDFB-0D86-1811B0A377BD}"/>
              </a:ext>
            </a:extLst>
          </p:cNvPr>
          <p:cNvGrpSpPr/>
          <p:nvPr/>
        </p:nvGrpSpPr>
        <p:grpSpPr>
          <a:xfrm>
            <a:off x="7125846" y="3515319"/>
            <a:ext cx="2082413" cy="2578708"/>
            <a:chOff x="2209993" y="3543269"/>
            <a:chExt cx="2082413" cy="2578708"/>
          </a:xfrm>
        </p:grpSpPr>
        <p:sp>
          <p:nvSpPr>
            <p:cNvPr id="126" name="Rectángulo: esquinas redondeadas 125">
              <a:extLst>
                <a:ext uri="{FF2B5EF4-FFF2-40B4-BE49-F238E27FC236}">
                  <a16:creationId xmlns:a16="http://schemas.microsoft.com/office/drawing/2014/main" id="{F291049D-A327-0058-FD92-67B3BECF02B5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latin typeface="Montserrat" panose="00000500000000000000" pitchFamily="2" charset="0"/>
              </a:endParaRPr>
            </a:p>
          </p:txBody>
        </p: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B5F8FD4C-8AA2-B135-BE78-1CC672F82E4F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29" name="Rectángulo 128">
                <a:extLst>
                  <a:ext uri="{FF2B5EF4-FFF2-40B4-BE49-F238E27FC236}">
                    <a16:creationId xmlns:a16="http://schemas.microsoft.com/office/drawing/2014/main" id="{DAAEE780-CE5F-E3C6-D2E0-54394B6EC93D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11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11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30" name="Grupo 129">
                <a:extLst>
                  <a:ext uri="{FF2B5EF4-FFF2-40B4-BE49-F238E27FC236}">
                    <a16:creationId xmlns:a16="http://schemas.microsoft.com/office/drawing/2014/main" id="{9BFACC04-51A3-55D3-9FBB-D6AD0EBD4CA9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31" name="Rectángulo 130">
                  <a:extLst>
                    <a:ext uri="{FF2B5EF4-FFF2-40B4-BE49-F238E27FC236}">
                      <a16:creationId xmlns:a16="http://schemas.microsoft.com/office/drawing/2014/main" id="{66A56C7B-3BF4-1A16-0E05-5AF7CE7A3FA2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2" name="Rectángulo 131">
                  <a:extLst>
                    <a:ext uri="{FF2B5EF4-FFF2-40B4-BE49-F238E27FC236}">
                      <a16:creationId xmlns:a16="http://schemas.microsoft.com/office/drawing/2014/main" id="{74163966-50F6-07A6-1848-738E01EACB18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1100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11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3" name="Rectángulo 132">
                  <a:extLst>
                    <a:ext uri="{FF2B5EF4-FFF2-40B4-BE49-F238E27FC236}">
                      <a16:creationId xmlns:a16="http://schemas.microsoft.com/office/drawing/2014/main" id="{776ACCC3-AA10-B815-0944-764054E89973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8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900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34" name="Grupo 133">
                  <a:extLst>
                    <a:ext uri="{FF2B5EF4-FFF2-40B4-BE49-F238E27FC236}">
                      <a16:creationId xmlns:a16="http://schemas.microsoft.com/office/drawing/2014/main" id="{06B5B93F-ABFB-827E-BA9D-405BF8093540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45" name="Grupo 144">
                    <a:extLst>
                      <a:ext uri="{FF2B5EF4-FFF2-40B4-BE49-F238E27FC236}">
                        <a16:creationId xmlns:a16="http://schemas.microsoft.com/office/drawing/2014/main" id="{481CA0FA-0B03-204B-7D6F-359951005B32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2" name="Rectángulo 151">
                      <a:extLst>
                        <a:ext uri="{FF2B5EF4-FFF2-40B4-BE49-F238E27FC236}">
                          <a16:creationId xmlns:a16="http://schemas.microsoft.com/office/drawing/2014/main" id="{2A12C626-33BF-3B55-81B1-1525C1BC36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3" name="CuadroTexto 152">
                      <a:extLst>
                        <a:ext uri="{FF2B5EF4-FFF2-40B4-BE49-F238E27FC236}">
                          <a16:creationId xmlns:a16="http://schemas.microsoft.com/office/drawing/2014/main" id="{6A30D295-2D86-C6BE-CCDD-832460F2AF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6" name="Grupo 145">
                    <a:extLst>
                      <a:ext uri="{FF2B5EF4-FFF2-40B4-BE49-F238E27FC236}">
                        <a16:creationId xmlns:a16="http://schemas.microsoft.com/office/drawing/2014/main" id="{5B80FE46-E7E4-1A6D-0FB6-AFB8EFD06C1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0" name="Rectángulo 149">
                      <a:extLst>
                        <a:ext uri="{FF2B5EF4-FFF2-40B4-BE49-F238E27FC236}">
                          <a16:creationId xmlns:a16="http://schemas.microsoft.com/office/drawing/2014/main" id="{ED1C61BD-E933-CFC4-6A3F-FDEEEC89D7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1" name="CuadroTexto 150">
                      <a:extLst>
                        <a:ext uri="{FF2B5EF4-FFF2-40B4-BE49-F238E27FC236}">
                          <a16:creationId xmlns:a16="http://schemas.microsoft.com/office/drawing/2014/main" id="{8545B17F-06A3-530C-8BAF-F448D4E95E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7" name="Grupo 146">
                    <a:extLst>
                      <a:ext uri="{FF2B5EF4-FFF2-40B4-BE49-F238E27FC236}">
                        <a16:creationId xmlns:a16="http://schemas.microsoft.com/office/drawing/2014/main" id="{9EB2240F-DA5A-931B-CDAB-270805494C30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8" name="Rectángulo 147">
                      <a:extLst>
                        <a:ext uri="{FF2B5EF4-FFF2-40B4-BE49-F238E27FC236}">
                          <a16:creationId xmlns:a16="http://schemas.microsoft.com/office/drawing/2014/main" id="{96E7ABDF-0EE5-4147-B8BE-F6BDA62817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9" name="CuadroTexto 148">
                      <a:extLst>
                        <a:ext uri="{FF2B5EF4-FFF2-40B4-BE49-F238E27FC236}">
                          <a16:creationId xmlns:a16="http://schemas.microsoft.com/office/drawing/2014/main" id="{41985289-9D1B-4378-9331-53F2A66298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35" name="Grupo 134">
                  <a:extLst>
                    <a:ext uri="{FF2B5EF4-FFF2-40B4-BE49-F238E27FC236}">
                      <a16:creationId xmlns:a16="http://schemas.microsoft.com/office/drawing/2014/main" id="{F71A5E8F-96D3-AEA3-651E-B77E949026A8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36" name="Grupo 135">
                    <a:extLst>
                      <a:ext uri="{FF2B5EF4-FFF2-40B4-BE49-F238E27FC236}">
                        <a16:creationId xmlns:a16="http://schemas.microsoft.com/office/drawing/2014/main" id="{80DD4AEA-AF67-8AE0-4653-C0F964D6F327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3" name="Rectángulo 142">
                      <a:extLst>
                        <a:ext uri="{FF2B5EF4-FFF2-40B4-BE49-F238E27FC236}">
                          <a16:creationId xmlns:a16="http://schemas.microsoft.com/office/drawing/2014/main" id="{F37B32A4-51D8-0AC8-184C-46E237F5C7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4" name="CuadroTexto 143">
                      <a:extLst>
                        <a:ext uri="{FF2B5EF4-FFF2-40B4-BE49-F238E27FC236}">
                          <a16:creationId xmlns:a16="http://schemas.microsoft.com/office/drawing/2014/main" id="{90BA6AE2-EEA3-B2C1-784D-D0AB6A176F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7" name="Grupo 136">
                    <a:extLst>
                      <a:ext uri="{FF2B5EF4-FFF2-40B4-BE49-F238E27FC236}">
                        <a16:creationId xmlns:a16="http://schemas.microsoft.com/office/drawing/2014/main" id="{6DB9956A-66C6-9DB7-37F1-C9625C4698D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1" name="Rectángulo 140">
                      <a:extLst>
                        <a:ext uri="{FF2B5EF4-FFF2-40B4-BE49-F238E27FC236}">
                          <a16:creationId xmlns:a16="http://schemas.microsoft.com/office/drawing/2014/main" id="{93D09399-BAB0-7A51-C3B0-4E686E72A2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2" name="CuadroTexto 141">
                      <a:extLst>
                        <a:ext uri="{FF2B5EF4-FFF2-40B4-BE49-F238E27FC236}">
                          <a16:creationId xmlns:a16="http://schemas.microsoft.com/office/drawing/2014/main" id="{CF19EF56-66E8-31B9-2482-D8A2864B40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8" name="Grupo 137">
                    <a:extLst>
                      <a:ext uri="{FF2B5EF4-FFF2-40B4-BE49-F238E27FC236}">
                        <a16:creationId xmlns:a16="http://schemas.microsoft.com/office/drawing/2014/main" id="{D5A48EB2-096D-2802-D725-FA05651E3EE6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39" name="Rectángulo 138">
                      <a:extLst>
                        <a:ext uri="{FF2B5EF4-FFF2-40B4-BE49-F238E27FC236}">
                          <a16:creationId xmlns:a16="http://schemas.microsoft.com/office/drawing/2014/main" id="{A73FB2F5-00F9-7616-13F9-4FB8EF65DB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7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0" name="CuadroTexto 139">
                      <a:extLst>
                        <a:ext uri="{FF2B5EF4-FFF2-40B4-BE49-F238E27FC236}">
                          <a16:creationId xmlns:a16="http://schemas.microsoft.com/office/drawing/2014/main" id="{641026F4-DD2B-821A-6A3F-78AA6CC183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1050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128" name="CuadroTexto 127">
              <a:extLst>
                <a:ext uri="{FF2B5EF4-FFF2-40B4-BE49-F238E27FC236}">
                  <a16:creationId xmlns:a16="http://schemas.microsoft.com/office/drawing/2014/main" id="{871C343C-57FC-F1D6-CD00-7BD8A39C82E8}"/>
                </a:ext>
              </a:extLst>
            </p:cNvPr>
            <p:cNvSpPr txBox="1"/>
            <p:nvPr/>
          </p:nvSpPr>
          <p:spPr>
            <a:xfrm>
              <a:off x="2893849" y="3605525"/>
              <a:ext cx="638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100" b="1" dirty="0" err="1"/>
                <a:t>Node</a:t>
              </a:r>
              <a:r>
                <a:rPr lang="es-ES" sz="1100" b="1" dirty="0"/>
                <a:t> 3</a:t>
              </a:r>
            </a:p>
          </p:txBody>
        </p:sp>
      </p:grp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CC672635-053A-B4E0-B41C-72692E8D1229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5682824" y="1444191"/>
            <a:ext cx="1" cy="372222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20084B3B-67B2-C3A9-72AF-8EDD20E8EE2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5682824" y="2173706"/>
            <a:ext cx="161" cy="288795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ector: curvado 168">
            <a:extLst>
              <a:ext uri="{FF2B5EF4-FFF2-40B4-BE49-F238E27FC236}">
                <a16:creationId xmlns:a16="http://schemas.microsoft.com/office/drawing/2014/main" id="{6B2BADFD-32A8-E8D2-A1CA-938FB9C5D8BB}"/>
              </a:ext>
            </a:extLst>
          </p:cNvPr>
          <p:cNvCxnSpPr>
            <a:stCxn id="9" idx="4"/>
            <a:endCxn id="93" idx="0"/>
          </p:cNvCxnSpPr>
          <p:nvPr/>
        </p:nvCxnSpPr>
        <p:spPr>
          <a:xfrm rot="5400000">
            <a:off x="4091452" y="1951736"/>
            <a:ext cx="728422" cy="2454645"/>
          </a:xfrm>
          <a:prstGeom prst="curved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ector: curvado 169">
            <a:extLst>
              <a:ext uri="{FF2B5EF4-FFF2-40B4-BE49-F238E27FC236}">
                <a16:creationId xmlns:a16="http://schemas.microsoft.com/office/drawing/2014/main" id="{29167F1D-5A6E-0DE7-7BFC-358A82905251}"/>
              </a:ext>
            </a:extLst>
          </p:cNvPr>
          <p:cNvCxnSpPr>
            <a:cxnSpLocks/>
            <a:stCxn id="9" idx="4"/>
            <a:endCxn id="126" idx="0"/>
          </p:cNvCxnSpPr>
          <p:nvPr/>
        </p:nvCxnSpPr>
        <p:spPr>
          <a:xfrm rot="16200000" flipH="1">
            <a:off x="6574783" y="1923049"/>
            <a:ext cx="700472" cy="248406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de flecha 172">
            <a:extLst>
              <a:ext uri="{FF2B5EF4-FFF2-40B4-BE49-F238E27FC236}">
                <a16:creationId xmlns:a16="http://schemas.microsoft.com/office/drawing/2014/main" id="{D83F93FE-C4A6-C093-FDF3-4277953999AF}"/>
              </a:ext>
            </a:extLst>
          </p:cNvPr>
          <p:cNvCxnSpPr>
            <a:cxnSpLocks/>
            <a:stCxn id="9" idx="4"/>
            <a:endCxn id="97" idx="0"/>
          </p:cNvCxnSpPr>
          <p:nvPr/>
        </p:nvCxnSpPr>
        <p:spPr>
          <a:xfrm>
            <a:off x="5682985" y="2814847"/>
            <a:ext cx="14925" cy="680049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CuadroTexto 177">
            <a:extLst>
              <a:ext uri="{FF2B5EF4-FFF2-40B4-BE49-F238E27FC236}">
                <a16:creationId xmlns:a16="http://schemas.microsoft.com/office/drawing/2014/main" id="{39073C5A-B954-D9AE-6FAC-5C2891ACDE9E}"/>
              </a:ext>
            </a:extLst>
          </p:cNvPr>
          <p:cNvSpPr txBox="1"/>
          <p:nvPr/>
        </p:nvSpPr>
        <p:spPr>
          <a:xfrm>
            <a:off x="5004977" y="484134"/>
            <a:ext cx="1309973" cy="37291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Montserrat" panose="00000500000000000000" pitchFamily="2" charset="0"/>
              </a:rPr>
              <a:t>CLUSTER</a:t>
            </a:r>
          </a:p>
        </p:txBody>
      </p:sp>
      <p:grpSp>
        <p:nvGrpSpPr>
          <p:cNvPr id="182" name="Grupo 181">
            <a:extLst>
              <a:ext uri="{FF2B5EF4-FFF2-40B4-BE49-F238E27FC236}">
                <a16:creationId xmlns:a16="http://schemas.microsoft.com/office/drawing/2014/main" id="{46A979F1-D0CC-4E12-F7D3-7D986F30BA20}"/>
              </a:ext>
            </a:extLst>
          </p:cNvPr>
          <p:cNvGrpSpPr/>
          <p:nvPr/>
        </p:nvGrpSpPr>
        <p:grpSpPr>
          <a:xfrm>
            <a:off x="6596017" y="437570"/>
            <a:ext cx="2722971" cy="788870"/>
            <a:chOff x="219770" y="857050"/>
            <a:chExt cx="2722971" cy="788870"/>
          </a:xfrm>
        </p:grpSpPr>
        <p:sp>
          <p:nvSpPr>
            <p:cNvPr id="180" name="Rectángulo: esquinas redondeadas 179">
              <a:extLst>
                <a:ext uri="{FF2B5EF4-FFF2-40B4-BE49-F238E27FC236}">
                  <a16:creationId xmlns:a16="http://schemas.microsoft.com/office/drawing/2014/main" id="{8F63B82B-0C4E-FCD3-940B-FAA81469FBDE}"/>
                </a:ext>
              </a:extLst>
            </p:cNvPr>
            <p:cNvSpPr/>
            <p:nvPr/>
          </p:nvSpPr>
          <p:spPr>
            <a:xfrm>
              <a:off x="219770" y="900965"/>
              <a:ext cx="762000" cy="245030"/>
            </a:xfrm>
            <a:prstGeom prst="roundRect">
              <a:avLst>
                <a:gd name="adj" fmla="val 50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900" b="1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Cluster</a:t>
              </a:r>
              <a:endParaRPr lang="es-ES" sz="1050" b="1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81" name="Rectángulo: esquinas redondeadas 180">
              <a:extLst>
                <a:ext uri="{FF2B5EF4-FFF2-40B4-BE49-F238E27FC236}">
                  <a16:creationId xmlns:a16="http://schemas.microsoft.com/office/drawing/2014/main" id="{BE278D4A-24FA-5D35-43A3-9C43E496EDC9}"/>
                </a:ext>
              </a:extLst>
            </p:cNvPr>
            <p:cNvSpPr/>
            <p:nvPr/>
          </p:nvSpPr>
          <p:spPr>
            <a:xfrm>
              <a:off x="921532" y="1031724"/>
              <a:ext cx="2021209" cy="614196"/>
            </a:xfrm>
            <a:prstGeom prst="roundRect">
              <a:avLst>
                <a:gd name="adj" fmla="val 8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800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Conjunto de máquinas virtuales </a:t>
              </a:r>
              <a:r>
                <a:rPr lang="es-ES" sz="8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gestionadas por </a:t>
              </a:r>
              <a:r>
                <a:rPr lang="es-ES" sz="800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Databricks</a:t>
              </a:r>
              <a:r>
                <a:rPr lang="es-ES" sz="8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/Spark para ejecutar trabajos distribuidos.</a:t>
              </a:r>
              <a:endParaRPr lang="es-ES" sz="1000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79" name="Elipse 178">
              <a:extLst>
                <a:ext uri="{FF2B5EF4-FFF2-40B4-BE49-F238E27FC236}">
                  <a16:creationId xmlns:a16="http://schemas.microsoft.com/office/drawing/2014/main" id="{B83648DB-2F6F-0F1F-685C-4DA98C98425B}"/>
                </a:ext>
              </a:extLst>
            </p:cNvPr>
            <p:cNvSpPr/>
            <p:nvPr/>
          </p:nvSpPr>
          <p:spPr>
            <a:xfrm>
              <a:off x="815340" y="857050"/>
              <a:ext cx="332860" cy="332860"/>
            </a:xfrm>
            <a:prstGeom prst="ellipse">
              <a:avLst/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b="1" dirty="0">
                  <a:solidFill>
                    <a:schemeClr val="bg1">
                      <a:lumMod val="50000"/>
                    </a:schemeClr>
                  </a:solidFill>
                </a:rPr>
                <a:t>?</a:t>
              </a: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2B5B447-62BC-F5D6-478A-BA45F7552CD0}"/>
              </a:ext>
            </a:extLst>
          </p:cNvPr>
          <p:cNvGrpSpPr/>
          <p:nvPr/>
        </p:nvGrpSpPr>
        <p:grpSpPr>
          <a:xfrm>
            <a:off x="1841138" y="871333"/>
            <a:ext cx="2576875" cy="705082"/>
            <a:chOff x="219770" y="857050"/>
            <a:chExt cx="2576875" cy="705082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628B3E48-562C-D276-9F28-376E730CC796}"/>
                </a:ext>
              </a:extLst>
            </p:cNvPr>
            <p:cNvSpPr/>
            <p:nvPr/>
          </p:nvSpPr>
          <p:spPr>
            <a:xfrm>
              <a:off x="219770" y="900965"/>
              <a:ext cx="762000" cy="245030"/>
            </a:xfrm>
            <a:prstGeom prst="roundRect">
              <a:avLst>
                <a:gd name="adj" fmla="val 50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900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Driver</a:t>
              </a:r>
              <a:endParaRPr lang="es-ES" sz="1050" b="1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" name="Rectángulo: esquinas redondeadas 4">
              <a:extLst>
                <a:ext uri="{FF2B5EF4-FFF2-40B4-BE49-F238E27FC236}">
                  <a16:creationId xmlns:a16="http://schemas.microsoft.com/office/drawing/2014/main" id="{6C67CEC6-4AF0-EC32-273D-19794E7D2C2B}"/>
                </a:ext>
              </a:extLst>
            </p:cNvPr>
            <p:cNvSpPr/>
            <p:nvPr/>
          </p:nvSpPr>
          <p:spPr>
            <a:xfrm>
              <a:off x="921533" y="1031724"/>
              <a:ext cx="1875112" cy="530408"/>
            </a:xfrm>
            <a:prstGeom prst="roundRect">
              <a:avLst>
                <a:gd name="adj" fmla="val 8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800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   Nodo que coordina </a:t>
              </a:r>
              <a:r>
                <a:rPr lang="es-ES" sz="8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el trabajo: planifica, optimiza, crea el DAG y envía tareas a los </a:t>
              </a:r>
              <a:r>
                <a:rPr lang="es-ES" sz="800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Workers</a:t>
              </a:r>
              <a:r>
                <a:rPr lang="es-ES" sz="8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.</a:t>
              </a:r>
              <a:endParaRPr lang="es-ES" sz="1000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3550AB40-E8A4-5C6B-375D-90CE95AC1F06}"/>
                </a:ext>
              </a:extLst>
            </p:cNvPr>
            <p:cNvSpPr/>
            <p:nvPr/>
          </p:nvSpPr>
          <p:spPr>
            <a:xfrm>
              <a:off x="815340" y="857050"/>
              <a:ext cx="332860" cy="332860"/>
            </a:xfrm>
            <a:prstGeom prst="ellipse">
              <a:avLst/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b="1" dirty="0">
                  <a:solidFill>
                    <a:schemeClr val="bg1">
                      <a:lumMod val="50000"/>
                    </a:schemeClr>
                  </a:solidFill>
                </a:rPr>
                <a:t>?</a:t>
              </a:r>
            </a:p>
          </p:txBody>
        </p:sp>
      </p:grp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2CDAB205-DF76-9657-36BB-3F7D85A9838E}"/>
              </a:ext>
            </a:extLst>
          </p:cNvPr>
          <p:cNvSpPr/>
          <p:nvPr/>
        </p:nvSpPr>
        <p:spPr>
          <a:xfrm>
            <a:off x="1884549" y="1252876"/>
            <a:ext cx="151794" cy="129265"/>
          </a:xfrm>
          <a:prstGeom prst="star5">
            <a:avLst/>
          </a:prstGeom>
          <a:solidFill>
            <a:srgbClr val="FFFFB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419081E-F8E0-2B48-2E97-D824DA51699E}"/>
              </a:ext>
            </a:extLst>
          </p:cNvPr>
          <p:cNvSpPr txBox="1"/>
          <p:nvPr/>
        </p:nvSpPr>
        <p:spPr>
          <a:xfrm>
            <a:off x="1972726" y="1212034"/>
            <a:ext cx="11296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Montserrat" panose="00000500000000000000" pitchFamily="2" charset="0"/>
              </a:rPr>
              <a:t>Pandas</a:t>
            </a:r>
            <a:endParaRPr lang="es-E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340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74;g35ee5cc475b_0_15">
            <a:extLst>
              <a:ext uri="{FF2B5EF4-FFF2-40B4-BE49-F238E27FC236}">
                <a16:creationId xmlns:a16="http://schemas.microsoft.com/office/drawing/2014/main" id="{EBCE5E87-0E17-DA23-8ECF-8793F3FA137C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Clusters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Modos de Acceso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04F94761-1355-14F9-D165-59C8AAF202B2}"/>
              </a:ext>
            </a:extLst>
          </p:cNvPr>
          <p:cNvGrpSpPr/>
          <p:nvPr/>
        </p:nvGrpSpPr>
        <p:grpSpPr>
          <a:xfrm>
            <a:off x="8528682" y="1608307"/>
            <a:ext cx="3330114" cy="3612204"/>
            <a:chOff x="8528682" y="1608307"/>
            <a:chExt cx="3330114" cy="3612204"/>
          </a:xfrm>
        </p:grpSpPr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8250FD22-7927-1619-36B7-7125FD52895A}"/>
                </a:ext>
              </a:extLst>
            </p:cNvPr>
            <p:cNvSpPr/>
            <p:nvPr/>
          </p:nvSpPr>
          <p:spPr>
            <a:xfrm>
              <a:off x="8528682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59B1AB18-F3CA-16E8-7BD8-FB8515DFFE77}"/>
                </a:ext>
              </a:extLst>
            </p:cNvPr>
            <p:cNvSpPr txBox="1"/>
            <p:nvPr/>
          </p:nvSpPr>
          <p:spPr>
            <a:xfrm>
              <a:off x="8528683" y="1692404"/>
              <a:ext cx="31910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Isolation Shared Access 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CB5EE87F-0CBD-1A9F-66FF-EF625BB1A818}"/>
                </a:ext>
              </a:extLst>
            </p:cNvPr>
            <p:cNvSpPr txBox="1"/>
            <p:nvPr/>
          </p:nvSpPr>
          <p:spPr>
            <a:xfrm>
              <a:off x="8667714" y="2767279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Todos los usuarios comparten la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misma identidad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técnica.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hay control de credenciales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individuales.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soporta Unity </a:t>
              </a:r>
              <a:r>
                <a:rPr lang="es-ES" sz="10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Catalog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ni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passthrough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  <a:endParaRPr lang="es-ES" sz="1200" dirty="0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4CAEB5E4-6201-BE1F-87DF-17BED1978709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=&gt; Ejemplo de contexto:</a:t>
              </a:r>
              <a:b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"Uso un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antiguo para pruebas rápidas con datos no sensibles."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</p:grpSp>
      <p:pic>
        <p:nvPicPr>
          <p:cNvPr id="43" name="Imagen 42" descr="Icono&#10;&#10;El contenido generado por IA puede ser incorrecto.">
            <a:extLst>
              <a:ext uri="{FF2B5EF4-FFF2-40B4-BE49-F238E27FC236}">
                <a16:creationId xmlns:a16="http://schemas.microsoft.com/office/drawing/2014/main" id="{9E70179F-536C-62BE-9FDF-E60D548BC7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9332" y="2216103"/>
            <a:ext cx="433659" cy="433659"/>
          </a:xfrm>
          <a:prstGeom prst="rect">
            <a:avLst/>
          </a:prstGeom>
        </p:spPr>
      </p:pic>
      <p:grpSp>
        <p:nvGrpSpPr>
          <p:cNvPr id="22" name="Grupo 21">
            <a:extLst>
              <a:ext uri="{FF2B5EF4-FFF2-40B4-BE49-F238E27FC236}">
                <a16:creationId xmlns:a16="http://schemas.microsoft.com/office/drawing/2014/main" id="{4E0C67C7-90D7-3484-39ED-854CAA537D67}"/>
              </a:ext>
            </a:extLst>
          </p:cNvPr>
          <p:cNvGrpSpPr/>
          <p:nvPr/>
        </p:nvGrpSpPr>
        <p:grpSpPr>
          <a:xfrm>
            <a:off x="472236" y="1608307"/>
            <a:ext cx="3191082" cy="3612204"/>
            <a:chOff x="8667714" y="1608307"/>
            <a:chExt cx="3191082" cy="3612204"/>
          </a:xfrm>
        </p:grpSpPr>
        <p:sp>
          <p:nvSpPr>
            <p:cNvPr id="23" name="Rectángulo: esquinas redondeadas 22">
              <a:extLst>
                <a:ext uri="{FF2B5EF4-FFF2-40B4-BE49-F238E27FC236}">
                  <a16:creationId xmlns:a16="http://schemas.microsoft.com/office/drawing/2014/main" id="{2BF55CAF-8453-3308-0031-52B2464AEC0B}"/>
                </a:ext>
              </a:extLst>
            </p:cNvPr>
            <p:cNvSpPr/>
            <p:nvPr/>
          </p:nvSpPr>
          <p:spPr>
            <a:xfrm>
              <a:off x="8667714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5AD7E52-7A4D-0B6D-33E2-C18E88E31242}"/>
                </a:ext>
              </a:extLst>
            </p:cNvPr>
            <p:cNvSpPr txBox="1"/>
            <p:nvPr/>
          </p:nvSpPr>
          <p:spPr>
            <a:xfrm>
              <a:off x="8806745" y="1659770"/>
              <a:ext cx="29130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Single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User</a:t>
              </a:r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Access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695AC74-C817-10AB-7317-9C33A166BA02}"/>
                </a:ext>
              </a:extLst>
            </p:cNvPr>
            <p:cNvSpPr txBox="1"/>
            <p:nvPr/>
          </p:nvSpPr>
          <p:spPr>
            <a:xfrm>
              <a:off x="8715953" y="2767280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Solo una identidad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puede usarlo: el propietario.</a:t>
              </a:r>
              <a:b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Autenticación y permisos controlados al 100% por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Unity </a:t>
              </a:r>
              <a:r>
                <a:rPr lang="es-ES" sz="10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Catalog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+ IAM.</a:t>
              </a:r>
              <a:b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Ideal para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seguridad alta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, acceso a datos sensibles, ML,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Service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Principals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  <a:endParaRPr lang="es-ES" sz="1200" dirty="0"/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C2F1CB6D-3E61-FAED-C3B9-325FDD9E1F78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=&gt; Ejemplo de contexto:</a:t>
              </a:r>
              <a:b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"Estoy desarrollando un modelo de ML con acceso a datos sensibles: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Single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User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."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B9D49BDB-66F0-E180-E4F7-734B047D188C}"/>
              </a:ext>
            </a:extLst>
          </p:cNvPr>
          <p:cNvGrpSpPr/>
          <p:nvPr/>
        </p:nvGrpSpPr>
        <p:grpSpPr>
          <a:xfrm>
            <a:off x="4500459" y="1608307"/>
            <a:ext cx="3191082" cy="3612204"/>
            <a:chOff x="8667714" y="1608307"/>
            <a:chExt cx="3191082" cy="3612204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ADBA5893-224F-5352-4E40-BE15BD4E84C5}"/>
                </a:ext>
              </a:extLst>
            </p:cNvPr>
            <p:cNvSpPr/>
            <p:nvPr/>
          </p:nvSpPr>
          <p:spPr>
            <a:xfrm>
              <a:off x="8667714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DCC0CCDC-07AA-C60A-3825-331CEA9B73B4}"/>
                </a:ext>
              </a:extLst>
            </p:cNvPr>
            <p:cNvSpPr txBox="1"/>
            <p:nvPr/>
          </p:nvSpPr>
          <p:spPr>
            <a:xfrm>
              <a:off x="9104994" y="1653870"/>
              <a:ext cx="2461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Shared</a:t>
              </a:r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Access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8B9D147A-1443-776D-DC76-2A7DB7B931B3}"/>
                </a:ext>
              </a:extLst>
            </p:cNvPr>
            <p:cNvSpPr txBox="1"/>
            <p:nvPr/>
          </p:nvSpPr>
          <p:spPr>
            <a:xfrm>
              <a:off x="8748379" y="2767279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Varias personas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pueden usar el mismo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Cada notebook se ejecuta con la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identidad real del usuario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Permite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colaboración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y mantiene permisos individuales.</a:t>
              </a:r>
              <a:endParaRPr lang="es-ES" sz="1200" dirty="0"/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28C9CE1C-78A2-0B2C-50EA-95D2E703C46D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Symbol" panose="05050102010706020507" pitchFamily="18" charset="2"/>
                <a:buChar char="Þ"/>
              </a:pPr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Ejemplo de contexto:</a:t>
              </a:r>
            </a:p>
            <a:p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"Estamos editando notebooks en equipo y cada uno ve solo lo que tiene permiso—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Shared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."</a:t>
              </a:r>
            </a:p>
          </p:txBody>
        </p:sp>
      </p:grpSp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305B746E-A3E0-AE97-ADA1-04B686C8E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0628" y="2219537"/>
            <a:ext cx="394235" cy="394235"/>
          </a:xfrm>
          <a:prstGeom prst="rect">
            <a:avLst/>
          </a:prstGeom>
        </p:spPr>
      </p:pic>
      <p:pic>
        <p:nvPicPr>
          <p:cNvPr id="35" name="Imagen 34" descr="Icono&#10;&#10;El contenido generado por IA puede ser incorrecto.">
            <a:extLst>
              <a:ext uri="{FF2B5EF4-FFF2-40B4-BE49-F238E27FC236}">
                <a16:creationId xmlns:a16="http://schemas.microsoft.com/office/drawing/2014/main" id="{B030FF2D-FF2E-CAB2-9BE4-D0CC3857E6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723" y="4943581"/>
            <a:ext cx="634921" cy="634921"/>
          </a:xfrm>
          <a:prstGeom prst="rect">
            <a:avLst/>
          </a:prstGeom>
        </p:spPr>
      </p:pic>
      <p:pic>
        <p:nvPicPr>
          <p:cNvPr id="37" name="Imagen 36" descr="Icono&#10;&#10;El contenido generado por IA puede ser incorrecto.">
            <a:extLst>
              <a:ext uri="{FF2B5EF4-FFF2-40B4-BE49-F238E27FC236}">
                <a16:creationId xmlns:a16="http://schemas.microsoft.com/office/drawing/2014/main" id="{EFBD8DB6-DE9B-B29A-62D0-9F306D43DD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170" y="2216102"/>
            <a:ext cx="433659" cy="433659"/>
          </a:xfrm>
          <a:prstGeom prst="rect">
            <a:avLst/>
          </a:prstGeom>
        </p:spPr>
      </p:pic>
      <p:pic>
        <p:nvPicPr>
          <p:cNvPr id="39" name="Imagen 38" descr="Un dibujo de una persona&#10;&#10;El contenido generado por IA puede ser incorrecto.">
            <a:extLst>
              <a:ext uri="{FF2B5EF4-FFF2-40B4-BE49-F238E27FC236}">
                <a16:creationId xmlns:a16="http://schemas.microsoft.com/office/drawing/2014/main" id="{58596F1F-1378-E80D-7979-99E8720947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620" y="5929796"/>
            <a:ext cx="634921" cy="63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13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3FCFE8E-4F67-D503-2350-FB8CF723E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1647576"/>
            <a:ext cx="5591955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763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830AA98-52A4-A8F7-9870-2F5E428CA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100" y="1128391"/>
            <a:ext cx="7163800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12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FD379A4-0764-869C-8E20-15D2BEE11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448" y="1690688"/>
            <a:ext cx="5892722" cy="3758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324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1065</TotalTime>
  <Words>922</Words>
  <Application>Microsoft Office PowerPoint</Application>
  <PresentationFormat>Panorámica</PresentationFormat>
  <Paragraphs>162</Paragraphs>
  <Slides>15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Montserrat</vt:lpstr>
      <vt:lpstr>Symbol</vt:lpstr>
      <vt:lpstr>Tema de Office</vt:lpstr>
      <vt:lpstr>Presentación de PowerPoint</vt:lpstr>
      <vt:lpstr>Presentación de PowerPoint</vt:lpstr>
      <vt:lpstr>Databricks | Fundamentales</vt:lpstr>
      <vt:lpstr>Delta Lake| Data Warehouse</vt:lpstr>
      <vt:lpstr>Delta Lake| Data Lake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Martínez Morales</dc:creator>
  <cp:lastModifiedBy>Javier Martínez Morales</cp:lastModifiedBy>
  <cp:revision>16</cp:revision>
  <dcterms:created xsi:type="dcterms:W3CDTF">2025-11-23T08:17:51Z</dcterms:created>
  <dcterms:modified xsi:type="dcterms:W3CDTF">2025-11-25T17:54:27Z</dcterms:modified>
</cp:coreProperties>
</file>