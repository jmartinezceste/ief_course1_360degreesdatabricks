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147474071" r:id="rId2"/>
    <p:sldId id="280" r:id="rId3"/>
    <p:sldId id="2147474067" r:id="rId4"/>
    <p:sldId id="2147474072" r:id="rId5"/>
    <p:sldId id="277" r:id="rId6"/>
    <p:sldId id="256" r:id="rId7"/>
    <p:sldId id="278" r:id="rId8"/>
    <p:sldId id="2147474068" r:id="rId9"/>
    <p:sldId id="2147474073" r:id="rId10"/>
    <p:sldId id="279" r:id="rId11"/>
    <p:sldId id="2147474069" r:id="rId12"/>
    <p:sldId id="2147474074" r:id="rId13"/>
    <p:sldId id="2147474058" r:id="rId14"/>
    <p:sldId id="2147474076" r:id="rId15"/>
    <p:sldId id="2147474075" r:id="rId16"/>
    <p:sldId id="281" r:id="rId17"/>
    <p:sldId id="2147474070" r:id="rId18"/>
    <p:sldId id="275" r:id="rId19"/>
    <p:sldId id="276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8BBC"/>
    <a:srgbClr val="156082"/>
    <a:srgbClr val="FFF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8" autoAdjust="0"/>
    <p:restoredTop sz="87437" autoAdjust="0"/>
  </p:normalViewPr>
  <p:slideViewPr>
    <p:cSldViewPr snapToGrid="0">
      <p:cViewPr>
        <p:scale>
          <a:sx n="125" d="100"/>
          <a:sy n="125" d="100"/>
        </p:scale>
        <p:origin x="91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E6E01-8152-4A2A-B076-1FEB18D3E2AD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1CCDE-4723-4995-BE44-3BF9696042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071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ee5cc475b_0_15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dirty="0"/>
              <a:t>Delta Lake en </a:t>
            </a:r>
            <a:r>
              <a:rPr lang="es-ES" dirty="0" err="1"/>
              <a:t>Databricks</a:t>
            </a:r>
            <a:r>
              <a:rPr lang="es-ES" dirty="0"/>
              <a:t> es </a:t>
            </a:r>
            <a:r>
              <a:rPr lang="es-ES" b="1" dirty="0"/>
              <a:t>la capa de almacenamiento que convierte los archivos de datos (como </a:t>
            </a:r>
            <a:r>
              <a:rPr lang="es-ES" b="1" dirty="0" err="1"/>
              <a:t>Parquet</a:t>
            </a:r>
            <a:r>
              <a:rPr lang="es-ES" b="1" dirty="0"/>
              <a:t> en Data Lake) en tablas transaccionales, confiables y gobernadas</a:t>
            </a:r>
            <a:r>
              <a:rPr lang="es-ES" dirty="0"/>
              <a:t>, aportando funcionalidades que antes solo tenían las bases de datos tradicionales.</a:t>
            </a:r>
          </a:p>
          <a:p>
            <a:r>
              <a:rPr lang="es-ES" b="1" dirty="0"/>
              <a:t>En una frase clara:</a:t>
            </a:r>
          </a:p>
          <a:p>
            <a:endParaRPr lang="es-ES" b="1" dirty="0"/>
          </a:p>
          <a:p>
            <a:r>
              <a:rPr lang="es-ES" b="1" dirty="0"/>
              <a:t>Delta Lake es una tecnología que añade ACID, versionado, rendimiento y gobernanza sobre archivos de datos en un Data Lake</a:t>
            </a:r>
            <a:r>
              <a:rPr lang="es-E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g35ee5cc475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B571-A625-D97A-3F1A-E9E01B06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00FF99-4E8F-DE66-887F-36E234D04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049056-6C9F-BA8C-5AA3-61CD0318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22CD4B-BF5A-FE65-29C5-B8A760772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🔹 Clústeres multiuso: ideales para el desarrollo interactivo, las pruebas y la colaboración. Considérelos como su espacio de trabajo compartido para crear y experimentar.</a:t>
            </a:r>
          </a:p>
          <a:p>
            <a:r>
              <a:rPr lang="es-ES" dirty="0"/>
              <a:t>🔹 Clústeres de tareas: diseñados específicamente para ejecutar tareas programadas o activadas. Se activan para la tarea y se apagan automáticamente cuando terminan, lo que los hace ideales para ETL de producción.</a:t>
            </a:r>
          </a:p>
          <a:p>
            <a:r>
              <a:rPr lang="es-ES" dirty="0"/>
              <a:t>🔹 Pools de clústeres: no son un clúster en sí, sino una forma de precalentar los recursos informáticos para que los clústeres se inicien más rápido. Perfectos para entornos con trabajos cortos frecuentes.</a:t>
            </a:r>
          </a:p>
          <a:p>
            <a:r>
              <a:rPr lang="es-ES" dirty="0"/>
              <a:t>🔹 Almacenes SQL: optimizados para consultas SQL y herramientas de BI como Power BI y </a:t>
            </a:r>
            <a:r>
              <a:rPr lang="es-ES" dirty="0" err="1"/>
              <a:t>Tableau</a:t>
            </a:r>
            <a:r>
              <a:rPr lang="es-ES" dirty="0"/>
              <a:t>. Computación de pago por segundo diseñada para paneles de control y análisis ad hoc.</a:t>
            </a:r>
          </a:p>
          <a:p>
            <a:br>
              <a:rPr lang="es-ES" dirty="0"/>
            </a:br>
            <a:br>
              <a:rPr lang="es-ES" dirty="0"/>
            </a:br>
            <a:r>
              <a:rPr lang="es-ES" dirty="0"/>
              <a:t>💡 Consejo:</a:t>
            </a:r>
          </a:p>
          <a:p>
            <a:r>
              <a:rPr lang="es-ES" dirty="0"/>
              <a:t>Utilice </a:t>
            </a:r>
            <a:r>
              <a:rPr lang="es-ES" dirty="0" err="1"/>
              <a:t>All-Purpose</a:t>
            </a:r>
            <a:r>
              <a:rPr lang="es-ES" dirty="0"/>
              <a:t> para el trabajo de desarrollo,</a:t>
            </a:r>
          </a:p>
          <a:p>
            <a:r>
              <a:rPr lang="es-ES" dirty="0"/>
              <a:t>Job </a:t>
            </a:r>
            <a:r>
              <a:rPr lang="es-ES" dirty="0" err="1"/>
              <a:t>Clusters</a:t>
            </a:r>
            <a:r>
              <a:rPr lang="es-ES" dirty="0"/>
              <a:t> para la producción,</a:t>
            </a:r>
          </a:p>
          <a:p>
            <a:r>
              <a:rPr lang="es-ES" dirty="0"/>
              <a:t>Pools para reducir el tiempo de arranque,</a:t>
            </a:r>
          </a:p>
          <a:p>
            <a:r>
              <a:rPr lang="es-ES" dirty="0"/>
              <a:t>SQL </a:t>
            </a:r>
            <a:r>
              <a:rPr lang="es-ES" dirty="0" err="1"/>
              <a:t>Warehouses</a:t>
            </a:r>
            <a:r>
              <a:rPr lang="es-ES" dirty="0"/>
              <a:t> para BI.</a:t>
            </a:r>
          </a:p>
          <a:p>
            <a:r>
              <a:rPr lang="es-ES" dirty="0"/>
              <a:t>Elegir sabiamente = mayor rendimiento + menor coste ✅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1CCDE-4723-4995-BE44-3BF9696042C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6649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087D-1B9E-6706-39E7-F5EE7410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0D0FD8-ED5F-A883-0C56-9881FFFA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9F3DAE-A86D-D2F6-3070-8C468B785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9DA7F4-91AF-6969-72EB-866533C87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69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latin typeface="Montserrat" panose="00000500000000000000" pitchFamily="2" charset="0"/>
              </a:rPr>
              <a:t>Comprender la estructura jerárquica de Unity </a:t>
            </a:r>
            <a:r>
              <a:rPr lang="es-ES" sz="1200" b="1" dirty="0" err="1">
                <a:latin typeface="Montserrat" panose="00000500000000000000" pitchFamily="2" charset="0"/>
              </a:rPr>
              <a:t>Catalog</a:t>
            </a:r>
            <a:r>
              <a:rPr lang="es-ES" sz="1200" b="1" dirty="0">
                <a:latin typeface="Montserrat" panose="00000500000000000000" pitchFamily="2" charset="0"/>
              </a:rPr>
              <a:t> es clave para organizar, asegurar y gobernar los datos: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dirty="0">
                <a:latin typeface="Montserrat" panose="00000500000000000000" pitchFamily="2" charset="0"/>
              </a:rPr>
              <a:t>desde el </a:t>
            </a:r>
            <a:r>
              <a:rPr lang="es-ES" sz="1200" b="1" dirty="0">
                <a:latin typeface="Montserrat" panose="00000500000000000000" pitchFamily="2" charset="0"/>
              </a:rPr>
              <a:t>nivel global (catálogo)</a:t>
            </a:r>
            <a:r>
              <a:rPr lang="es-ES" sz="1200" b="0" dirty="0">
                <a:latin typeface="Montserrat" panose="00000500000000000000" pitchFamily="2" charset="0"/>
              </a:rPr>
              <a:t>, pasando por el </a:t>
            </a:r>
            <a:r>
              <a:rPr lang="es-ES" sz="1200" b="1" dirty="0">
                <a:latin typeface="Montserrat" panose="00000500000000000000" pitchFamily="2" charset="0"/>
              </a:rPr>
              <a:t>espacio de trabajo lógico (</a:t>
            </a:r>
            <a:r>
              <a:rPr lang="es-ES" sz="1200" b="1" dirty="0" err="1">
                <a:latin typeface="Montserrat" panose="00000500000000000000" pitchFamily="2" charset="0"/>
              </a:rPr>
              <a:t>schema</a:t>
            </a:r>
            <a:r>
              <a:rPr lang="es-ES" sz="1200" b="1" dirty="0">
                <a:latin typeface="Montserrat" panose="00000500000000000000" pitchFamily="2" charset="0"/>
              </a:rPr>
              <a:t>)</a:t>
            </a:r>
            <a:r>
              <a:rPr lang="es-ES" sz="1200" b="0" dirty="0">
                <a:latin typeface="Montserrat" panose="00000500000000000000" pitchFamily="2" charset="0"/>
              </a:rPr>
              <a:t>, hasta los objetos concretos donde residen y se consumen los datos (tablas, vistas, volúmenes y funciones).</a:t>
            </a:r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📝 ¿Cuándo usar varios </a:t>
            </a:r>
            <a:r>
              <a:rPr lang="es-ES" b="1" dirty="0" err="1"/>
              <a:t>metastores</a:t>
            </a:r>
            <a:r>
              <a:rPr lang="es-ES" b="1" dirty="0"/>
              <a:t> en una empresa?</a:t>
            </a:r>
          </a:p>
          <a:p>
            <a:r>
              <a:rPr lang="es-ES" dirty="0"/>
              <a:t>Aunque lo recomendable es gestionar todo desde un único </a:t>
            </a:r>
            <a:r>
              <a:rPr lang="es-ES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), hay </a:t>
            </a:r>
            <a:r>
              <a:rPr lang="es-ES" b="1" dirty="0"/>
              <a:t>casos justificados</a:t>
            </a:r>
            <a:r>
              <a:rPr lang="es-ES" dirty="0"/>
              <a:t> donde tener más de uno es necesario:</a:t>
            </a:r>
          </a:p>
          <a:p>
            <a:r>
              <a:rPr lang="es-ES" b="1" dirty="0"/>
              <a:t>🌍 Requisitos de residencia de datos</a:t>
            </a:r>
            <a:br>
              <a:rPr lang="es-ES" dirty="0"/>
            </a:br>
            <a:r>
              <a:rPr lang="es-ES" dirty="0"/>
              <a:t>Cuando una empresa opera en varias regiones con leyes distintas (por ejemplo, GDPR en la UE), puede ser obligatorio mantener los datos en </a:t>
            </a:r>
            <a:r>
              <a:rPr lang="es-ES" dirty="0" err="1"/>
              <a:t>metastores</a:t>
            </a:r>
            <a:r>
              <a:rPr lang="es-ES" dirty="0"/>
              <a:t> separados por región.</a:t>
            </a:r>
          </a:p>
          <a:p>
            <a:r>
              <a:rPr lang="es-ES" b="1" dirty="0"/>
              <a:t>🔐 Necesidad de aislamiento total</a:t>
            </a:r>
            <a:br>
              <a:rPr lang="es-ES" dirty="0"/>
            </a:br>
            <a:r>
              <a:rPr lang="es-ES" dirty="0"/>
              <a:t>En grandes organizaciones con unidades de negocio independientes o altamente reguladas, puede ser necesario que cada una tenga su propio </a:t>
            </a:r>
            <a:r>
              <a:rPr lang="es-ES" dirty="0" err="1"/>
              <a:t>metastore</a:t>
            </a:r>
            <a:r>
              <a:rPr lang="es-ES" dirty="0"/>
              <a:t> para garantizar separación de permisos, políticas y administración.</a:t>
            </a:r>
          </a:p>
          <a:p>
            <a:r>
              <a:rPr lang="es-ES" b="1" dirty="0"/>
              <a:t>☁️ Restricciones </a:t>
            </a:r>
            <a:r>
              <a:rPr lang="es-ES" b="1" dirty="0" err="1"/>
              <a:t>multicloud</a:t>
            </a:r>
            <a:br>
              <a:rPr lang="es-ES" dirty="0"/>
            </a:br>
            <a:r>
              <a:rPr lang="es-ES" dirty="0"/>
              <a:t>Si la empresa opera en distintas nubes (AWS, Azure, GCP), y hay restricciones que impiden compartir un único </a:t>
            </a:r>
            <a:r>
              <a:rPr lang="es-ES" dirty="0" err="1"/>
              <a:t>metastore</a:t>
            </a:r>
            <a:r>
              <a:rPr lang="es-ES" dirty="0"/>
              <a:t> entre nubes, se puede asignar uno por proveedor </a:t>
            </a:r>
            <a:r>
              <a:rPr lang="es-ES" dirty="0" err="1"/>
              <a:t>cloud</a:t>
            </a:r>
            <a:r>
              <a:rPr lang="es-ES" dirty="0"/>
              <a:t>.</a:t>
            </a:r>
          </a:p>
          <a:p>
            <a:r>
              <a:rPr lang="es-ES" b="1" dirty="0"/>
              <a:t>🧪 Entornos críticos de prueba o seguridad</a:t>
            </a:r>
            <a:br>
              <a:rPr lang="es-ES" dirty="0"/>
            </a:br>
            <a:r>
              <a:rPr lang="es-ES" dirty="0"/>
              <a:t>Para ciertos entornos de </a:t>
            </a:r>
            <a:r>
              <a:rPr lang="es-ES" dirty="0" err="1"/>
              <a:t>sandbox</a:t>
            </a:r>
            <a:r>
              <a:rPr lang="es-ES" dirty="0"/>
              <a:t>, pruebas sensibles o desarrollo aislado, puede tener sentido usar un </a:t>
            </a:r>
            <a:r>
              <a:rPr lang="es-ES" dirty="0" err="1"/>
              <a:t>metastore</a:t>
            </a:r>
            <a:r>
              <a:rPr lang="es-ES" dirty="0"/>
              <a:t> separado, aunque no es lo habitual.</a:t>
            </a:r>
          </a:p>
          <a:p>
            <a:r>
              <a:rPr lang="es-ES" dirty="0"/>
              <a:t>📌 </a:t>
            </a:r>
            <a:r>
              <a:rPr lang="es-ES" b="1" dirty="0"/>
              <a:t>Conclusión:</a:t>
            </a:r>
            <a:endParaRPr lang="es-ES" dirty="0"/>
          </a:p>
          <a:p>
            <a:r>
              <a:rPr lang="es-ES" dirty="0"/>
              <a:t>Usar múltiples </a:t>
            </a:r>
            <a:r>
              <a:rPr lang="es-ES" dirty="0" err="1"/>
              <a:t>metastores</a:t>
            </a:r>
            <a:r>
              <a:rPr lang="es-ES" dirty="0"/>
              <a:t> es posible, pero debe ser una </a:t>
            </a:r>
            <a:r>
              <a:rPr lang="es-ES" b="1" dirty="0"/>
              <a:t>decisión estratégica bien justificada</a:t>
            </a:r>
            <a:r>
              <a:rPr lang="es-ES" dirty="0"/>
              <a:t>. Siempre que se pueda, se recomienda mantener un </a:t>
            </a:r>
            <a:r>
              <a:rPr lang="es-ES" b="1" dirty="0"/>
              <a:t>modelo centralizado</a:t>
            </a:r>
            <a:r>
              <a:rPr lang="es-ES" dirty="0"/>
              <a:t> con un único </a:t>
            </a:r>
            <a:r>
              <a:rPr lang="es-ES" dirty="0" err="1"/>
              <a:t>metastore</a:t>
            </a:r>
            <a:r>
              <a:rPr lang="es-ES" dirty="0"/>
              <a:t> para simplificar la gobernanza.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7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🔹 </a:t>
            </a:r>
            <a:r>
              <a:rPr lang="es-ES" b="1" dirty="0" err="1"/>
              <a:t>Organization</a:t>
            </a:r>
            <a:r>
              <a:rPr lang="es-ES" b="1" dirty="0"/>
              <a:t> (Organización)</a:t>
            </a:r>
            <a:br>
              <a:rPr lang="es-ES" dirty="0"/>
            </a:br>
            <a:r>
              <a:rPr lang="es-ES" dirty="0"/>
              <a:t>Es la entidad global de </a:t>
            </a:r>
            <a:r>
              <a:rPr lang="es-ES" dirty="0" err="1"/>
              <a:t>Databricks</a:t>
            </a:r>
            <a:r>
              <a:rPr lang="es-ES" dirty="0"/>
              <a:t>. Agrupa todas tus cuentas y permite la administración centralizada. Representa a la empresa</a:t>
            </a:r>
          </a:p>
          <a:p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Account</a:t>
            </a:r>
            <a:r>
              <a:rPr lang="es-ES" b="1" dirty="0"/>
              <a:t> (Cuenta de </a:t>
            </a:r>
            <a:r>
              <a:rPr lang="es-ES" b="1" dirty="0" err="1"/>
              <a:t>Databricks</a:t>
            </a:r>
            <a:r>
              <a:rPr lang="es-ES" b="1" dirty="0"/>
              <a:t>)</a:t>
            </a:r>
            <a:br>
              <a:rPr lang="es-ES" dirty="0"/>
            </a:br>
            <a:r>
              <a:rPr lang="es-ES" dirty="0"/>
              <a:t>representación lógica que recoge: facturación, auditoría, </a:t>
            </a:r>
            <a:r>
              <a:rPr lang="es-ES" dirty="0" err="1"/>
              <a:t>conf</a:t>
            </a:r>
            <a:r>
              <a:rPr lang="es-ES" dirty="0"/>
              <a:t> a nivel corporativo</a:t>
            </a:r>
          </a:p>
          <a:p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Workspace</a:t>
            </a:r>
            <a:br>
              <a:rPr lang="es-ES" dirty="0"/>
            </a:br>
            <a:r>
              <a:rPr lang="es-ES" dirty="0"/>
              <a:t>Es el </a:t>
            </a:r>
            <a:r>
              <a:rPr lang="es-ES" b="1" dirty="0"/>
              <a:t>entorno donde realmente trabajan los usuarios</a:t>
            </a:r>
            <a:r>
              <a:rPr lang="es-ES" dirty="0"/>
              <a:t>: notebooks, </a:t>
            </a:r>
            <a:r>
              <a:rPr lang="es-ES" dirty="0" err="1"/>
              <a:t>clusters</a:t>
            </a:r>
            <a:r>
              <a:rPr lang="es-ES" dirty="0"/>
              <a:t>, </a:t>
            </a:r>
            <a:r>
              <a:rPr lang="es-ES" dirty="0" err="1"/>
              <a:t>dashboards</a:t>
            </a:r>
            <a:r>
              <a:rPr lang="es-ES" dirty="0"/>
              <a:t>, repos, </a:t>
            </a:r>
            <a:r>
              <a:rPr lang="es-ES" dirty="0" err="1"/>
              <a:t>jobs</a:t>
            </a:r>
            <a:r>
              <a:rPr lang="es-ES" dirty="0"/>
              <a:t>, tablas, etc.</a:t>
            </a:r>
          </a:p>
          <a:p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Cluster</a:t>
            </a:r>
            <a:br>
              <a:rPr lang="es-ES" dirty="0"/>
            </a:br>
            <a:r>
              <a:rPr lang="es-ES" dirty="0"/>
              <a:t>Es el conjunto de máquinas donde se ejecuta el trabajo distribuido de Spark (nodos driver + </a:t>
            </a:r>
            <a:r>
              <a:rPr lang="es-ES" dirty="0" err="1"/>
              <a:t>workers</a:t>
            </a:r>
            <a:r>
              <a:rPr lang="es-ES" dirty="0"/>
              <a:t>).</a:t>
            </a:r>
            <a:br>
              <a:rPr lang="es-ES" dirty="0"/>
            </a:br>
            <a:r>
              <a:rPr lang="es-ES" dirty="0"/>
              <a:t>Un </a:t>
            </a:r>
            <a:r>
              <a:rPr lang="es-ES" dirty="0" err="1"/>
              <a:t>Workspace</a:t>
            </a:r>
            <a:r>
              <a:rPr lang="es-ES" dirty="0"/>
              <a:t> puede lanzar múltiples </a:t>
            </a:r>
            <a:r>
              <a:rPr lang="es-ES" dirty="0" err="1"/>
              <a:t>clusters</a:t>
            </a:r>
            <a:r>
              <a:rPr lang="es-ES" dirty="0"/>
              <a:t>, cada uno configurado para distintos usos:</a:t>
            </a:r>
          </a:p>
          <a:p>
            <a:endParaRPr lang="es-ES" dirty="0"/>
          </a:p>
          <a:p>
            <a:r>
              <a:rPr lang="es-ES" b="1" dirty="0"/>
              <a:t>🔹 Jobs</a:t>
            </a:r>
            <a:br>
              <a:rPr lang="es-ES" dirty="0"/>
            </a:br>
            <a:r>
              <a:rPr lang="es-ES" dirty="0"/>
              <a:t>Son automatizaciones: ejecuciones programadas o bajo demanda de notebooks, scripts, pipelines o flujos multitarea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1CCDE-4723-4995-BE44-3BF9696042C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8838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ee5cc475b_0_40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5ee5cc475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ee5cc475b_0_54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5ee5cc475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8E091-E43C-F7CA-5E9E-DD20C4D7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9D6BA5-52ED-5D6D-2764-D39D180CB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B4E31-A1E3-5630-0E15-D5456850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272350-A523-ECB5-4F40-53A4C0391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006481-B905-FCA0-E1E2-91580B89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566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9C217-078D-C8DB-EF67-3E695D66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91B1C-3C48-4C2D-4703-0F251210D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5B66C6-FFA1-15C7-1176-7A9B1EAC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87B9E0-B37E-77F9-B759-2FDCEA12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E84334-C8E5-34FB-B366-BB71EE5D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63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67F77-012B-B367-60F9-32A546F4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27D0E0-6E41-52AD-9215-A651F552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66BDC9-BC15-A5A9-E6A2-B6D2DC78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C9B5C4-B612-F7BF-80E2-C9685DE6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7A2D4A-1339-CA75-0317-78563012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33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050E9-E96A-5B59-1F6C-6765FB0C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02451C-1009-D2B6-4863-FDCAB8813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4BB175-BB03-DA75-1DC6-F039B1F9C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754830-BC4E-B663-B29B-18E2F77E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56672F-9A2A-DA42-267F-2B17979B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AFE0A4-D58F-B7B6-B800-F77F571D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731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B2DE5-2333-1759-E791-438A593EC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FD5603-DADD-6C55-1D50-6381DB04F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7C031D-30E5-10D8-3498-9060C0F56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A08613-49FF-324C-2DF5-3AD4F4156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34C84B-D135-1CA2-9C9B-80BA24545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BA3F350-9634-0CBE-E28B-F9AE2044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E752CD-AC5D-77AD-5236-E17A05F5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45B470-4DB7-C1B0-8FE5-936456D2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55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BD265-76D5-2CEA-0E3C-78C92D73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509088-E4C4-5251-CD2C-BD1F5D83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D4F82B-5080-5143-DCEB-16173447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C85115-0E4B-3AB8-6FDE-1C661767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305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4F96F-6712-BAE8-462F-D04E8E8B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B09FDF-195D-FED2-9F47-94BCAF07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CEB949-6C79-02F8-D61A-5E5CACB6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67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CF6E8-E529-DC28-C906-A365AEB2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8C7F5C-79D1-FF1E-49D8-E5AD76555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01EB8-B0C1-D217-8C8B-D3164242F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E46647-8BFE-61F8-B6A9-94E5A1BF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58348B-031D-E70A-5F70-C026F991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42BE20-B066-2ED9-AE6E-F5547AEF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403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51B83-BFD2-D388-5E2D-D7D6DA1F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3E77C4-8A09-C55F-59F1-20220D051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0F6D75-37A0-2476-A0CE-50EB0B24F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B17BCE-604C-FD49-7798-FDEEBD29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942784-0712-BE51-62D0-C15F1E12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12BC6A-46D9-7FE2-2D97-F71DEC03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878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D4453-A95F-239B-5DF3-B605E2C8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66EFD1-328E-300B-B0E2-44514BF35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E0AB2-C3C4-FF08-BEE2-8CAA4427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DD342-D477-7453-519A-1765A213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9D8B94-C9EB-7DC4-6F2C-15253426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99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47428B-F8E5-420B-5F12-E77BF4B51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FB9EB6-9FE0-8669-B21D-15FDE6E5B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7EF534-B94D-61C1-C6D1-3CCE443A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0FA0C-2197-F2DB-035F-EA6D57C4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0505EA-2281-7376-7EBF-C7D9FDE4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779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313E622-8B38-8BEA-5FCC-B718B5BA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7FB6E4-AB5E-FE1B-AC88-936668C6F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2242DE-81D5-B303-1311-42CA4F47F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D64EB-E19D-4BED-B428-FA061CDD0C0E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62C761-63D9-5AF4-AE3E-21F663948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3A9FA2-0DFD-6243-1283-257C28E86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46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DA37F68-4E6A-5F9E-6C93-88A502DF2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876" y="877763"/>
            <a:ext cx="5194249" cy="34406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CBC6816-9B5E-4C9D-5356-A574E00D2C66}"/>
              </a:ext>
            </a:extLst>
          </p:cNvPr>
          <p:cNvSpPr txBox="1"/>
          <p:nvPr/>
        </p:nvSpPr>
        <p:spPr>
          <a:xfrm>
            <a:off x="3498875" y="5756114"/>
            <a:ext cx="519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Montserrat" panose="00000500000000000000" pitchFamily="2" charset="0"/>
              </a:rPr>
              <a:t>Curso </a:t>
            </a:r>
            <a:r>
              <a:rPr lang="es-ES" dirty="0" err="1">
                <a:latin typeface="Montserrat" panose="00000500000000000000" pitchFamily="2" charset="0"/>
              </a:rPr>
              <a:t>Databricks</a:t>
            </a:r>
            <a:r>
              <a:rPr lang="es-ES" dirty="0">
                <a:latin typeface="Montserrat" panose="00000500000000000000" pitchFamily="2" charset="0"/>
              </a:rPr>
              <a:t> de Inicio a Avanzado 360º</a:t>
            </a:r>
          </a:p>
        </p:txBody>
      </p:sp>
    </p:spTree>
    <p:extLst>
      <p:ext uri="{BB962C8B-B14F-4D97-AF65-F5344CB8AC3E}">
        <p14:creationId xmlns:p14="http://schemas.microsoft.com/office/powerpoint/2010/main" val="189448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6F5230-4B0B-9C0B-CABB-8A3431A6A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1447800"/>
            <a:ext cx="4381500" cy="4114800"/>
          </a:xfrm>
        </p:spPr>
        <p:txBody>
          <a:bodyPr>
            <a:normAutofit fontScale="62500" lnSpcReduction="20000"/>
          </a:bodyPr>
          <a:lstStyle/>
          <a:p>
            <a:pPr marL="457200" indent="-457200" algn="l">
              <a:buAutoNum type="arabicPeriod"/>
            </a:pPr>
            <a:r>
              <a:rPr lang="es-ES" sz="2000" dirty="0" err="1">
                <a:latin typeface="Montserrat SemiBold" panose="00000700000000000000" pitchFamily="2" charset="0"/>
              </a:rPr>
              <a:t>Databricks</a:t>
            </a:r>
            <a:endParaRPr lang="es-ES" sz="2000" dirty="0">
              <a:latin typeface="Montserrat SemiBold" panose="00000700000000000000" pitchFamily="2" charset="0"/>
            </a:endParaRP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Claves de la Plataforma</a:t>
            </a:r>
          </a:p>
          <a:p>
            <a:pPr marL="914400" lvl="1" indent="-457200" algn="l">
              <a:buAutoNum type="arabicPeriod"/>
            </a:pPr>
            <a:r>
              <a:rPr lang="es-ES" sz="1800" dirty="0" err="1">
                <a:latin typeface="Montserrat" panose="00000500000000000000" pitchFamily="2" charset="0"/>
              </a:rPr>
              <a:t>Databricks</a:t>
            </a:r>
            <a:r>
              <a:rPr lang="es-ES" sz="1800" dirty="0">
                <a:latin typeface="Montserrat" panose="00000500000000000000" pitchFamily="2" charset="0"/>
              </a:rPr>
              <a:t> como Data </a:t>
            </a:r>
            <a:r>
              <a:rPr lang="es-ES" sz="1800" dirty="0" err="1">
                <a:latin typeface="Montserrat" panose="00000500000000000000" pitchFamily="2" charset="0"/>
              </a:rPr>
              <a:t>Lakehouse</a:t>
            </a:r>
            <a:endParaRPr lang="es-ES" sz="1800" dirty="0">
              <a:latin typeface="Montserrat" panose="00000500000000000000" pitchFamily="2" charset="0"/>
            </a:endParaRP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Ecosistema de Datos</a:t>
            </a:r>
            <a:br>
              <a:rPr lang="es-ES" sz="1800" dirty="0">
                <a:latin typeface="Montserrat" panose="00000500000000000000" pitchFamily="2" charset="0"/>
              </a:rPr>
            </a:br>
            <a:endParaRPr lang="es-ES" sz="1800" dirty="0">
              <a:latin typeface="Montserrat" panose="00000500000000000000" pitchFamily="2" charset="0"/>
            </a:endParaRPr>
          </a:p>
          <a:p>
            <a:pPr marL="457200" indent="-457200" algn="l">
              <a:buAutoNum type="arabicPeriod"/>
            </a:pPr>
            <a:r>
              <a:rPr lang="es-ES" sz="2000" dirty="0" err="1">
                <a:latin typeface="Montserrat SemiBold" panose="00000700000000000000" pitchFamily="2" charset="0"/>
              </a:rPr>
              <a:t>Clusters</a:t>
            </a:r>
            <a:endParaRPr lang="es-ES" sz="2000" dirty="0">
              <a:latin typeface="Montserrat SemiBold" panose="00000700000000000000" pitchFamily="2" charset="0"/>
            </a:endParaRP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¿Qué es?</a:t>
            </a: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Modos de Acceso</a:t>
            </a: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Tipos de </a:t>
            </a:r>
            <a:r>
              <a:rPr lang="es-ES" sz="1800" dirty="0" err="1">
                <a:latin typeface="Montserrat" panose="00000500000000000000" pitchFamily="2" charset="0"/>
              </a:rPr>
              <a:t>Clusters</a:t>
            </a:r>
            <a:br>
              <a:rPr lang="es-ES" sz="1800" dirty="0">
                <a:latin typeface="Montserrat" panose="00000500000000000000" pitchFamily="2" charset="0"/>
              </a:rPr>
            </a:br>
            <a:endParaRPr lang="es-ES" sz="1800" dirty="0">
              <a:latin typeface="Montserrat" panose="00000500000000000000" pitchFamily="2" charset="0"/>
            </a:endParaRPr>
          </a:p>
          <a:p>
            <a:pPr marL="457200" indent="-457200" algn="l">
              <a:buAutoNum type="arabicPeriod"/>
            </a:pPr>
            <a:r>
              <a:rPr lang="es-ES" sz="2000" dirty="0">
                <a:latin typeface="Montserrat SemiBold" panose="00000700000000000000" pitchFamily="2" charset="0"/>
              </a:rPr>
              <a:t>Arquitectura </a:t>
            </a:r>
            <a:r>
              <a:rPr lang="es-ES" sz="2000" dirty="0" err="1">
                <a:latin typeface="Montserrat SemiBold" panose="00000700000000000000" pitchFamily="2" charset="0"/>
              </a:rPr>
              <a:t>Databricks</a:t>
            </a:r>
            <a:endParaRPr lang="es-ES" sz="2000" dirty="0">
              <a:latin typeface="Montserrat SemiBold" panose="00000700000000000000" pitchFamily="2" charset="0"/>
            </a:endParaRP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Objetos en Unity </a:t>
            </a:r>
            <a:r>
              <a:rPr lang="es-ES" sz="1800" dirty="0" err="1">
                <a:latin typeface="Montserrat" panose="00000500000000000000" pitchFamily="2" charset="0"/>
              </a:rPr>
              <a:t>Catalog</a:t>
            </a:r>
            <a:endParaRPr lang="es-ES" sz="1800" dirty="0">
              <a:latin typeface="Montserrat" panose="00000500000000000000" pitchFamily="2" charset="0"/>
            </a:endParaRP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Nivel Organizativo en </a:t>
            </a:r>
            <a:r>
              <a:rPr lang="es-ES" sz="1800" dirty="0" err="1">
                <a:latin typeface="Montserrat" panose="00000500000000000000" pitchFamily="2" charset="0"/>
              </a:rPr>
              <a:t>Databricks</a:t>
            </a:r>
            <a:endParaRPr lang="es-ES" sz="1800" dirty="0">
              <a:latin typeface="Montserrat" panose="00000500000000000000" pitchFamily="2" charset="0"/>
            </a:endParaRPr>
          </a:p>
          <a:p>
            <a:pPr marL="914400" lvl="1" indent="-457200" algn="l">
              <a:buAutoNum type="arabicPeriod"/>
            </a:pPr>
            <a:endParaRPr lang="es-ES" sz="1800" dirty="0">
              <a:latin typeface="Montserrat" panose="00000500000000000000" pitchFamily="2" charset="0"/>
            </a:endParaRPr>
          </a:p>
          <a:p>
            <a:pPr marL="457200" indent="-457200" algn="l">
              <a:buAutoNum type="arabicPeriod"/>
            </a:pPr>
            <a:r>
              <a:rPr lang="es-ES" sz="2100" dirty="0">
                <a:latin typeface="Montserrat SemiBold" panose="00000700000000000000" pitchFamily="2" charset="0"/>
              </a:rPr>
              <a:t>Preparar Cuenta Free</a:t>
            </a:r>
            <a:br>
              <a:rPr lang="es-ES" sz="2200" dirty="0">
                <a:latin typeface="Montserrat" panose="00000500000000000000" pitchFamily="2" charset="0"/>
              </a:rPr>
            </a:br>
            <a:endParaRPr lang="es-ES" sz="2200" dirty="0">
              <a:latin typeface="Montserrat" panose="00000500000000000000" pitchFamily="2" charset="0"/>
            </a:endParaRPr>
          </a:p>
          <a:p>
            <a:pPr marL="457200" indent="-457200" algn="l">
              <a:buAutoNum type="arabicPeriod"/>
            </a:pPr>
            <a:r>
              <a:rPr lang="es-ES" sz="2100" dirty="0">
                <a:latin typeface="Montserrat SemiBold" panose="00000700000000000000" pitchFamily="2" charset="0"/>
              </a:rPr>
              <a:t>DEMO</a:t>
            </a:r>
          </a:p>
          <a:p>
            <a:pPr marL="914400" lvl="1" indent="-457200" algn="l">
              <a:buAutoNum type="arabicPeriod"/>
            </a:pPr>
            <a:r>
              <a:rPr lang="es-ES" sz="1800" dirty="0" err="1">
                <a:latin typeface="Montserrat" panose="00000500000000000000" pitchFamily="2" charset="0"/>
              </a:rPr>
              <a:t>Creacion</a:t>
            </a:r>
            <a:r>
              <a:rPr lang="es-ES" sz="1800" dirty="0">
                <a:latin typeface="Montserrat" panose="00000500000000000000" pitchFamily="2" charset="0"/>
              </a:rPr>
              <a:t> de </a:t>
            </a:r>
            <a:r>
              <a:rPr lang="es-ES" sz="1800" dirty="0" err="1">
                <a:latin typeface="Montserrat" panose="00000500000000000000" pitchFamily="2" charset="0"/>
              </a:rPr>
              <a:t>DFs</a:t>
            </a:r>
            <a:r>
              <a:rPr lang="es-ES" sz="1800" dirty="0">
                <a:latin typeface="Montserrat" panose="00000500000000000000" pitchFamily="2" charset="0"/>
              </a:rPr>
              <a:t> y Tablas</a:t>
            </a:r>
          </a:p>
          <a:p>
            <a:pPr marL="914400" lvl="1" indent="-457200" algn="l">
              <a:buAutoNum type="arabicPeriod"/>
            </a:pPr>
            <a:r>
              <a:rPr lang="es-ES" sz="1800" dirty="0">
                <a:latin typeface="Montserrat" panose="00000500000000000000" pitchFamily="2" charset="0"/>
              </a:rPr>
              <a:t>Exploración de datos con Spark</a:t>
            </a:r>
          </a:p>
          <a:p>
            <a:pPr marL="914400" lvl="1" indent="-457200" algn="l">
              <a:buAutoNum type="arabicPeriod"/>
            </a:pPr>
            <a:r>
              <a:rPr lang="es-ES" sz="1800" dirty="0" err="1">
                <a:latin typeface="Montserrat" panose="00000500000000000000" pitchFamily="2" charset="0"/>
              </a:rPr>
              <a:t>Dbutils</a:t>
            </a:r>
            <a:endParaRPr lang="es-ES" sz="1800" dirty="0">
              <a:latin typeface="Montserrat" panose="00000500000000000000" pitchFamily="2" charset="0"/>
            </a:endParaRPr>
          </a:p>
          <a:p>
            <a:pPr marL="914400" lvl="1" indent="-457200" algn="l">
              <a:buAutoNum type="arabicPeriod"/>
            </a:pPr>
            <a:r>
              <a:rPr lang="es-ES" sz="1800" dirty="0" err="1">
                <a:latin typeface="Montserrat" panose="00000500000000000000" pitchFamily="2" charset="0"/>
              </a:rPr>
              <a:t>Dashboards</a:t>
            </a:r>
            <a:r>
              <a:rPr lang="es-ES" sz="1800" dirty="0">
                <a:latin typeface="Montserrat" panose="00000500000000000000" pitchFamily="2" charset="0"/>
              </a:rPr>
              <a:t> </a:t>
            </a:r>
            <a:r>
              <a:rPr lang="es-ES" sz="1800" dirty="0" err="1">
                <a:latin typeface="Montserrat" panose="00000500000000000000" pitchFamily="2" charset="0"/>
              </a:rPr>
              <a:t>Intro</a:t>
            </a:r>
            <a:endParaRPr lang="es-ES" sz="1800" dirty="0">
              <a:latin typeface="Montserrat" panose="00000500000000000000" pitchFamily="2" charset="0"/>
            </a:endParaRPr>
          </a:p>
          <a:p>
            <a:pPr marL="914400" lvl="1" indent="-457200" algn="l">
              <a:buAutoNum type="arabicPeriod"/>
            </a:pPr>
            <a:endParaRPr lang="es-ES" sz="1800" dirty="0">
              <a:latin typeface="Montserrat" panose="00000500000000000000" pitchFamily="2" charset="0"/>
            </a:endParaRPr>
          </a:p>
          <a:p>
            <a:pPr marL="914400" lvl="1" indent="-457200" algn="l">
              <a:buAutoNum type="arabicPeriod"/>
            </a:pPr>
            <a:endParaRPr lang="es-ES" dirty="0"/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DEE43F38-44DE-69FC-EBE7-56C790218A09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Indice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de la Sesión</a:t>
            </a:r>
          </a:p>
        </p:txBody>
      </p:sp>
    </p:spTree>
    <p:extLst>
      <p:ext uri="{BB962C8B-B14F-4D97-AF65-F5344CB8AC3E}">
        <p14:creationId xmlns:p14="http://schemas.microsoft.com/office/powerpoint/2010/main" val="102968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4007768" y="2537902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DATABRICKS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35ee5cc475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723" y="1850986"/>
            <a:ext cx="2053809" cy="1081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5ee5cc475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845" y="1778719"/>
            <a:ext cx="1951206" cy="123218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5ee5cc475b_0_15"/>
          <p:cNvSpPr txBox="1"/>
          <p:nvPr/>
        </p:nvSpPr>
        <p:spPr>
          <a:xfrm>
            <a:off x="1505543" y="3215424"/>
            <a:ext cx="1872171" cy="1554548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67866">
              <a:buClr>
                <a:srgbClr val="323F4F"/>
              </a:buClr>
              <a:buSzPts val="1100"/>
            </a:pPr>
            <a:endParaRPr sz="135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5ee5cc475b_0_15"/>
          <p:cNvSpPr txBox="1"/>
          <p:nvPr/>
        </p:nvSpPr>
        <p:spPr>
          <a:xfrm>
            <a:off x="5016948" y="3215424"/>
            <a:ext cx="1875000" cy="1554548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77391">
              <a:buClr>
                <a:srgbClr val="323F4F"/>
              </a:buClr>
              <a:buSzPts val="900"/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5ee5cc475b_0_15"/>
          <p:cNvSpPr txBox="1"/>
          <p:nvPr/>
        </p:nvSpPr>
        <p:spPr>
          <a:xfrm>
            <a:off x="8531055" y="3215424"/>
            <a:ext cx="1875001" cy="1554548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77391">
              <a:buClr>
                <a:srgbClr val="323F4F"/>
              </a:buClr>
              <a:buSzPts val="900"/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3CCC971E-482A-2A1B-0FE0-BB62991CD4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864" y="1778719"/>
            <a:ext cx="2380507" cy="1339886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FDAEFE47-ECCB-ABAF-0249-FEEC56B7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7807" y="3250458"/>
            <a:ext cx="1761499" cy="149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830" dirty="0"/>
              <a:t>Sistema centralizado para gestionar </a:t>
            </a:r>
            <a:r>
              <a:rPr lang="es-ES" altLang="es-ES" sz="830" b="1" dirty="0"/>
              <a:t>seguridad, permisos, catalogación y </a:t>
            </a:r>
            <a:r>
              <a:rPr lang="es-ES" altLang="es-ES" sz="830" b="1" dirty="0" err="1"/>
              <a:t>lineage</a:t>
            </a:r>
            <a:r>
              <a:rPr lang="es-ES" altLang="es-ES" sz="830" b="1" dirty="0"/>
              <a:t> de datos</a:t>
            </a:r>
            <a:r>
              <a:rPr lang="es-ES" altLang="es-ES" sz="830" dirty="0"/>
              <a:t> entre diferentes </a:t>
            </a:r>
            <a:r>
              <a:rPr lang="es-ES" altLang="es-ES" sz="830" dirty="0" err="1"/>
              <a:t>Workspaces</a:t>
            </a:r>
            <a:r>
              <a:rPr lang="es-ES" altLang="es-ES" sz="830" dirty="0"/>
              <a:t>.</a:t>
            </a:r>
            <a:br>
              <a:rPr lang="es-ES" altLang="es-ES" sz="830" dirty="0"/>
            </a:br>
            <a:endParaRPr lang="es-ES" altLang="es-ES" sz="830" dirty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830" dirty="0"/>
              <a:t>Permite gobernanza unificada con </a:t>
            </a:r>
            <a:r>
              <a:rPr lang="es-ES" altLang="es-ES" sz="830" b="1" dirty="0"/>
              <a:t>control de acceso a nivel de catálogo, esquema, tabla y columna (incluida datos sensibles/PII)</a:t>
            </a:r>
            <a:r>
              <a:rPr lang="es-ES" altLang="es-ES" sz="830" dirty="0"/>
              <a:t>.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88A26E5-B339-0582-E61D-2A5F2166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699" y="3341305"/>
            <a:ext cx="1761499" cy="124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830" dirty="0"/>
              <a:t>Formato de almacenamiento que añade </a:t>
            </a:r>
            <a:r>
              <a:rPr lang="es-ES" altLang="es-ES" sz="830" b="1" dirty="0"/>
              <a:t>ACID, versionado, y esquema evolutivo</a:t>
            </a:r>
            <a:r>
              <a:rPr lang="es-ES" altLang="es-ES" sz="830" dirty="0"/>
              <a:t> sobre archivos </a:t>
            </a:r>
            <a:r>
              <a:rPr lang="es-ES" altLang="es-ES" sz="830" dirty="0" err="1"/>
              <a:t>Parquet</a:t>
            </a:r>
            <a:r>
              <a:rPr lang="es-ES" altLang="es-ES" sz="830" dirty="0"/>
              <a:t>.</a:t>
            </a:r>
            <a:br>
              <a:rPr lang="es-ES" altLang="es-ES" sz="830" dirty="0"/>
            </a:br>
            <a:endParaRPr lang="es-ES" altLang="es-ES" sz="830" dirty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830" dirty="0"/>
              <a:t>Permite </a:t>
            </a:r>
            <a:r>
              <a:rPr lang="es-ES" altLang="es-ES" sz="830" b="1" dirty="0"/>
              <a:t>time </a:t>
            </a:r>
            <a:r>
              <a:rPr lang="es-ES" altLang="es-ES" sz="830" b="1" dirty="0" err="1"/>
              <a:t>travel</a:t>
            </a:r>
            <a:r>
              <a:rPr lang="es-ES" altLang="es-ES" sz="830" b="1" dirty="0"/>
              <a:t>, </a:t>
            </a:r>
            <a:r>
              <a:rPr lang="es-ES" altLang="es-ES" sz="830" b="1" dirty="0" err="1"/>
              <a:t>upserts</a:t>
            </a:r>
            <a:r>
              <a:rPr lang="es-ES" altLang="es-ES" sz="830" b="1" dirty="0"/>
              <a:t>, </a:t>
            </a:r>
            <a:r>
              <a:rPr lang="es-ES" altLang="es-ES" sz="830" b="1" dirty="0" err="1"/>
              <a:t>merges</a:t>
            </a:r>
            <a:r>
              <a:rPr lang="es-ES" altLang="es-ES" sz="830" b="1" dirty="0"/>
              <a:t> optimizados y data </a:t>
            </a:r>
            <a:r>
              <a:rPr lang="es-ES" altLang="es-ES" sz="830" b="1" dirty="0" err="1"/>
              <a:t>quality</a:t>
            </a:r>
            <a:r>
              <a:rPr lang="es-ES" altLang="es-ES" sz="830" b="1" dirty="0"/>
              <a:t> </a:t>
            </a:r>
            <a:r>
              <a:rPr lang="es-ES" altLang="es-ES" sz="830" b="1" dirty="0" err="1"/>
              <a:t>checks</a:t>
            </a:r>
            <a:r>
              <a:rPr lang="es-ES" altLang="es-ES" sz="830" dirty="0"/>
              <a:t>, ideal para pipelines </a:t>
            </a:r>
            <a:r>
              <a:rPr lang="es-ES" altLang="es-ES" sz="830" dirty="0" err="1"/>
              <a:t>medallion</a:t>
            </a:r>
            <a:r>
              <a:rPr lang="es-ES" altLang="es-ES" sz="830" dirty="0"/>
              <a:t>.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D012FB16-5A69-BC0D-42DD-4CE7C0C66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641" y="3277441"/>
            <a:ext cx="1701974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830" dirty="0"/>
              <a:t>Motor distribuido de procesamiento que permite </a:t>
            </a:r>
            <a:r>
              <a:rPr lang="es-ES" altLang="es-ES" sz="830" b="1" dirty="0"/>
              <a:t>trabajar en paralelo sobre grandes volúmenes de datos</a:t>
            </a:r>
            <a:r>
              <a:rPr lang="es-ES" altLang="es-ES" sz="830" dirty="0"/>
              <a:t>, tanto </a:t>
            </a:r>
            <a:r>
              <a:rPr lang="es-ES" altLang="es-ES" sz="830" dirty="0" err="1"/>
              <a:t>batch</a:t>
            </a:r>
            <a:r>
              <a:rPr lang="es-ES" altLang="es-ES" sz="830" dirty="0"/>
              <a:t> como </a:t>
            </a:r>
            <a:r>
              <a:rPr lang="es-ES" altLang="es-ES" sz="830" dirty="0" err="1"/>
              <a:t>streaming</a:t>
            </a:r>
            <a:r>
              <a:rPr lang="es-ES" altLang="es-ES" sz="830" dirty="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ES" altLang="es-ES" sz="830" dirty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altLang="es-ES" sz="830" dirty="0"/>
              <a:t>Organiza el trabajo con </a:t>
            </a:r>
            <a:r>
              <a:rPr lang="es-ES" altLang="es-ES" sz="830" b="1" dirty="0"/>
              <a:t>Driver, </a:t>
            </a:r>
            <a:r>
              <a:rPr lang="es-ES" altLang="es-ES" sz="830" b="1" dirty="0" err="1"/>
              <a:t>Workers</a:t>
            </a:r>
            <a:r>
              <a:rPr lang="es-ES" altLang="es-ES" sz="830" b="1" dirty="0"/>
              <a:t>, </a:t>
            </a:r>
            <a:r>
              <a:rPr lang="es-ES" altLang="es-ES" sz="830" b="1" dirty="0" err="1"/>
              <a:t>Executors</a:t>
            </a:r>
            <a:r>
              <a:rPr lang="es-ES" altLang="es-ES" sz="830" b="1" dirty="0"/>
              <a:t> y </a:t>
            </a:r>
            <a:r>
              <a:rPr lang="es-ES" altLang="es-ES" sz="830" b="1" dirty="0" err="1"/>
              <a:t>DAGs</a:t>
            </a:r>
            <a:r>
              <a:rPr lang="es-ES" altLang="es-ES" sz="830" dirty="0"/>
              <a:t>,</a:t>
            </a:r>
          </a:p>
        </p:txBody>
      </p:sp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CD14A417-D0C5-7863-751E-3E55FA285763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>
                <a:latin typeface="Montserrat" panose="00000500000000000000" pitchFamily="2" charset="0"/>
                <a:cs typeface="Mongolian Baiti" panose="03000500000000000000" pitchFamily="66" charset="0"/>
              </a:rPr>
              <a:t>Databricks </a:t>
            </a:r>
            <a:r>
              <a:rPr lang="es-ES" sz="2400" b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Fundamentales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96C7AE9-1E5E-AF5B-4E3D-49987590B17E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3614686C-A484-F470-1C0D-8C9B484D28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ee5cc475b_0_63"/>
          <p:cNvSpPr txBox="1"/>
          <p:nvPr/>
        </p:nvSpPr>
        <p:spPr>
          <a:xfrm>
            <a:off x="2653500" y="4835775"/>
            <a:ext cx="6885000" cy="8115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Lakehouse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la </a:t>
            </a:r>
            <a:r>
              <a:rPr lang="es-ES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natural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que:</a:t>
            </a:r>
            <a:b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Une lo </a:t>
            </a:r>
            <a:r>
              <a:rPr lang="es-ES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</a:t>
            </a:r>
            <a:r>
              <a:rPr lang="es-ES" sz="1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(gobierno, fiabilidad, rendimiento)</a:t>
            </a:r>
            <a:b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 lo </a:t>
            </a:r>
            <a:r>
              <a:rPr lang="es-ES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Lake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(flexibilidad, diversidad, escalabilidad)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</a:pPr>
            <a:endParaRPr sz="110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5ee5cc475b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438" y="1217626"/>
            <a:ext cx="7193124" cy="301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8;g35ee5cc475b_0_40">
            <a:extLst>
              <a:ext uri="{FF2B5EF4-FFF2-40B4-BE49-F238E27FC236}">
                <a16:creationId xmlns:a16="http://schemas.microsoft.com/office/drawing/2014/main" id="{705E88E7-B596-8AA5-7EF7-F2FE88D46F7B}"/>
              </a:ext>
            </a:extLst>
          </p:cNvPr>
          <p:cNvSpPr txBox="1"/>
          <p:nvPr/>
        </p:nvSpPr>
        <p:spPr>
          <a:xfrm>
            <a:off x="127200" y="1217626"/>
            <a:ext cx="2025450" cy="3157524"/>
          </a:xfrm>
          <a:prstGeom prst="rect">
            <a:avLst/>
          </a:prstGeom>
          <a:solidFill>
            <a:srgbClr val="156082">
              <a:alpha val="3922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br>
              <a:rPr lang="es-ES" sz="11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1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1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s-ES" sz="11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sz="1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Pros: </a:t>
            </a:r>
            <a:b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Estructura clara y gobernabilidad</a:t>
            </a:r>
            <a:b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Ideal para </a:t>
            </a:r>
            <a:r>
              <a:rPr lang="es-ES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BI y SQL tradicional</a:t>
            </a:r>
            <a:br>
              <a:rPr lang="es-ES" sz="1000" b="1" dirty="0">
                <a:solidFill>
                  <a:schemeClr val="bg1">
                    <a:lumMod val="50000"/>
                  </a:schemeClr>
                </a:solidFill>
              </a:rPr>
            </a:br>
            <a:endParaRPr sz="100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00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Difícil manejar datos </a:t>
            </a:r>
            <a:r>
              <a:rPr lang="es-ES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 estructurados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(audio, video, texto)</a:t>
            </a:r>
            <a:b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No está pensado para </a:t>
            </a:r>
            <a:r>
              <a:rPr lang="es-ES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Machine </a:t>
            </a:r>
            <a:r>
              <a:rPr lang="es-ES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ni </a:t>
            </a:r>
            <a:r>
              <a:rPr lang="es-ES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ciencia de datos</a:t>
            </a:r>
            <a:br>
              <a:rPr lang="es-ES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3. Poco flexible ante grandes volúmenes o variedad de datos</a:t>
            </a:r>
            <a:endParaRPr sz="110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94;g35ee5cc475b_0_54">
            <a:extLst>
              <a:ext uri="{FF2B5EF4-FFF2-40B4-BE49-F238E27FC236}">
                <a16:creationId xmlns:a16="http://schemas.microsoft.com/office/drawing/2014/main" id="{650D6D0B-7E68-F152-586A-0E30244EC659}"/>
              </a:ext>
            </a:extLst>
          </p:cNvPr>
          <p:cNvSpPr txBox="1"/>
          <p:nvPr/>
        </p:nvSpPr>
        <p:spPr>
          <a:xfrm>
            <a:off x="10039350" y="1217626"/>
            <a:ext cx="2025450" cy="3157524"/>
          </a:xfrm>
          <a:prstGeom prst="rect">
            <a:avLst/>
          </a:prstGeom>
          <a:solidFill>
            <a:srgbClr val="156082">
              <a:alpha val="3922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>
              <a:defRPr lang="es-ES"/>
            </a:defPPr>
            <a:lvl1pPr algn="ctr">
              <a:defRPr sz="1100" b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br>
              <a:rPr lang="es-ES" dirty="0">
                <a:sym typeface="Calibri"/>
              </a:rPr>
            </a:br>
            <a:br>
              <a:rPr lang="es-ES" dirty="0">
                <a:sym typeface="Calibri"/>
              </a:rPr>
            </a:br>
            <a:r>
              <a:rPr lang="es-ES" dirty="0">
                <a:sym typeface="Calibri"/>
              </a:rPr>
              <a:t>Data Lake</a:t>
            </a:r>
            <a:endParaRPr dirty="0">
              <a:sym typeface="Calibri"/>
            </a:endParaRPr>
          </a:p>
          <a:p>
            <a:pPr algn="l"/>
            <a:r>
              <a:rPr lang="es-ES" sz="1000" b="0" dirty="0">
                <a:sym typeface="Calibri"/>
              </a:rPr>
              <a:t>Pros:</a:t>
            </a:r>
            <a:br>
              <a:rPr lang="es-ES" sz="1000" b="0" dirty="0">
                <a:sym typeface="Calibri"/>
              </a:rPr>
            </a:br>
            <a:r>
              <a:rPr lang="es-ES" sz="1000" b="0" dirty="0">
                <a:sym typeface="Calibri"/>
              </a:rPr>
              <a:t>1. Escalable y económico (almacenamiento en bruto)</a:t>
            </a:r>
            <a:br>
              <a:rPr lang="es-ES" sz="1000" b="0" dirty="0">
                <a:sym typeface="Calibri"/>
              </a:rPr>
            </a:br>
            <a:r>
              <a:rPr lang="es-ES" sz="1000" b="0" dirty="0">
                <a:sym typeface="Calibri"/>
              </a:rPr>
              <a:t>2. Acepta cualquier tipo de datos (estructurados o no)</a:t>
            </a:r>
            <a:br>
              <a:rPr lang="es-ES" sz="1000" b="0" dirty="0">
                <a:sym typeface="Calibri"/>
              </a:rPr>
            </a:br>
            <a:br>
              <a:rPr lang="es-ES" sz="1000" b="0" dirty="0">
                <a:sym typeface="Calibri"/>
              </a:rPr>
            </a:br>
            <a:r>
              <a:rPr lang="es-ES" sz="1000" b="0" dirty="0" err="1">
                <a:sym typeface="Calibri"/>
              </a:rPr>
              <a:t>Cons</a:t>
            </a:r>
            <a:r>
              <a:rPr lang="es-ES" sz="1000" b="0" dirty="0">
                <a:sym typeface="Calibri"/>
              </a:rPr>
              <a:t>:</a:t>
            </a:r>
            <a:br>
              <a:rPr lang="es-ES" sz="1000" b="0" dirty="0">
                <a:sym typeface="Calibri"/>
              </a:rPr>
            </a:br>
            <a:r>
              <a:rPr lang="es-ES" sz="1000" b="0" dirty="0">
                <a:sym typeface="Calibri"/>
              </a:rPr>
              <a:t>1. Sin control de calidad → puede volverse una "ciénaga de datos"</a:t>
            </a:r>
            <a:br>
              <a:rPr lang="es-ES" sz="1000" b="0" dirty="0">
                <a:sym typeface="Calibri"/>
              </a:rPr>
            </a:br>
            <a:r>
              <a:rPr lang="es-ES" sz="1000" b="0" dirty="0">
                <a:sym typeface="Calibri"/>
              </a:rPr>
              <a:t>2. Bajo rendimiento para consultas</a:t>
            </a:r>
            <a:br>
              <a:rPr lang="es-ES" sz="1000" b="0" dirty="0">
                <a:sym typeface="Calibri"/>
              </a:rPr>
            </a:br>
            <a:r>
              <a:rPr lang="es-ES" sz="1000" b="0" dirty="0">
                <a:sym typeface="Calibri"/>
              </a:rPr>
              <a:t>3. Mala integración con herramientas BI</a:t>
            </a:r>
            <a:br>
              <a:rPr lang="es-ES" sz="1000" b="0" dirty="0">
                <a:sym typeface="Calibri"/>
              </a:rPr>
            </a:br>
            <a:r>
              <a:rPr lang="es-ES" sz="1000" b="0" dirty="0">
                <a:sym typeface="Calibri"/>
              </a:rPr>
              <a:t>4. No garantiza integridad ni transacciones</a:t>
            </a:r>
            <a:endParaRPr sz="1000" b="0" dirty="0">
              <a:sym typeface="Calibri"/>
            </a:endParaRPr>
          </a:p>
          <a:p>
            <a:endParaRPr dirty="0">
              <a:sym typeface="Calibri"/>
            </a:endParaRPr>
          </a:p>
          <a:p>
            <a:endParaRPr dirty="0">
              <a:sym typeface="Calibri"/>
            </a:endParaRPr>
          </a:p>
        </p:txBody>
      </p:sp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C9581D65-1176-4E49-E4B1-8860507A0273}"/>
              </a:ext>
            </a:extLst>
          </p:cNvPr>
          <p:cNvSpPr txBox="1">
            <a:spLocks/>
          </p:cNvSpPr>
          <p:nvPr/>
        </p:nvSpPr>
        <p:spPr>
          <a:xfrm>
            <a:off x="350164" y="194087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Lakehouse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44308A-F6DD-1BAC-9CAA-8D80B1C15E3E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4023343-5504-9239-343A-C1FA260E9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65D657-1A33-5E52-7A15-905F0F68831D}"/>
              </a:ext>
            </a:extLst>
          </p:cNvPr>
          <p:cNvSpPr/>
          <p:nvPr/>
        </p:nvSpPr>
        <p:spPr>
          <a:xfrm>
            <a:off x="1610816" y="3920608"/>
            <a:ext cx="8970368" cy="792088"/>
          </a:xfrm>
          <a:prstGeom prst="rect">
            <a:avLst/>
          </a:prstGeom>
          <a:solidFill>
            <a:schemeClr val="accent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Modern Data </a:t>
            </a:r>
            <a:r>
              <a:rPr lang="es-ES" sz="1600" dirty="0" err="1"/>
              <a:t>Ecosistem</a:t>
            </a:r>
            <a:endParaRPr lang="es-ES" sz="16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6AB4533-B371-E57F-5983-DADBF9F4C25C}"/>
              </a:ext>
            </a:extLst>
          </p:cNvPr>
          <p:cNvSpPr/>
          <p:nvPr/>
        </p:nvSpPr>
        <p:spPr>
          <a:xfrm>
            <a:off x="1610816" y="2315602"/>
            <a:ext cx="1301028" cy="139804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600" dirty="0" err="1"/>
              <a:t>ETLs</a:t>
            </a:r>
            <a:endParaRPr lang="es-ES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D971373-4487-49C7-E2F1-24C3393BC6ED}"/>
              </a:ext>
            </a:extLst>
          </p:cNvPr>
          <p:cNvSpPr/>
          <p:nvPr/>
        </p:nvSpPr>
        <p:spPr>
          <a:xfrm>
            <a:off x="3144684" y="2315602"/>
            <a:ext cx="1301028" cy="139804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600" dirty="0"/>
              <a:t>Data </a:t>
            </a:r>
            <a:r>
              <a:rPr lang="es-ES" sz="1600" dirty="0" err="1"/>
              <a:t>Warehouse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3412B4-2574-5317-2292-87C049E2CF60}"/>
              </a:ext>
            </a:extLst>
          </p:cNvPr>
          <p:cNvSpPr/>
          <p:nvPr/>
        </p:nvSpPr>
        <p:spPr>
          <a:xfrm>
            <a:off x="4678552" y="2315602"/>
            <a:ext cx="1301028" cy="139804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600" dirty="0"/>
              <a:t>Business </a:t>
            </a:r>
            <a:r>
              <a:rPr lang="es-ES" sz="1600" dirty="0" err="1"/>
              <a:t>Inteligence</a:t>
            </a:r>
            <a:endParaRPr lang="es-ES" sz="16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2F95259-7ECF-599E-56F7-FC6D60EFA1D9}"/>
              </a:ext>
            </a:extLst>
          </p:cNvPr>
          <p:cNvSpPr/>
          <p:nvPr/>
        </p:nvSpPr>
        <p:spPr>
          <a:xfrm>
            <a:off x="6212420" y="2315602"/>
            <a:ext cx="1301028" cy="139804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600" dirty="0"/>
              <a:t>Data Cloud Storage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0C50565-4B8F-02A6-AA75-B4A6E74A6CDD}"/>
              </a:ext>
            </a:extLst>
          </p:cNvPr>
          <p:cNvSpPr/>
          <p:nvPr/>
        </p:nvSpPr>
        <p:spPr>
          <a:xfrm>
            <a:off x="7746288" y="2315602"/>
            <a:ext cx="1301028" cy="139804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600" dirty="0"/>
              <a:t>IA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0FBC1F-1B13-7E24-E3AE-FE981BCE447A}"/>
              </a:ext>
            </a:extLst>
          </p:cNvPr>
          <p:cNvSpPr/>
          <p:nvPr/>
        </p:nvSpPr>
        <p:spPr>
          <a:xfrm>
            <a:off x="9280156" y="2315602"/>
            <a:ext cx="1301028" cy="1398042"/>
          </a:xfrm>
          <a:prstGeom prst="rect">
            <a:avLst/>
          </a:prstGeom>
          <a:solidFill>
            <a:srgbClr val="1E8BB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sz="1600" dirty="0" err="1"/>
              <a:t>Governance</a:t>
            </a:r>
            <a:endParaRPr lang="es-ES" sz="1600" dirty="0"/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AFD85734-DA86-B218-F039-8C3EB13E716E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Ecosistema de Datos I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1E3AAB99-2CD8-172D-3619-2C4059B12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763" y="4998051"/>
            <a:ext cx="296195" cy="296195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CA586C10-B1CF-719F-DA91-90AC62A23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464" y="3221931"/>
            <a:ext cx="296195" cy="296195"/>
          </a:xfrm>
          <a:prstGeom prst="rect">
            <a:avLst/>
          </a:prstGeom>
        </p:spPr>
      </p:pic>
      <p:pic>
        <p:nvPicPr>
          <p:cNvPr id="21" name="Imagen 20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B8E03813-0F57-F392-E0BE-A8A141C75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836" y="3216655"/>
            <a:ext cx="296195" cy="29619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DF465CB-6CCB-4EDF-C10A-63D56E33D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100" y="3221932"/>
            <a:ext cx="296195" cy="296195"/>
          </a:xfrm>
          <a:prstGeom prst="rect">
            <a:avLst/>
          </a:prstGeom>
        </p:spPr>
      </p:pic>
      <p:pic>
        <p:nvPicPr>
          <p:cNvPr id="27" name="Imagen 26" descr="Texto, Icono&#10;&#10;El contenido generado por IA puede ser incorrecto.">
            <a:extLst>
              <a:ext uri="{FF2B5EF4-FFF2-40B4-BE49-F238E27FC236}">
                <a16:creationId xmlns:a16="http://schemas.microsoft.com/office/drawing/2014/main" id="{70E96256-4F72-0B7F-7E7E-05B3D959A9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148" y="3207123"/>
            <a:ext cx="325815" cy="325815"/>
          </a:xfrm>
          <a:prstGeom prst="rect">
            <a:avLst/>
          </a:prstGeom>
        </p:spPr>
      </p:pic>
      <p:pic>
        <p:nvPicPr>
          <p:cNvPr id="31" name="Imagen 30" descr="Icono&#10;&#10;El contenido generado por IA puede ser incorrecto.">
            <a:extLst>
              <a:ext uri="{FF2B5EF4-FFF2-40B4-BE49-F238E27FC236}">
                <a16:creationId xmlns:a16="http://schemas.microsoft.com/office/drawing/2014/main" id="{D6BAF803-96A5-C794-D51D-BD9FDBC81B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572" y="3214352"/>
            <a:ext cx="296195" cy="296195"/>
          </a:xfrm>
          <a:prstGeom prst="rect">
            <a:avLst/>
          </a:prstGeom>
        </p:spPr>
      </p:pic>
      <p:pic>
        <p:nvPicPr>
          <p:cNvPr id="37" name="Imagen 36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402B7CFE-F628-CF1A-FF8B-6F6C88A651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704" y="3216655"/>
            <a:ext cx="296195" cy="296195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88057D5-9AF7-33C4-A514-31E60AFFAC8C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8CB4DD79-96AA-4103-947B-C294018D24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BDE07CA8-0623-C9E6-84FF-E8342EFE2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897" y="1137364"/>
            <a:ext cx="5133967" cy="4786472"/>
          </a:xfrm>
        </p:spPr>
      </p:pic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612AB3A1-7738-9FEB-32B7-B887A6ECCED3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Ecosistema de Datos II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0D08D8-D702-AF8B-B7CE-61245C94E031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3DD4469-1321-E401-5D09-2EA1726EF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1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2ED0D-CF44-836B-BD91-A42D2BB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84776B-CB76-91C5-3D5E-E8A973BFA1AD}"/>
              </a:ext>
            </a:extLst>
          </p:cNvPr>
          <p:cNvSpPr txBox="1"/>
          <p:nvPr/>
        </p:nvSpPr>
        <p:spPr>
          <a:xfrm>
            <a:off x="4007768" y="2537902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260965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B966E-06C1-3592-60A7-83C4AF00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ángulo: esquinas redondeadas 176">
            <a:extLst>
              <a:ext uri="{FF2B5EF4-FFF2-40B4-BE49-F238E27FC236}">
                <a16:creationId xmlns:a16="http://schemas.microsoft.com/office/drawing/2014/main" id="{5ED877EE-9DCC-E6EB-E726-5114AF94717D}"/>
              </a:ext>
            </a:extLst>
          </p:cNvPr>
          <p:cNvSpPr/>
          <p:nvPr/>
        </p:nvSpPr>
        <p:spPr>
          <a:xfrm>
            <a:off x="2625722" y="1179038"/>
            <a:ext cx="6320790" cy="4423410"/>
          </a:xfrm>
          <a:prstGeom prst="roundRect">
            <a:avLst>
              <a:gd name="adj" fmla="val 3572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438067-B4BB-607F-D2F3-E1655CC0C8D0}"/>
              </a:ext>
            </a:extLst>
          </p:cNvPr>
          <p:cNvSpPr/>
          <p:nvPr/>
        </p:nvSpPr>
        <p:spPr>
          <a:xfrm>
            <a:off x="5518308" y="1672424"/>
            <a:ext cx="535622" cy="267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25" dirty="0">
                <a:solidFill>
                  <a:schemeClr val="tx1"/>
                </a:solidFill>
                <a:latin typeface="Montserrat" panose="00000500000000000000" pitchFamily="2" charset="0"/>
              </a:rPr>
              <a:t>Driver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B5A28E-2EE5-6DF4-FAC7-B4D58F8FC3DF}"/>
              </a:ext>
            </a:extLst>
          </p:cNvPr>
          <p:cNvSpPr/>
          <p:nvPr/>
        </p:nvSpPr>
        <p:spPr>
          <a:xfrm>
            <a:off x="4806948" y="2219560"/>
            <a:ext cx="1958340" cy="267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25" dirty="0" err="1">
                <a:solidFill>
                  <a:schemeClr val="tx1"/>
                </a:solidFill>
                <a:latin typeface="Montserrat" panose="00000500000000000000" pitchFamily="2" charset="0"/>
              </a:rPr>
              <a:t>Cluster</a:t>
            </a:r>
            <a:r>
              <a:rPr lang="es-ES" sz="825" dirty="0">
                <a:solidFill>
                  <a:schemeClr val="tx1"/>
                </a:solidFill>
                <a:latin typeface="Montserrat" panose="00000500000000000000" pitchFamily="2" charset="0"/>
              </a:rPr>
              <a:t> Manager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F185437-B591-CCC4-9895-1CD64580F185}"/>
              </a:ext>
            </a:extLst>
          </p:cNvPr>
          <p:cNvGrpSpPr/>
          <p:nvPr/>
        </p:nvGrpSpPr>
        <p:grpSpPr>
          <a:xfrm>
            <a:off x="5607114" y="2704126"/>
            <a:ext cx="363112" cy="264260"/>
            <a:chOff x="4658644" y="3338619"/>
            <a:chExt cx="484148" cy="352346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3055379-3315-2491-C0FC-E7ADC0D884DE}"/>
                </a:ext>
              </a:extLst>
            </p:cNvPr>
            <p:cNvSpPr/>
            <p:nvPr/>
          </p:nvSpPr>
          <p:spPr>
            <a:xfrm>
              <a:off x="4721304" y="3338619"/>
              <a:ext cx="352346" cy="35234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375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82CACB2-627F-C9DC-B572-118407C462BE}"/>
                </a:ext>
              </a:extLst>
            </p:cNvPr>
            <p:cNvSpPr txBox="1"/>
            <p:nvPr/>
          </p:nvSpPr>
          <p:spPr>
            <a:xfrm>
              <a:off x="4658644" y="3386316"/>
              <a:ext cx="484148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latin typeface="Montserrat" panose="00000500000000000000" pitchFamily="2" charset="0"/>
                </a:rPr>
                <a:t>DAG</a:t>
              </a:r>
              <a:endParaRPr lang="es-ES" sz="105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1768E478-AB31-56D5-3F21-7B50F7367438}"/>
              </a:ext>
            </a:extLst>
          </p:cNvPr>
          <p:cNvGrpSpPr/>
          <p:nvPr/>
        </p:nvGrpSpPr>
        <p:grpSpPr>
          <a:xfrm>
            <a:off x="3164350" y="3514703"/>
            <a:ext cx="1561810" cy="1934031"/>
            <a:chOff x="2209993" y="3543269"/>
            <a:chExt cx="2082413" cy="2578708"/>
          </a:xfrm>
        </p:grpSpPr>
        <p:sp>
          <p:nvSpPr>
            <p:cNvPr id="93" name="Rectángulo: esquinas redondeadas 92">
              <a:extLst>
                <a:ext uri="{FF2B5EF4-FFF2-40B4-BE49-F238E27FC236}">
                  <a16:creationId xmlns:a16="http://schemas.microsoft.com/office/drawing/2014/main" id="{A42B13E3-3008-08B1-5BDF-092C4C0F984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>
                <a:latin typeface="Montserrat" panose="00000500000000000000" pitchFamily="2" charset="0"/>
              </a:endParaRPr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0CCD447E-CAB4-498D-1E4E-901FB45417EA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666B277-749E-EC62-FB55-DDA88D4FD789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C644A9DE-D765-D429-FBAA-57A1D492C364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789DA6E1-58DE-1B9D-50CE-5DD2AA71DA68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47C85B88-EBA4-04A0-AC8E-A1FB427541B3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A6097D8A-65A9-80AE-5A78-D39701C45300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8C7C3428-7D7F-E324-4760-EE3279EC1B8C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21" name="Grupo 20">
                    <a:extLst>
                      <a:ext uri="{FF2B5EF4-FFF2-40B4-BE49-F238E27FC236}">
                        <a16:creationId xmlns:a16="http://schemas.microsoft.com/office/drawing/2014/main" id="{1D1FC05B-1742-B57B-DC1A-A33A862D67A6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" name="Rectángulo 13">
                      <a:extLst>
                        <a:ext uri="{FF2B5EF4-FFF2-40B4-BE49-F238E27FC236}">
                          <a16:creationId xmlns:a16="http://schemas.microsoft.com/office/drawing/2014/main" id="{E585E0A3-9797-D92D-3FF0-0D74EB31D3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0" name="CuadroTexto 19">
                      <a:extLst>
                        <a:ext uri="{FF2B5EF4-FFF2-40B4-BE49-F238E27FC236}">
                          <a16:creationId xmlns:a16="http://schemas.microsoft.com/office/drawing/2014/main" id="{5DF2D21F-4223-291F-2CB8-98C49A5DE3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A2E5E468-3A7E-C4B9-5A79-0A3576513F0D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3" name="Rectángulo 22">
                      <a:extLst>
                        <a:ext uri="{FF2B5EF4-FFF2-40B4-BE49-F238E27FC236}">
                          <a16:creationId xmlns:a16="http://schemas.microsoft.com/office/drawing/2014/main" id="{070B5BED-83E6-866A-63D1-C23C7243D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4" name="CuadroTexto 23">
                      <a:extLst>
                        <a:ext uri="{FF2B5EF4-FFF2-40B4-BE49-F238E27FC236}">
                          <a16:creationId xmlns:a16="http://schemas.microsoft.com/office/drawing/2014/main" id="{110D0CA4-ADCD-1C94-05D4-0D13C1E045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5" name="Grupo 24">
                    <a:extLst>
                      <a:ext uri="{FF2B5EF4-FFF2-40B4-BE49-F238E27FC236}">
                        <a16:creationId xmlns:a16="http://schemas.microsoft.com/office/drawing/2014/main" id="{D95EBB3B-85B0-5529-A74A-0C4C9BD3BA4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6" name="Rectángulo 25">
                      <a:extLst>
                        <a:ext uri="{FF2B5EF4-FFF2-40B4-BE49-F238E27FC236}">
                          <a16:creationId xmlns:a16="http://schemas.microsoft.com/office/drawing/2014/main" id="{AF33ED7C-CB9F-58EB-6D0A-73D53F736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7" name="CuadroTexto 26">
                      <a:extLst>
                        <a:ext uri="{FF2B5EF4-FFF2-40B4-BE49-F238E27FC236}">
                          <a16:creationId xmlns:a16="http://schemas.microsoft.com/office/drawing/2014/main" id="{B2695410-32FB-DAFE-6DB7-823212F5BD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2E50C6F6-F212-6ED4-D10A-9EC7047C74BF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30" name="Grupo 29">
                    <a:extLst>
                      <a:ext uri="{FF2B5EF4-FFF2-40B4-BE49-F238E27FC236}">
                        <a16:creationId xmlns:a16="http://schemas.microsoft.com/office/drawing/2014/main" id="{DF464356-9C55-8B0B-4220-922A5F43B5CA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7" name="Rectángulo 36">
                      <a:extLst>
                        <a:ext uri="{FF2B5EF4-FFF2-40B4-BE49-F238E27FC236}">
                          <a16:creationId xmlns:a16="http://schemas.microsoft.com/office/drawing/2014/main" id="{BE1B03C7-C220-34A6-60BB-DA0F417059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520F3B80-788B-4816-E200-A02D644080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1" name="Grupo 30">
                    <a:extLst>
                      <a:ext uri="{FF2B5EF4-FFF2-40B4-BE49-F238E27FC236}">
                        <a16:creationId xmlns:a16="http://schemas.microsoft.com/office/drawing/2014/main" id="{C5162904-F400-D5AA-7DE4-57F51B77C68A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5" name="Rectángulo 34">
                      <a:extLst>
                        <a:ext uri="{FF2B5EF4-FFF2-40B4-BE49-F238E27FC236}">
                          <a16:creationId xmlns:a16="http://schemas.microsoft.com/office/drawing/2014/main" id="{2A37B0AC-E1BB-5B6B-D4FF-519652019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25C4AE04-7980-D250-5B94-23C4219499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2" name="Grupo 31">
                    <a:extLst>
                      <a:ext uri="{FF2B5EF4-FFF2-40B4-BE49-F238E27FC236}">
                        <a16:creationId xmlns:a16="http://schemas.microsoft.com/office/drawing/2014/main" id="{96306E2A-43B0-40BB-1868-B2F2BD755C8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3" name="Rectángulo 32">
                      <a:extLst>
                        <a:ext uri="{FF2B5EF4-FFF2-40B4-BE49-F238E27FC236}">
                          <a16:creationId xmlns:a16="http://schemas.microsoft.com/office/drawing/2014/main" id="{7C9F5924-1B2F-F88E-72DD-B2DCFC87B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4" name="CuadroTexto 33">
                      <a:extLst>
                        <a:ext uri="{FF2B5EF4-FFF2-40B4-BE49-F238E27FC236}">
                          <a16:creationId xmlns:a16="http://schemas.microsoft.com/office/drawing/2014/main" id="{D6E4C837-8A6B-4769-CA75-A8E961DC6A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DCCDB074-1EEE-6C2B-8D61-E72FA56B9F0E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1</a:t>
              </a:r>
            </a:p>
          </p:txBody>
        </p: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9C3F71A3-F5F5-BFDE-74A0-7B018B6290F3}"/>
              </a:ext>
            </a:extLst>
          </p:cNvPr>
          <p:cNvGrpSpPr/>
          <p:nvPr/>
        </p:nvGrpSpPr>
        <p:grpSpPr>
          <a:xfrm>
            <a:off x="5016528" y="3478423"/>
            <a:ext cx="1561810" cy="1934031"/>
            <a:chOff x="2209993" y="3543269"/>
            <a:chExt cx="2082413" cy="2578708"/>
          </a:xfrm>
        </p:grpSpPr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D0FE3A9-3D32-9461-3CCF-E15C2882B61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>
                <a:latin typeface="Montserrat" panose="00000500000000000000" pitchFamily="2" charset="0"/>
              </a:endParaRPr>
            </a:p>
          </p:txBody>
        </p:sp>
        <p:grpSp>
          <p:nvGrpSpPr>
            <p:cNvPr id="98" name="Grupo 97">
              <a:extLst>
                <a:ext uri="{FF2B5EF4-FFF2-40B4-BE49-F238E27FC236}">
                  <a16:creationId xmlns:a16="http://schemas.microsoft.com/office/drawing/2014/main" id="{8301A948-E25B-6C08-4BAF-968AC8EBFCB4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F827632B-051F-79E2-644A-CF8040928820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0C9DB96F-869C-1777-E764-0A4E38A54EF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02" name="Rectángulo 101">
                  <a:extLst>
                    <a:ext uri="{FF2B5EF4-FFF2-40B4-BE49-F238E27FC236}">
                      <a16:creationId xmlns:a16="http://schemas.microsoft.com/office/drawing/2014/main" id="{91D47418-ED4D-C413-0560-835C719FA47D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3" name="Rectángulo 102">
                  <a:extLst>
                    <a:ext uri="{FF2B5EF4-FFF2-40B4-BE49-F238E27FC236}">
                      <a16:creationId xmlns:a16="http://schemas.microsoft.com/office/drawing/2014/main" id="{F7045B3E-7751-223F-C54E-FFBC648E5EE2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4" name="Rectángulo 103">
                  <a:extLst>
                    <a:ext uri="{FF2B5EF4-FFF2-40B4-BE49-F238E27FC236}">
                      <a16:creationId xmlns:a16="http://schemas.microsoft.com/office/drawing/2014/main" id="{54428DBB-A670-2C5E-929C-C643A2477291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05" name="Grupo 104">
                  <a:extLst>
                    <a:ext uri="{FF2B5EF4-FFF2-40B4-BE49-F238E27FC236}">
                      <a16:creationId xmlns:a16="http://schemas.microsoft.com/office/drawing/2014/main" id="{6226E9FE-EA79-D9A2-7584-DE4C9D23CC92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16" name="Grupo 115">
                    <a:extLst>
                      <a:ext uri="{FF2B5EF4-FFF2-40B4-BE49-F238E27FC236}">
                        <a16:creationId xmlns:a16="http://schemas.microsoft.com/office/drawing/2014/main" id="{8BCF9EDB-05F0-1F0D-8963-C2071DF4124D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3" name="Rectángulo 122">
                      <a:extLst>
                        <a:ext uri="{FF2B5EF4-FFF2-40B4-BE49-F238E27FC236}">
                          <a16:creationId xmlns:a16="http://schemas.microsoft.com/office/drawing/2014/main" id="{994F1F49-1FCC-BA27-1166-0DDAFB916D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4" name="CuadroTexto 123">
                      <a:extLst>
                        <a:ext uri="{FF2B5EF4-FFF2-40B4-BE49-F238E27FC236}">
                          <a16:creationId xmlns:a16="http://schemas.microsoft.com/office/drawing/2014/main" id="{C740F4BA-CA9E-B858-CA70-FACDF0388A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7" name="Grupo 116">
                    <a:extLst>
                      <a:ext uri="{FF2B5EF4-FFF2-40B4-BE49-F238E27FC236}">
                        <a16:creationId xmlns:a16="http://schemas.microsoft.com/office/drawing/2014/main" id="{EA13628D-F309-5082-9C9E-D9A9E8E961A1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1" name="Rectángulo 120">
                      <a:extLst>
                        <a:ext uri="{FF2B5EF4-FFF2-40B4-BE49-F238E27FC236}">
                          <a16:creationId xmlns:a16="http://schemas.microsoft.com/office/drawing/2014/main" id="{64DD196C-F06C-CDFB-1FC1-57637C807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2" name="CuadroTexto 121">
                      <a:extLst>
                        <a:ext uri="{FF2B5EF4-FFF2-40B4-BE49-F238E27FC236}">
                          <a16:creationId xmlns:a16="http://schemas.microsoft.com/office/drawing/2014/main" id="{39B7C962-0483-7E68-AA01-56959505D1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8" name="Grupo 117">
                    <a:extLst>
                      <a:ext uri="{FF2B5EF4-FFF2-40B4-BE49-F238E27FC236}">
                        <a16:creationId xmlns:a16="http://schemas.microsoft.com/office/drawing/2014/main" id="{1EE2AB87-42E4-922C-CCBE-C4794A1BD8BE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9" name="Rectángulo 118">
                      <a:extLst>
                        <a:ext uri="{FF2B5EF4-FFF2-40B4-BE49-F238E27FC236}">
                          <a16:creationId xmlns:a16="http://schemas.microsoft.com/office/drawing/2014/main" id="{AF10BA9F-F7B8-6EE7-04C0-4B5103E804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0" name="CuadroTexto 119">
                      <a:extLst>
                        <a:ext uri="{FF2B5EF4-FFF2-40B4-BE49-F238E27FC236}">
                          <a16:creationId xmlns:a16="http://schemas.microsoft.com/office/drawing/2014/main" id="{76A48223-D483-80C2-7981-993DD74582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06" name="Grupo 105">
                  <a:extLst>
                    <a:ext uri="{FF2B5EF4-FFF2-40B4-BE49-F238E27FC236}">
                      <a16:creationId xmlns:a16="http://schemas.microsoft.com/office/drawing/2014/main" id="{ECDA9B9C-4A42-57F5-BC27-65AE50AD3EE0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07" name="Grupo 106">
                    <a:extLst>
                      <a:ext uri="{FF2B5EF4-FFF2-40B4-BE49-F238E27FC236}">
                        <a16:creationId xmlns:a16="http://schemas.microsoft.com/office/drawing/2014/main" id="{9CA18BD0-E2F6-8A21-0E75-BF98B70507E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4" name="Rectángulo 113">
                      <a:extLst>
                        <a:ext uri="{FF2B5EF4-FFF2-40B4-BE49-F238E27FC236}">
                          <a16:creationId xmlns:a16="http://schemas.microsoft.com/office/drawing/2014/main" id="{EC8958C8-6BBE-83A7-36B3-229313E758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5" name="CuadroTexto 114">
                      <a:extLst>
                        <a:ext uri="{FF2B5EF4-FFF2-40B4-BE49-F238E27FC236}">
                          <a16:creationId xmlns:a16="http://schemas.microsoft.com/office/drawing/2014/main" id="{9B8CAA05-05C4-232B-D497-4262991C81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8" name="Grupo 107">
                    <a:extLst>
                      <a:ext uri="{FF2B5EF4-FFF2-40B4-BE49-F238E27FC236}">
                        <a16:creationId xmlns:a16="http://schemas.microsoft.com/office/drawing/2014/main" id="{9210D093-E31B-88B4-7C37-8FF25D531C25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2" name="Rectángulo 111">
                      <a:extLst>
                        <a:ext uri="{FF2B5EF4-FFF2-40B4-BE49-F238E27FC236}">
                          <a16:creationId xmlns:a16="http://schemas.microsoft.com/office/drawing/2014/main" id="{1AB3EE95-8A8E-C0C7-2FE9-709E6882A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3" name="CuadroTexto 112">
                      <a:extLst>
                        <a:ext uri="{FF2B5EF4-FFF2-40B4-BE49-F238E27FC236}">
                          <a16:creationId xmlns:a16="http://schemas.microsoft.com/office/drawing/2014/main" id="{5A5EE639-B5AB-8729-5E1E-F3F3A7975B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9" name="Grupo 108">
                    <a:extLst>
                      <a:ext uri="{FF2B5EF4-FFF2-40B4-BE49-F238E27FC236}">
                        <a16:creationId xmlns:a16="http://schemas.microsoft.com/office/drawing/2014/main" id="{5B97DAAF-0446-749D-3DE5-7160886E6983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0" name="Rectángulo 109">
                      <a:extLst>
                        <a:ext uri="{FF2B5EF4-FFF2-40B4-BE49-F238E27FC236}">
                          <a16:creationId xmlns:a16="http://schemas.microsoft.com/office/drawing/2014/main" id="{82DE996B-3600-521E-C323-533BD7631B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1" name="CuadroTexto 110">
                      <a:extLst>
                        <a:ext uri="{FF2B5EF4-FFF2-40B4-BE49-F238E27FC236}">
                          <a16:creationId xmlns:a16="http://schemas.microsoft.com/office/drawing/2014/main" id="{D6515A5E-F5C6-816C-B3EF-3AA3FF1E9E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3D6E962F-1958-3C5B-68BA-40D0811E3C61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2</a:t>
              </a:r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3622C279-B623-FDFB-0D86-1811B0A377BD}"/>
              </a:ext>
            </a:extLst>
          </p:cNvPr>
          <p:cNvGrpSpPr/>
          <p:nvPr/>
        </p:nvGrpSpPr>
        <p:grpSpPr>
          <a:xfrm>
            <a:off x="6868385" y="3493740"/>
            <a:ext cx="1561810" cy="1934031"/>
            <a:chOff x="2209993" y="3543269"/>
            <a:chExt cx="2082413" cy="2578708"/>
          </a:xfrm>
        </p:grpSpPr>
        <p:sp>
          <p:nvSpPr>
            <p:cNvPr id="126" name="Rectángulo: esquinas redondeadas 125">
              <a:extLst>
                <a:ext uri="{FF2B5EF4-FFF2-40B4-BE49-F238E27FC236}">
                  <a16:creationId xmlns:a16="http://schemas.microsoft.com/office/drawing/2014/main" id="{F291049D-A327-0058-FD92-67B3BECF02B5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>
                <a:latin typeface="Montserrat" panose="00000500000000000000" pitchFamily="2" charset="0"/>
              </a:endParaRPr>
            </a:p>
          </p:txBody>
        </p:sp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B5F8FD4C-8AA2-B135-BE78-1CC672F82E4F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29" name="Rectángulo 128">
                <a:extLst>
                  <a:ext uri="{FF2B5EF4-FFF2-40B4-BE49-F238E27FC236}">
                    <a16:creationId xmlns:a16="http://schemas.microsoft.com/office/drawing/2014/main" id="{DAAEE780-CE5F-E3C6-D2E0-54394B6EC93D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9BFACC04-51A3-55D3-9FBB-D6AD0EBD4CA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31" name="Rectángulo 130">
                  <a:extLst>
                    <a:ext uri="{FF2B5EF4-FFF2-40B4-BE49-F238E27FC236}">
                      <a16:creationId xmlns:a16="http://schemas.microsoft.com/office/drawing/2014/main" id="{66A56C7B-3BF4-1A16-0E05-5AF7CE7A3FA2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2" name="Rectángulo 131">
                  <a:extLst>
                    <a:ext uri="{FF2B5EF4-FFF2-40B4-BE49-F238E27FC236}">
                      <a16:creationId xmlns:a16="http://schemas.microsoft.com/office/drawing/2014/main" id="{74163966-50F6-07A6-1848-738E01EACB18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3" name="Rectángulo 132">
                  <a:extLst>
                    <a:ext uri="{FF2B5EF4-FFF2-40B4-BE49-F238E27FC236}">
                      <a16:creationId xmlns:a16="http://schemas.microsoft.com/office/drawing/2014/main" id="{776ACCC3-AA10-B815-0944-764054E89973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34" name="Grupo 133">
                  <a:extLst>
                    <a:ext uri="{FF2B5EF4-FFF2-40B4-BE49-F238E27FC236}">
                      <a16:creationId xmlns:a16="http://schemas.microsoft.com/office/drawing/2014/main" id="{06B5B93F-ABFB-827E-BA9D-405BF8093540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45" name="Grupo 144">
                    <a:extLst>
                      <a:ext uri="{FF2B5EF4-FFF2-40B4-BE49-F238E27FC236}">
                        <a16:creationId xmlns:a16="http://schemas.microsoft.com/office/drawing/2014/main" id="{481CA0FA-0B03-204B-7D6F-359951005B3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2" name="Rectángulo 151">
                      <a:extLst>
                        <a:ext uri="{FF2B5EF4-FFF2-40B4-BE49-F238E27FC236}">
                          <a16:creationId xmlns:a16="http://schemas.microsoft.com/office/drawing/2014/main" id="{2A12C626-33BF-3B55-81B1-1525C1BC36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3" name="CuadroTexto 152">
                      <a:extLst>
                        <a:ext uri="{FF2B5EF4-FFF2-40B4-BE49-F238E27FC236}">
                          <a16:creationId xmlns:a16="http://schemas.microsoft.com/office/drawing/2014/main" id="{6A30D295-2D86-C6BE-CCDD-832460F2AF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6" name="Grupo 145">
                    <a:extLst>
                      <a:ext uri="{FF2B5EF4-FFF2-40B4-BE49-F238E27FC236}">
                        <a16:creationId xmlns:a16="http://schemas.microsoft.com/office/drawing/2014/main" id="{5B80FE46-E7E4-1A6D-0FB6-AFB8EFD06C1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0" name="Rectángulo 149">
                      <a:extLst>
                        <a:ext uri="{FF2B5EF4-FFF2-40B4-BE49-F238E27FC236}">
                          <a16:creationId xmlns:a16="http://schemas.microsoft.com/office/drawing/2014/main" id="{ED1C61BD-E933-CFC4-6A3F-FDEEEC89D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1" name="CuadroTexto 150">
                      <a:extLst>
                        <a:ext uri="{FF2B5EF4-FFF2-40B4-BE49-F238E27FC236}">
                          <a16:creationId xmlns:a16="http://schemas.microsoft.com/office/drawing/2014/main" id="{8545B17F-06A3-530C-8BAF-F448D4E95E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7" name="Grupo 146">
                    <a:extLst>
                      <a:ext uri="{FF2B5EF4-FFF2-40B4-BE49-F238E27FC236}">
                        <a16:creationId xmlns:a16="http://schemas.microsoft.com/office/drawing/2014/main" id="{9EB2240F-DA5A-931B-CDAB-270805494C30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8" name="Rectángulo 147">
                      <a:extLst>
                        <a:ext uri="{FF2B5EF4-FFF2-40B4-BE49-F238E27FC236}">
                          <a16:creationId xmlns:a16="http://schemas.microsoft.com/office/drawing/2014/main" id="{96E7ABDF-0EE5-4147-B8BE-F6BDA62817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9" name="CuadroTexto 148">
                      <a:extLst>
                        <a:ext uri="{FF2B5EF4-FFF2-40B4-BE49-F238E27FC236}">
                          <a16:creationId xmlns:a16="http://schemas.microsoft.com/office/drawing/2014/main" id="{41985289-9D1B-4378-9331-53F2A66298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35" name="Grupo 134">
                  <a:extLst>
                    <a:ext uri="{FF2B5EF4-FFF2-40B4-BE49-F238E27FC236}">
                      <a16:creationId xmlns:a16="http://schemas.microsoft.com/office/drawing/2014/main" id="{F71A5E8F-96D3-AEA3-651E-B77E949026A8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36" name="Grupo 135">
                    <a:extLst>
                      <a:ext uri="{FF2B5EF4-FFF2-40B4-BE49-F238E27FC236}">
                        <a16:creationId xmlns:a16="http://schemas.microsoft.com/office/drawing/2014/main" id="{80DD4AEA-AF67-8AE0-4653-C0F964D6F327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3" name="Rectángulo 142">
                      <a:extLst>
                        <a:ext uri="{FF2B5EF4-FFF2-40B4-BE49-F238E27FC236}">
                          <a16:creationId xmlns:a16="http://schemas.microsoft.com/office/drawing/2014/main" id="{F37B32A4-51D8-0AC8-184C-46E237F5C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4" name="CuadroTexto 143">
                      <a:extLst>
                        <a:ext uri="{FF2B5EF4-FFF2-40B4-BE49-F238E27FC236}">
                          <a16:creationId xmlns:a16="http://schemas.microsoft.com/office/drawing/2014/main" id="{90BA6AE2-EEA3-B2C1-784D-D0AB6A176F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7" name="Grupo 136">
                    <a:extLst>
                      <a:ext uri="{FF2B5EF4-FFF2-40B4-BE49-F238E27FC236}">
                        <a16:creationId xmlns:a16="http://schemas.microsoft.com/office/drawing/2014/main" id="{6DB9956A-66C6-9DB7-37F1-C9625C4698D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1" name="Rectángulo 140">
                      <a:extLst>
                        <a:ext uri="{FF2B5EF4-FFF2-40B4-BE49-F238E27FC236}">
                          <a16:creationId xmlns:a16="http://schemas.microsoft.com/office/drawing/2014/main" id="{93D09399-BAB0-7A51-C3B0-4E686E72A2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2" name="CuadroTexto 141">
                      <a:extLst>
                        <a:ext uri="{FF2B5EF4-FFF2-40B4-BE49-F238E27FC236}">
                          <a16:creationId xmlns:a16="http://schemas.microsoft.com/office/drawing/2014/main" id="{CF19EF56-66E8-31B9-2482-D8A2864B40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D5A48EB2-096D-2802-D725-FA05651E3EE6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39" name="Rectángulo 138">
                      <a:extLst>
                        <a:ext uri="{FF2B5EF4-FFF2-40B4-BE49-F238E27FC236}">
                          <a16:creationId xmlns:a16="http://schemas.microsoft.com/office/drawing/2014/main" id="{A73FB2F5-00F9-7616-13F9-4FB8EF65DB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0" name="CuadroTexto 139">
                      <a:extLst>
                        <a:ext uri="{FF2B5EF4-FFF2-40B4-BE49-F238E27FC236}">
                          <a16:creationId xmlns:a16="http://schemas.microsoft.com/office/drawing/2014/main" id="{641026F4-DD2B-821A-6A3F-78AA6CC183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871C343C-57FC-F1D6-CD00-7BD8A39C82E8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3</a:t>
              </a:r>
            </a:p>
          </p:txBody>
        </p:sp>
      </p:grp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CC672635-053A-B4E0-B41C-72692E8D1229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5786119" y="1940394"/>
            <a:ext cx="1" cy="27916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20084B3B-67B2-C3A9-72AF-8EDD20E8EE2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786119" y="2487530"/>
            <a:ext cx="121" cy="21659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curvado 168">
            <a:extLst>
              <a:ext uri="{FF2B5EF4-FFF2-40B4-BE49-F238E27FC236}">
                <a16:creationId xmlns:a16="http://schemas.microsoft.com/office/drawing/2014/main" id="{6B2BADFD-32A8-E8D2-A1CA-938FB9C5D8BB}"/>
              </a:ext>
            </a:extLst>
          </p:cNvPr>
          <p:cNvCxnSpPr>
            <a:stCxn id="9" idx="4"/>
            <a:endCxn id="93" idx="0"/>
          </p:cNvCxnSpPr>
          <p:nvPr/>
        </p:nvCxnSpPr>
        <p:spPr>
          <a:xfrm rot="5400000">
            <a:off x="4592590" y="2321052"/>
            <a:ext cx="546317" cy="1840984"/>
          </a:xfrm>
          <a:prstGeom prst="curved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ector: curvado 169">
            <a:extLst>
              <a:ext uri="{FF2B5EF4-FFF2-40B4-BE49-F238E27FC236}">
                <a16:creationId xmlns:a16="http://schemas.microsoft.com/office/drawing/2014/main" id="{29167F1D-5A6E-0DE7-7BFC-358A82905251}"/>
              </a:ext>
            </a:extLst>
          </p:cNvPr>
          <p:cNvCxnSpPr>
            <a:cxnSpLocks/>
            <a:stCxn id="9" idx="4"/>
            <a:endCxn id="126" idx="0"/>
          </p:cNvCxnSpPr>
          <p:nvPr/>
        </p:nvCxnSpPr>
        <p:spPr>
          <a:xfrm rot="16200000" flipH="1">
            <a:off x="6455087" y="2299538"/>
            <a:ext cx="525354" cy="1863051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>
            <a:extLst>
              <a:ext uri="{FF2B5EF4-FFF2-40B4-BE49-F238E27FC236}">
                <a16:creationId xmlns:a16="http://schemas.microsoft.com/office/drawing/2014/main" id="{D83F93FE-C4A6-C093-FDF3-4277953999AF}"/>
              </a:ext>
            </a:extLst>
          </p:cNvPr>
          <p:cNvCxnSpPr>
            <a:cxnSpLocks/>
            <a:stCxn id="9" idx="4"/>
            <a:endCxn id="97" idx="0"/>
          </p:cNvCxnSpPr>
          <p:nvPr/>
        </p:nvCxnSpPr>
        <p:spPr>
          <a:xfrm>
            <a:off x="5786239" y="2968387"/>
            <a:ext cx="11194" cy="51003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39073C5A-B954-D9AE-6FAC-5C2891ACDE9E}"/>
              </a:ext>
            </a:extLst>
          </p:cNvPr>
          <p:cNvSpPr txBox="1"/>
          <p:nvPr/>
        </p:nvSpPr>
        <p:spPr>
          <a:xfrm>
            <a:off x="5211726" y="1218419"/>
            <a:ext cx="1172324" cy="3000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1350" b="1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46A979F1-D0CC-4E12-F7D3-7D986F30BA20}"/>
              </a:ext>
            </a:extLst>
          </p:cNvPr>
          <p:cNvGrpSpPr/>
          <p:nvPr/>
        </p:nvGrpSpPr>
        <p:grpSpPr>
          <a:xfrm>
            <a:off x="6471013" y="1185428"/>
            <a:ext cx="2042228" cy="591653"/>
            <a:chOff x="219770" y="857050"/>
            <a:chExt cx="2722971" cy="788870"/>
          </a:xfrm>
        </p:grpSpPr>
        <p:sp>
          <p:nvSpPr>
            <p:cNvPr id="180" name="Rectángulo: esquinas redondeadas 179">
              <a:extLst>
                <a:ext uri="{FF2B5EF4-FFF2-40B4-BE49-F238E27FC236}">
                  <a16:creationId xmlns:a16="http://schemas.microsoft.com/office/drawing/2014/main" id="{8F63B82B-0C4E-FCD3-940B-FAA81469FBDE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75" b="1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Cluster</a:t>
              </a:r>
              <a:endParaRPr lang="es-ES" sz="788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1" name="Rectángulo: esquinas redondeadas 180">
              <a:extLst>
                <a:ext uri="{FF2B5EF4-FFF2-40B4-BE49-F238E27FC236}">
                  <a16:creationId xmlns:a16="http://schemas.microsoft.com/office/drawing/2014/main" id="{BE278D4A-24FA-5D35-43A3-9C43E496EDC9}"/>
                </a:ext>
              </a:extLst>
            </p:cNvPr>
            <p:cNvSpPr/>
            <p:nvPr/>
          </p:nvSpPr>
          <p:spPr>
            <a:xfrm>
              <a:off x="921532" y="1031724"/>
              <a:ext cx="2021209" cy="614196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Conjunto de máquinas virtuales 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gestionadas por </a:t>
              </a:r>
              <a:r>
                <a:rPr lang="es-ES" sz="6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/Spark para ejecutar trabajos distribuidos.</a:t>
              </a:r>
              <a:endParaRPr lang="es-ES" sz="75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9" name="Elipse 178">
              <a:extLst>
                <a:ext uri="{FF2B5EF4-FFF2-40B4-BE49-F238E27FC236}">
                  <a16:creationId xmlns:a16="http://schemas.microsoft.com/office/drawing/2014/main" id="{B83648DB-2F6F-0F1F-685C-4DA98C98425B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2B5B447-62BC-F5D6-478A-BA45F7552CD0}"/>
              </a:ext>
            </a:extLst>
          </p:cNvPr>
          <p:cNvGrpSpPr/>
          <p:nvPr/>
        </p:nvGrpSpPr>
        <p:grpSpPr>
          <a:xfrm>
            <a:off x="2904854" y="1510750"/>
            <a:ext cx="1932656" cy="528812"/>
            <a:chOff x="219770" y="857050"/>
            <a:chExt cx="2576875" cy="705082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628B3E48-562C-D276-9F28-376E730CC796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75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Driver</a:t>
              </a:r>
              <a:endParaRPr lang="es-ES" sz="788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6C67CEC6-4AF0-EC32-273D-19794E7D2C2B}"/>
                </a:ext>
              </a:extLst>
            </p:cNvPr>
            <p:cNvSpPr/>
            <p:nvPr/>
          </p:nvSpPr>
          <p:spPr>
            <a:xfrm>
              <a:off x="921533" y="1031724"/>
              <a:ext cx="1875112" cy="530408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   Nodo que coordina 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el trabajo: planifica, optimiza, crea el DAG y envía tareas a los </a:t>
              </a:r>
              <a:r>
                <a:rPr lang="es-ES" sz="6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Workers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.</a:t>
              </a:r>
              <a:endParaRPr lang="es-ES" sz="75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3550AB40-E8A4-5C6B-375D-90CE95AC1F06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2CDAB205-DF76-9657-36BB-3F7D85A9838E}"/>
              </a:ext>
            </a:extLst>
          </p:cNvPr>
          <p:cNvSpPr/>
          <p:nvPr/>
        </p:nvSpPr>
        <p:spPr>
          <a:xfrm>
            <a:off x="2937412" y="1796908"/>
            <a:ext cx="113846" cy="96949"/>
          </a:xfrm>
          <a:prstGeom prst="star5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419081E-F8E0-2B48-2E97-D824DA51699E}"/>
              </a:ext>
            </a:extLst>
          </p:cNvPr>
          <p:cNvSpPr txBox="1"/>
          <p:nvPr/>
        </p:nvSpPr>
        <p:spPr>
          <a:xfrm>
            <a:off x="3003545" y="1766275"/>
            <a:ext cx="8472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>
                <a:latin typeface="Montserrat" panose="00000500000000000000" pitchFamily="2" charset="0"/>
              </a:rPr>
              <a:t>Pandas</a:t>
            </a:r>
            <a:endParaRPr lang="es-ES" sz="1350" dirty="0">
              <a:latin typeface="Montserrat" panose="00000500000000000000" pitchFamily="2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BA63D03-B6B0-97D2-B65B-2920DAC4DFE5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1" name="Imagen 40" descr="Texto&#10;&#10;El contenido generado por IA puede ser incorrecto.">
            <a:extLst>
              <a:ext uri="{FF2B5EF4-FFF2-40B4-BE49-F238E27FC236}">
                <a16:creationId xmlns:a16="http://schemas.microsoft.com/office/drawing/2014/main" id="{A7380E02-433D-1E4D-05A6-0A240627F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43" name="Google Shape;274;g35ee5cc475b_0_15">
            <a:extLst>
              <a:ext uri="{FF2B5EF4-FFF2-40B4-BE49-F238E27FC236}">
                <a16:creationId xmlns:a16="http://schemas.microsoft.com/office/drawing/2014/main" id="{7BC3EEC1-FABF-BC1C-F0A7-5A3E8A19DE3B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Modos de Acceso</a:t>
            </a:r>
          </a:p>
        </p:txBody>
      </p:sp>
    </p:spTree>
    <p:extLst>
      <p:ext uri="{BB962C8B-B14F-4D97-AF65-F5344CB8AC3E}">
        <p14:creationId xmlns:p14="http://schemas.microsoft.com/office/powerpoint/2010/main" val="1142914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74;g35ee5cc475b_0_15">
            <a:extLst>
              <a:ext uri="{FF2B5EF4-FFF2-40B4-BE49-F238E27FC236}">
                <a16:creationId xmlns:a16="http://schemas.microsoft.com/office/drawing/2014/main" id="{EBCE5E87-0E17-DA23-8ECF-8793F3FA137C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Modos de Acceso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4F94761-1355-14F9-D165-59C8AAF202B2}"/>
              </a:ext>
            </a:extLst>
          </p:cNvPr>
          <p:cNvGrpSpPr/>
          <p:nvPr/>
        </p:nvGrpSpPr>
        <p:grpSpPr>
          <a:xfrm>
            <a:off x="8528682" y="1608307"/>
            <a:ext cx="3330114" cy="3612204"/>
            <a:chOff x="8528682" y="1608307"/>
            <a:chExt cx="3330114" cy="3612204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8250FD22-7927-1619-36B7-7125FD52895A}"/>
                </a:ext>
              </a:extLst>
            </p:cNvPr>
            <p:cNvSpPr/>
            <p:nvPr/>
          </p:nvSpPr>
          <p:spPr>
            <a:xfrm>
              <a:off x="8528682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9B1AB18-F3CA-16E8-7BD8-FB8515DFFE77}"/>
                </a:ext>
              </a:extLst>
            </p:cNvPr>
            <p:cNvSpPr txBox="1"/>
            <p:nvPr/>
          </p:nvSpPr>
          <p:spPr>
            <a:xfrm>
              <a:off x="8528683" y="1692404"/>
              <a:ext cx="31910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Isolation Shared Access Mode</a:t>
              </a:r>
              <a:endParaRPr lang="es-ES" sz="16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B5EE87F-0CBD-1A9F-66FF-EF625BB1A818}"/>
                </a:ext>
              </a:extLst>
            </p:cNvPr>
            <p:cNvSpPr txBox="1"/>
            <p:nvPr/>
          </p:nvSpPr>
          <p:spPr>
            <a:xfrm>
              <a:off x="8667714" y="2767279"/>
              <a:ext cx="29130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Todos los usuarios comparten la 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misma identidad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técnica.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hay control de credenciales 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individuales.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soporta Unity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ni </a:t>
              </a:r>
              <a:r>
                <a:rPr lang="es-ES" sz="10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passthrough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  <a:endParaRPr lang="es-ES" sz="1200" dirty="0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4CAEB5E4-6201-BE1F-87DF-17BED1978709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=&gt; Ejemplo de contexto:</a:t>
              </a:r>
              <a:b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"Uso un </a:t>
              </a:r>
              <a:r>
                <a:rPr lang="es-ES" sz="900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antiguo para pruebas rápidas con datos no sensibles."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43" name="Imagen 42" descr="Icono&#10;&#10;El contenido generado por IA puede ser incorrecto.">
            <a:extLst>
              <a:ext uri="{FF2B5EF4-FFF2-40B4-BE49-F238E27FC236}">
                <a16:creationId xmlns:a16="http://schemas.microsoft.com/office/drawing/2014/main" id="{9E70179F-536C-62BE-9FDF-E60D548BC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332" y="2216103"/>
            <a:ext cx="433659" cy="433659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4E0C67C7-90D7-3484-39ED-854CAA537D67}"/>
              </a:ext>
            </a:extLst>
          </p:cNvPr>
          <p:cNvGrpSpPr/>
          <p:nvPr/>
        </p:nvGrpSpPr>
        <p:grpSpPr>
          <a:xfrm>
            <a:off x="472236" y="1608307"/>
            <a:ext cx="3191082" cy="3612204"/>
            <a:chOff x="8667714" y="1608307"/>
            <a:chExt cx="3191082" cy="3612204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2BF55CAF-8453-3308-0031-52B2464AEC0B}"/>
                </a:ext>
              </a:extLst>
            </p:cNvPr>
            <p:cNvSpPr/>
            <p:nvPr/>
          </p:nvSpPr>
          <p:spPr>
            <a:xfrm>
              <a:off x="8667714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5AD7E52-7A4D-0B6D-33E2-C18E88E31242}"/>
                </a:ext>
              </a:extLst>
            </p:cNvPr>
            <p:cNvSpPr txBox="1"/>
            <p:nvPr/>
          </p:nvSpPr>
          <p:spPr>
            <a:xfrm>
              <a:off x="8806745" y="1659770"/>
              <a:ext cx="29130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Single </a:t>
              </a:r>
              <a:r>
                <a:rPr lang="es-ES" sz="16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User</a:t>
              </a:r>
              <a:r>
                <a:rPr lang="es-E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Access </a:t>
              </a:r>
              <a:r>
                <a:rPr lang="es-ES" sz="16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endParaRPr lang="es-ES" sz="16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8695AC74-C817-10AB-7317-9C33A166BA02}"/>
                </a:ext>
              </a:extLst>
            </p:cNvPr>
            <p:cNvSpPr txBox="1"/>
            <p:nvPr/>
          </p:nvSpPr>
          <p:spPr>
            <a:xfrm>
              <a:off x="8715953" y="2767280"/>
              <a:ext cx="29130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Solo una identidad 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puede usarlo: el propietario.</a:t>
              </a:r>
              <a:b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endParaRPr lang="es-ES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Autenticación y permisos controlados al 100% por 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Unity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+ IAM.</a:t>
              </a:r>
              <a:b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endParaRPr lang="es-ES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Ideal para 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seguridad alta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, acceso a datos sensibles, ML, </a:t>
              </a:r>
              <a:r>
                <a:rPr lang="es-ES" sz="10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Service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10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Principals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  <a:endParaRPr lang="es-ES" sz="1200" dirty="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C2F1CB6D-3E61-FAED-C3B9-325FDD9E1F78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=&gt; Ejemplo de contexto:</a:t>
              </a:r>
              <a:b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"Estoy desarrollando un modelo de ML con acceso a datos sensibles: </a:t>
              </a:r>
              <a:r>
                <a:rPr lang="es-ES" sz="900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Single </a:t>
              </a:r>
              <a:r>
                <a:rPr lang="es-ES" sz="900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User</a:t>
              </a:r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."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49BDB-66F0-E180-E4F7-734B047D188C}"/>
              </a:ext>
            </a:extLst>
          </p:cNvPr>
          <p:cNvGrpSpPr/>
          <p:nvPr/>
        </p:nvGrpSpPr>
        <p:grpSpPr>
          <a:xfrm>
            <a:off x="4500459" y="1608307"/>
            <a:ext cx="3191082" cy="3612204"/>
            <a:chOff x="8667714" y="1608307"/>
            <a:chExt cx="3191082" cy="3612204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ADBA5893-224F-5352-4E40-BE15BD4E84C5}"/>
                </a:ext>
              </a:extLst>
            </p:cNvPr>
            <p:cNvSpPr/>
            <p:nvPr/>
          </p:nvSpPr>
          <p:spPr>
            <a:xfrm>
              <a:off x="8667714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DCC0CCDC-07AA-C60A-3825-331CEA9B73B4}"/>
                </a:ext>
              </a:extLst>
            </p:cNvPr>
            <p:cNvSpPr txBox="1"/>
            <p:nvPr/>
          </p:nvSpPr>
          <p:spPr>
            <a:xfrm>
              <a:off x="9104994" y="1653870"/>
              <a:ext cx="2461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Shared</a:t>
              </a:r>
              <a:r>
                <a:rPr lang="es-E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Access </a:t>
              </a:r>
              <a:r>
                <a:rPr lang="es-ES" sz="16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endParaRPr lang="es-ES" sz="16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8B9D147A-1443-776D-DC76-2A7DB7B931B3}"/>
                </a:ext>
              </a:extLst>
            </p:cNvPr>
            <p:cNvSpPr txBox="1"/>
            <p:nvPr/>
          </p:nvSpPr>
          <p:spPr>
            <a:xfrm>
              <a:off x="8748379" y="2767279"/>
              <a:ext cx="29130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Varias personas 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pueden usar el mismo </a:t>
              </a:r>
              <a:r>
                <a:rPr lang="es-ES" sz="10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Cada notebook se ejecuta con la 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identidad real del usuario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Permite 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colaboración</a:t>
              </a:r>
              <a:r>
                <a:rPr lang="es-ES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y mantiene permisos individuales.</a:t>
              </a:r>
              <a:endParaRPr lang="es-ES" sz="1200" dirty="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28C9CE1C-78A2-0B2C-50EA-95D2E703C46D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Symbol" panose="05050102010706020507" pitchFamily="18" charset="2"/>
                <a:buChar char="Þ"/>
              </a:pPr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Ejemplo de contexto:</a:t>
              </a:r>
            </a:p>
            <a:p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"Estamos editando notebooks en equipo y cada uno ve solo lo que tiene permiso—</a:t>
              </a:r>
              <a:r>
                <a:rPr lang="es-ES" sz="900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Shared</a:t>
              </a:r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900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r>
                <a:rPr lang="es-ES" sz="900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."</a:t>
              </a:r>
            </a:p>
          </p:txBody>
        </p:sp>
      </p:grpSp>
      <p:pic>
        <p:nvPicPr>
          <p:cNvPr id="33" name="Imagen 32" descr="Icono&#10;&#10;El contenido generado por IA puede ser incorrecto.">
            <a:extLst>
              <a:ext uri="{FF2B5EF4-FFF2-40B4-BE49-F238E27FC236}">
                <a16:creationId xmlns:a16="http://schemas.microsoft.com/office/drawing/2014/main" id="{305B746E-A3E0-AE97-ADA1-04B686C8E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628" y="2219537"/>
            <a:ext cx="394235" cy="394235"/>
          </a:xfrm>
          <a:prstGeom prst="rect">
            <a:avLst/>
          </a:prstGeom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B030FF2D-FF2E-CAB2-9BE4-D0CC3857E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723" y="4943581"/>
            <a:ext cx="634921" cy="634921"/>
          </a:xfrm>
          <a:prstGeom prst="rect">
            <a:avLst/>
          </a:prstGeom>
        </p:spPr>
      </p:pic>
      <p:pic>
        <p:nvPicPr>
          <p:cNvPr id="37" name="Imagen 36" descr="Icono&#10;&#10;El contenido generado por IA puede ser incorrecto.">
            <a:extLst>
              <a:ext uri="{FF2B5EF4-FFF2-40B4-BE49-F238E27FC236}">
                <a16:creationId xmlns:a16="http://schemas.microsoft.com/office/drawing/2014/main" id="{EFBD8DB6-DE9B-B29A-62D0-9F306D43D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170" y="2216102"/>
            <a:ext cx="433659" cy="433659"/>
          </a:xfrm>
          <a:prstGeom prst="rect">
            <a:avLst/>
          </a:prstGeom>
        </p:spPr>
      </p:pic>
      <p:pic>
        <p:nvPicPr>
          <p:cNvPr id="39" name="Imagen 38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58596F1F-1378-E80D-7979-99E872094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620" y="5929796"/>
            <a:ext cx="634921" cy="63492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72DA4F8-E934-CB13-5530-CB99C4B27223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C252FC14-E457-A239-A269-744833257B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D928A2AD-CA66-1DDB-0AEA-A4FBC1915EB1}"/>
              </a:ext>
            </a:extLst>
          </p:cNvPr>
          <p:cNvSpPr/>
          <p:nvPr/>
        </p:nvSpPr>
        <p:spPr>
          <a:xfrm>
            <a:off x="1567261" y="2151832"/>
            <a:ext cx="560968" cy="56096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60B5B55-B13F-903D-61C3-FDCB7AA6C943}"/>
              </a:ext>
            </a:extLst>
          </p:cNvPr>
          <p:cNvSpPr/>
          <p:nvPr/>
        </p:nvSpPr>
        <p:spPr>
          <a:xfrm>
            <a:off x="5815515" y="2151832"/>
            <a:ext cx="560968" cy="56096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F0AE767-FED7-B01C-EB1D-5844304EF798}"/>
              </a:ext>
            </a:extLst>
          </p:cNvPr>
          <p:cNvSpPr/>
          <p:nvPr/>
        </p:nvSpPr>
        <p:spPr>
          <a:xfrm>
            <a:off x="9755677" y="2167152"/>
            <a:ext cx="560968" cy="56096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5137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C3822A13-ACA8-A6B5-A41D-D3A73B01895A}"/>
              </a:ext>
            </a:extLst>
          </p:cNvPr>
          <p:cNvSpPr/>
          <p:nvPr/>
        </p:nvSpPr>
        <p:spPr>
          <a:xfrm>
            <a:off x="3658776" y="1577606"/>
            <a:ext cx="2259774" cy="3612204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5C249331-28CE-59F3-29D9-81D46F45854D}"/>
              </a:ext>
            </a:extLst>
          </p:cNvPr>
          <p:cNvSpPr/>
          <p:nvPr/>
        </p:nvSpPr>
        <p:spPr>
          <a:xfrm>
            <a:off x="6263516" y="1577606"/>
            <a:ext cx="2259774" cy="3612204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EF946A6F-91BB-5280-0837-E1AE5E9EA456}"/>
              </a:ext>
            </a:extLst>
          </p:cNvPr>
          <p:cNvSpPr/>
          <p:nvPr/>
        </p:nvSpPr>
        <p:spPr>
          <a:xfrm>
            <a:off x="8868256" y="1577606"/>
            <a:ext cx="2259774" cy="3612204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2AE0C47-8374-494B-0CA8-CEDD2BBF0400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49C9CD71-26E9-A9DC-311A-0156E9A77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5B89A1BC-E8C8-8232-1071-35FE1E068790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Tipos de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DC950FD-CD85-C717-C952-D9D381A4A95D}"/>
              </a:ext>
            </a:extLst>
          </p:cNvPr>
          <p:cNvSpPr/>
          <p:nvPr/>
        </p:nvSpPr>
        <p:spPr>
          <a:xfrm>
            <a:off x="904036" y="1577606"/>
            <a:ext cx="2259774" cy="3612204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dirty="0"/>
          </a:p>
        </p:txBody>
      </p:sp>
      <p:pic>
        <p:nvPicPr>
          <p:cNvPr id="32" name="Imagen 31" descr="Texto&#10;&#10;El contenido generado por IA puede ser incorrecto.">
            <a:extLst>
              <a:ext uri="{FF2B5EF4-FFF2-40B4-BE49-F238E27FC236}">
                <a16:creationId xmlns:a16="http://schemas.microsoft.com/office/drawing/2014/main" id="{C2D37883-62CD-EC1A-A770-649D88B5E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833" y="1919912"/>
            <a:ext cx="433659" cy="433659"/>
          </a:xfrm>
          <a:prstGeom prst="rect">
            <a:avLst/>
          </a:prstGeom>
        </p:spPr>
      </p:pic>
      <p:pic>
        <p:nvPicPr>
          <p:cNvPr id="36" name="Imagen 35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4F962AF7-9CCE-6768-9519-8942B806C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573" y="1896061"/>
            <a:ext cx="433659" cy="433659"/>
          </a:xfrm>
          <a:prstGeom prst="rect">
            <a:avLst/>
          </a:prstGeom>
        </p:spPr>
      </p:pic>
      <p:pic>
        <p:nvPicPr>
          <p:cNvPr id="38" name="Imagen 37" descr="Texto, Icono&#10;&#10;El contenido generado por IA puede ser incorrecto.">
            <a:extLst>
              <a:ext uri="{FF2B5EF4-FFF2-40B4-BE49-F238E27FC236}">
                <a16:creationId xmlns:a16="http://schemas.microsoft.com/office/drawing/2014/main" id="{6C6F3BBE-728B-6232-6098-653606DA95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984" y="1874378"/>
            <a:ext cx="524728" cy="524728"/>
          </a:xfrm>
          <a:prstGeom prst="rect">
            <a:avLst/>
          </a:prstGeom>
        </p:spPr>
      </p:pic>
      <p:pic>
        <p:nvPicPr>
          <p:cNvPr id="40" name="Imagen 39" descr="Icono&#10;&#10;El contenido generado por IA puede ser incorrecto.">
            <a:extLst>
              <a:ext uri="{FF2B5EF4-FFF2-40B4-BE49-F238E27FC236}">
                <a16:creationId xmlns:a16="http://schemas.microsoft.com/office/drawing/2014/main" id="{B575D44E-2952-773A-EE4F-4503DAEA13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630" y="1843133"/>
            <a:ext cx="477025" cy="477025"/>
          </a:xfrm>
          <a:prstGeom prst="rect">
            <a:avLst/>
          </a:prstGeom>
        </p:spPr>
      </p:pic>
      <p:sp>
        <p:nvSpPr>
          <p:cNvPr id="51" name="Elipse 50">
            <a:extLst>
              <a:ext uri="{FF2B5EF4-FFF2-40B4-BE49-F238E27FC236}">
                <a16:creationId xmlns:a16="http://schemas.microsoft.com/office/drawing/2014/main" id="{5443F957-85E8-45B4-6A8B-D6E2FFCCF75D}"/>
              </a:ext>
            </a:extLst>
          </p:cNvPr>
          <p:cNvSpPr/>
          <p:nvPr/>
        </p:nvSpPr>
        <p:spPr>
          <a:xfrm>
            <a:off x="1561645" y="1811383"/>
            <a:ext cx="787400" cy="787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92E22A-81DC-21B2-DA54-AE32E9D4EE74}"/>
              </a:ext>
            </a:extLst>
          </p:cNvPr>
          <p:cNvSpPr/>
          <p:nvPr/>
        </p:nvSpPr>
        <p:spPr>
          <a:xfrm>
            <a:off x="4394962" y="1743041"/>
            <a:ext cx="787400" cy="787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E05CEF2E-96C3-C590-EDEF-D3AE066A8AE8}"/>
              </a:ext>
            </a:extLst>
          </p:cNvPr>
          <p:cNvSpPr/>
          <p:nvPr/>
        </p:nvSpPr>
        <p:spPr>
          <a:xfrm>
            <a:off x="6999702" y="1743041"/>
            <a:ext cx="787400" cy="787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FEF46CF8-1DF1-4072-A8C1-49DC1081DF98}"/>
              </a:ext>
            </a:extLst>
          </p:cNvPr>
          <p:cNvSpPr/>
          <p:nvPr/>
        </p:nvSpPr>
        <p:spPr>
          <a:xfrm>
            <a:off x="9604442" y="1719190"/>
            <a:ext cx="787400" cy="787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52A29A8-C1D3-4BA8-590F-5DA350321396}"/>
              </a:ext>
            </a:extLst>
          </p:cNvPr>
          <p:cNvSpPr txBox="1"/>
          <p:nvPr/>
        </p:nvSpPr>
        <p:spPr>
          <a:xfrm>
            <a:off x="970298" y="2678671"/>
            <a:ext cx="2127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All-Purpose</a:t>
            </a:r>
            <a:r>
              <a:rPr lang="es-ES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 </a:t>
            </a:r>
            <a:r>
              <a:rPr lang="es-ES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Clusters</a:t>
            </a:r>
            <a:endParaRPr lang="es-ES" sz="1400" dirty="0">
              <a:solidFill>
                <a:schemeClr val="bg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BBF6395-619A-6544-19A0-75669725521D}"/>
              </a:ext>
            </a:extLst>
          </p:cNvPr>
          <p:cNvSpPr txBox="1"/>
          <p:nvPr/>
        </p:nvSpPr>
        <p:spPr>
          <a:xfrm>
            <a:off x="3725037" y="2678670"/>
            <a:ext cx="2127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JOB </a:t>
            </a:r>
            <a:r>
              <a:rPr lang="es-ES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Clusters</a:t>
            </a:r>
            <a:endParaRPr lang="es-ES" sz="1400" dirty="0">
              <a:solidFill>
                <a:schemeClr val="bg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28EED7C-8601-2591-9785-8A8AA7556F85}"/>
              </a:ext>
            </a:extLst>
          </p:cNvPr>
          <p:cNvSpPr txBox="1"/>
          <p:nvPr/>
        </p:nvSpPr>
        <p:spPr>
          <a:xfrm>
            <a:off x="6329777" y="2678669"/>
            <a:ext cx="2127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Clusters</a:t>
            </a:r>
            <a:r>
              <a:rPr lang="es-ES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 Pools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CE2742E-F9E6-DF23-F5FC-D1874A4549BF}"/>
              </a:ext>
            </a:extLst>
          </p:cNvPr>
          <p:cNvSpPr txBox="1"/>
          <p:nvPr/>
        </p:nvSpPr>
        <p:spPr>
          <a:xfrm>
            <a:off x="8934517" y="2678669"/>
            <a:ext cx="2127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SQL </a:t>
            </a:r>
            <a:r>
              <a:rPr lang="es-ES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Warehouses</a:t>
            </a:r>
            <a:endParaRPr lang="es-ES" sz="1400" dirty="0">
              <a:solidFill>
                <a:schemeClr val="bg1"/>
              </a:solidFill>
              <a:latin typeface="Montserrat SemiBold" panose="00000700000000000000" pitchFamily="2" charset="0"/>
            </a:endParaRP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62B6C2F-6384-F8B9-27BF-C1362836C5DD}"/>
              </a:ext>
            </a:extLst>
          </p:cNvPr>
          <p:cNvCxnSpPr/>
          <p:nvPr/>
        </p:nvCxnSpPr>
        <p:spPr>
          <a:xfrm>
            <a:off x="904036" y="3092450"/>
            <a:ext cx="225977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A1C634EE-F2B8-23BA-E1E3-E8153C3F7D86}"/>
              </a:ext>
            </a:extLst>
          </p:cNvPr>
          <p:cNvCxnSpPr/>
          <p:nvPr/>
        </p:nvCxnSpPr>
        <p:spPr>
          <a:xfrm>
            <a:off x="3658776" y="3086100"/>
            <a:ext cx="225977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CDDA0BD2-0387-AF3B-6E73-0C6EE4C9600E}"/>
              </a:ext>
            </a:extLst>
          </p:cNvPr>
          <p:cNvCxnSpPr/>
          <p:nvPr/>
        </p:nvCxnSpPr>
        <p:spPr>
          <a:xfrm>
            <a:off x="6263516" y="3079750"/>
            <a:ext cx="225977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E8622229-2FE0-EB51-6C53-C912966F414E}"/>
              </a:ext>
            </a:extLst>
          </p:cNvPr>
          <p:cNvCxnSpPr/>
          <p:nvPr/>
        </p:nvCxnSpPr>
        <p:spPr>
          <a:xfrm>
            <a:off x="8868256" y="3079750"/>
            <a:ext cx="225977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3978C81C-4D73-F46A-5F0E-65B37DDC8644}"/>
              </a:ext>
            </a:extLst>
          </p:cNvPr>
          <p:cNvSpPr txBox="1"/>
          <p:nvPr/>
        </p:nvSpPr>
        <p:spPr>
          <a:xfrm>
            <a:off x="904036" y="3429000"/>
            <a:ext cx="2325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ideales para el </a:t>
            </a:r>
            <a:r>
              <a:rPr lang="es-ES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desarrollo interactivo</a:t>
            </a: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, las pruebas y la colaboración.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Espacio de trabajo compartido para </a:t>
            </a:r>
            <a:r>
              <a:rPr lang="es-ES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crear y experimentar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7D767238-1782-DC77-FE41-6C28CAACC0A1}"/>
              </a:ext>
            </a:extLst>
          </p:cNvPr>
          <p:cNvSpPr txBox="1"/>
          <p:nvPr/>
        </p:nvSpPr>
        <p:spPr>
          <a:xfrm>
            <a:off x="3656215" y="3383708"/>
            <a:ext cx="23256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diseñados específicamente para ejecutar </a:t>
            </a:r>
            <a:r>
              <a:rPr lang="es-ES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tareas programadas</a:t>
            </a: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 o activadas.</a:t>
            </a:r>
            <a:b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lang="es-ES" sz="1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Se activan para la tarea y </a:t>
            </a:r>
            <a:r>
              <a:rPr lang="es-ES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se apagan automáticamente cuando terminan</a:t>
            </a: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, lo que los hace ideales para ETL de producción.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AF6D14B-7689-77AF-DF37-E491FFA21C67}"/>
              </a:ext>
            </a:extLst>
          </p:cNvPr>
          <p:cNvSpPr txBox="1"/>
          <p:nvPr/>
        </p:nvSpPr>
        <p:spPr>
          <a:xfrm>
            <a:off x="6263516" y="3429000"/>
            <a:ext cx="23256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una forma de precalentar los recursos informáticos para que los clústeres </a:t>
            </a:r>
            <a:r>
              <a:rPr lang="es-ES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se inicien más rápido.</a:t>
            </a: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Perfectos para entornos con </a:t>
            </a:r>
            <a:r>
              <a:rPr lang="es-ES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trabajos cortos frecuentes</a:t>
            </a: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873A251-68F1-BA76-65A9-D34DF90438D0}"/>
              </a:ext>
            </a:extLst>
          </p:cNvPr>
          <p:cNvSpPr txBox="1"/>
          <p:nvPr/>
        </p:nvSpPr>
        <p:spPr>
          <a:xfrm>
            <a:off x="8868256" y="3705782"/>
            <a:ext cx="2325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bg1"/>
                </a:solidFill>
                <a:latin typeface="Montserrat" panose="00000500000000000000" pitchFamily="2" charset="0"/>
              </a:rPr>
              <a:t>optimizados para consultas SQL y herramientas de BI.</a:t>
            </a:r>
          </a:p>
        </p:txBody>
      </p:sp>
    </p:spTree>
    <p:extLst>
      <p:ext uri="{BB962C8B-B14F-4D97-AF65-F5344CB8AC3E}">
        <p14:creationId xmlns:p14="http://schemas.microsoft.com/office/powerpoint/2010/main" val="282576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F11F9D-A021-B346-621C-499DBC817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7AFEC39-8D2C-AC82-688E-453B6350C7BC}"/>
              </a:ext>
            </a:extLst>
          </p:cNvPr>
          <p:cNvSpPr txBox="1"/>
          <p:nvPr/>
        </p:nvSpPr>
        <p:spPr>
          <a:xfrm>
            <a:off x="4007768" y="2537902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ARQUITECTURA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DATABRICKS</a:t>
            </a:r>
          </a:p>
        </p:txBody>
      </p:sp>
    </p:spTree>
    <p:extLst>
      <p:ext uri="{BB962C8B-B14F-4D97-AF65-F5344CB8AC3E}">
        <p14:creationId xmlns:p14="http://schemas.microsoft.com/office/powerpoint/2010/main" val="219971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C207-B2F5-4757-F34B-26504C75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965E18E-19E7-F3F4-E29A-2A544AD52D84}"/>
              </a:ext>
            </a:extLst>
          </p:cNvPr>
          <p:cNvGrpSpPr/>
          <p:nvPr/>
        </p:nvGrpSpPr>
        <p:grpSpPr>
          <a:xfrm>
            <a:off x="6168008" y="1772817"/>
            <a:ext cx="3960440" cy="3241721"/>
            <a:chOff x="395001" y="2473527"/>
            <a:chExt cx="3816959" cy="2224149"/>
          </a:xfrm>
        </p:grpSpPr>
        <p:sp>
          <p:nvSpPr>
            <p:cNvPr id="5" name="Google Shape;2204;p106">
              <a:extLst>
                <a:ext uri="{FF2B5EF4-FFF2-40B4-BE49-F238E27FC236}">
                  <a16:creationId xmlns:a16="http://schemas.microsoft.com/office/drawing/2014/main" id="{55D0B4F0-EA46-F99F-06F4-E2AC20B44B2C}"/>
                </a:ext>
              </a:extLst>
            </p:cNvPr>
            <p:cNvSpPr/>
            <p:nvPr/>
          </p:nvSpPr>
          <p:spPr>
            <a:xfrm>
              <a:off x="1909074" y="2473527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B3E1362-6815-9AFB-C3DE-EEE38C37CB60}"/>
                </a:ext>
              </a:extLst>
            </p:cNvPr>
            <p:cNvSpPr txBox="1"/>
            <p:nvPr/>
          </p:nvSpPr>
          <p:spPr>
            <a:xfrm>
              <a:off x="1889154" y="2539961"/>
              <a:ext cx="864096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METASTORE</a:t>
              </a:r>
            </a:p>
          </p:txBody>
        </p:sp>
        <p:sp>
          <p:nvSpPr>
            <p:cNvPr id="7" name="Google Shape;2204;p106">
              <a:extLst>
                <a:ext uri="{FF2B5EF4-FFF2-40B4-BE49-F238E27FC236}">
                  <a16:creationId xmlns:a16="http://schemas.microsoft.com/office/drawing/2014/main" id="{5411CB6E-3DF9-8A3B-644D-A5364E7F0A4B}"/>
                </a:ext>
              </a:extLst>
            </p:cNvPr>
            <p:cNvSpPr/>
            <p:nvPr/>
          </p:nvSpPr>
          <p:spPr>
            <a:xfrm>
              <a:off x="1909074" y="3017535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182A5E1-57C4-FA51-EE2F-76F2E3BD50E5}"/>
                </a:ext>
              </a:extLst>
            </p:cNvPr>
            <p:cNvSpPr txBox="1"/>
            <p:nvPr/>
          </p:nvSpPr>
          <p:spPr>
            <a:xfrm>
              <a:off x="1909074" y="3097903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</a:p>
          </p:txBody>
        </p:sp>
        <p:sp>
          <p:nvSpPr>
            <p:cNvPr id="9" name="Google Shape;2204;p106">
              <a:extLst>
                <a:ext uri="{FF2B5EF4-FFF2-40B4-BE49-F238E27FC236}">
                  <a16:creationId xmlns:a16="http://schemas.microsoft.com/office/drawing/2014/main" id="{33820760-7E40-527F-01F7-5B0E6377E939}"/>
                </a:ext>
              </a:extLst>
            </p:cNvPr>
            <p:cNvSpPr/>
            <p:nvPr/>
          </p:nvSpPr>
          <p:spPr>
            <a:xfrm>
              <a:off x="1907169" y="360460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9FB0A2F-D5EB-0B1E-ED34-C0FEC365E6DA}"/>
                </a:ext>
              </a:extLst>
            </p:cNvPr>
            <p:cNvSpPr txBox="1"/>
            <p:nvPr/>
          </p:nvSpPr>
          <p:spPr>
            <a:xfrm>
              <a:off x="1907169" y="3684972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SCHEMA</a:t>
              </a:r>
            </a:p>
          </p:txBody>
        </p:sp>
        <p:sp>
          <p:nvSpPr>
            <p:cNvPr id="11" name="Google Shape;2204;p106">
              <a:extLst>
                <a:ext uri="{FF2B5EF4-FFF2-40B4-BE49-F238E27FC236}">
                  <a16:creationId xmlns:a16="http://schemas.microsoft.com/office/drawing/2014/main" id="{4B7AE8BD-16E5-8ADB-71FE-EC8A92813567}"/>
                </a:ext>
              </a:extLst>
            </p:cNvPr>
            <p:cNvSpPr/>
            <p:nvPr/>
          </p:nvSpPr>
          <p:spPr>
            <a:xfrm>
              <a:off x="395001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1E77B5F-AC15-2612-E680-851D8B7D5307}"/>
                </a:ext>
              </a:extLst>
            </p:cNvPr>
            <p:cNvSpPr txBox="1"/>
            <p:nvPr/>
          </p:nvSpPr>
          <p:spPr>
            <a:xfrm>
              <a:off x="395001" y="4429732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TABLE</a:t>
              </a:r>
            </a:p>
          </p:txBody>
        </p:sp>
        <p:sp>
          <p:nvSpPr>
            <p:cNvPr id="17" name="Google Shape;2204;p106">
              <a:extLst>
                <a:ext uri="{FF2B5EF4-FFF2-40B4-BE49-F238E27FC236}">
                  <a16:creationId xmlns:a16="http://schemas.microsoft.com/office/drawing/2014/main" id="{4121D988-F05F-DEC8-BD59-26352DA06661}"/>
                </a:ext>
              </a:extLst>
            </p:cNvPr>
            <p:cNvSpPr/>
            <p:nvPr/>
          </p:nvSpPr>
          <p:spPr>
            <a:xfrm>
              <a:off x="1403113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337867A-EE55-0D71-A3AB-E0D80C3DBBBE}"/>
                </a:ext>
              </a:extLst>
            </p:cNvPr>
            <p:cNvSpPr txBox="1"/>
            <p:nvPr/>
          </p:nvSpPr>
          <p:spPr>
            <a:xfrm>
              <a:off x="1403113" y="4429732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VIEW</a:t>
              </a:r>
            </a:p>
          </p:txBody>
        </p:sp>
        <p:sp>
          <p:nvSpPr>
            <p:cNvPr id="19" name="Google Shape;2204;p106">
              <a:extLst>
                <a:ext uri="{FF2B5EF4-FFF2-40B4-BE49-F238E27FC236}">
                  <a16:creationId xmlns:a16="http://schemas.microsoft.com/office/drawing/2014/main" id="{4E87FAE6-E6EB-7C14-6367-EC2F08D5CEB6}"/>
                </a:ext>
              </a:extLst>
            </p:cNvPr>
            <p:cNvSpPr/>
            <p:nvPr/>
          </p:nvSpPr>
          <p:spPr>
            <a:xfrm>
              <a:off x="2411760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D10C964-35C3-67E8-3E68-5B283A52438B}"/>
                </a:ext>
              </a:extLst>
            </p:cNvPr>
            <p:cNvSpPr txBox="1"/>
            <p:nvPr/>
          </p:nvSpPr>
          <p:spPr>
            <a:xfrm>
              <a:off x="2411760" y="4416106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VOLUME</a:t>
              </a:r>
            </a:p>
          </p:txBody>
        </p:sp>
        <p:sp>
          <p:nvSpPr>
            <p:cNvPr id="21" name="Google Shape;2204;p106">
              <a:extLst>
                <a:ext uri="{FF2B5EF4-FFF2-40B4-BE49-F238E27FC236}">
                  <a16:creationId xmlns:a16="http://schemas.microsoft.com/office/drawing/2014/main" id="{3FD96C8C-D324-C70F-6CAF-661311CB7A44}"/>
                </a:ext>
              </a:extLst>
            </p:cNvPr>
            <p:cNvSpPr/>
            <p:nvPr/>
          </p:nvSpPr>
          <p:spPr>
            <a:xfrm>
              <a:off x="3419872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2945474-89D3-60DD-1322-2BBCD2006BCB}"/>
                </a:ext>
              </a:extLst>
            </p:cNvPr>
            <p:cNvSpPr txBox="1"/>
            <p:nvPr/>
          </p:nvSpPr>
          <p:spPr>
            <a:xfrm>
              <a:off x="3419872" y="4416106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FUNCTION</a:t>
              </a: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B236CB42-297E-E5FC-D9F0-D604E91AB2B1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2305118" y="2821839"/>
              <a:ext cx="0" cy="1956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AB80FBB4-7DFB-E7CE-BE92-8EFC0C37390D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2303213" y="3365847"/>
              <a:ext cx="1905" cy="2387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r 31">
              <a:extLst>
                <a:ext uri="{FF2B5EF4-FFF2-40B4-BE49-F238E27FC236}">
                  <a16:creationId xmlns:a16="http://schemas.microsoft.com/office/drawing/2014/main" id="{637E8983-DD7E-5783-40CC-299B42F5E7F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rot="5400000">
              <a:off x="1348905" y="3395056"/>
              <a:ext cx="396448" cy="151216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E4D19E2D-C67B-067B-0A95-B07B380A9864}"/>
                </a:ext>
              </a:extLst>
            </p:cNvPr>
            <p:cNvCxnSpPr>
              <a:cxnSpLocks/>
              <a:stCxn id="9" idx="2"/>
              <a:endCxn id="17" idx="0"/>
            </p:cNvCxnSpPr>
            <p:nvPr/>
          </p:nvCxnSpPr>
          <p:spPr>
            <a:xfrm rot="5400000">
              <a:off x="1852961" y="3899112"/>
              <a:ext cx="396448" cy="50405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angular 35">
              <a:extLst>
                <a:ext uri="{FF2B5EF4-FFF2-40B4-BE49-F238E27FC236}">
                  <a16:creationId xmlns:a16="http://schemas.microsoft.com/office/drawing/2014/main" id="{13DEE937-FD62-921F-D197-D2F0B56FED9A}"/>
                </a:ext>
              </a:extLst>
            </p:cNvPr>
            <p:cNvCxnSpPr>
              <a:cxnSpLocks/>
              <a:stCxn id="9" idx="2"/>
              <a:endCxn id="19" idx="0"/>
            </p:cNvCxnSpPr>
            <p:nvPr/>
          </p:nvCxnSpPr>
          <p:spPr>
            <a:xfrm rot="16200000" flipH="1">
              <a:off x="2364097" y="3892031"/>
              <a:ext cx="382822" cy="50459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: angular 38">
              <a:extLst>
                <a:ext uri="{FF2B5EF4-FFF2-40B4-BE49-F238E27FC236}">
                  <a16:creationId xmlns:a16="http://schemas.microsoft.com/office/drawing/2014/main" id="{B300E3EE-4B4F-C265-09F8-FAC884CB5EFB}"/>
                </a:ext>
              </a:extLst>
            </p:cNvPr>
            <p:cNvCxnSpPr>
              <a:cxnSpLocks/>
              <a:stCxn id="9" idx="2"/>
              <a:endCxn id="21" idx="0"/>
            </p:cNvCxnSpPr>
            <p:nvPr/>
          </p:nvCxnSpPr>
          <p:spPr>
            <a:xfrm rot="16200000" flipH="1">
              <a:off x="2868153" y="3387975"/>
              <a:ext cx="382822" cy="1512703"/>
            </a:xfrm>
            <a:prstGeom prst="bentConnector3">
              <a:avLst>
                <a:gd name="adj1" fmla="val 500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Google Shape;2204;p106">
            <a:extLst>
              <a:ext uri="{FF2B5EF4-FFF2-40B4-BE49-F238E27FC236}">
                <a16:creationId xmlns:a16="http://schemas.microsoft.com/office/drawing/2014/main" id="{610DEF20-929A-09E9-8E31-1B77FA2D48F7}"/>
              </a:ext>
            </a:extLst>
          </p:cNvPr>
          <p:cNvSpPr/>
          <p:nvPr/>
        </p:nvSpPr>
        <p:spPr>
          <a:xfrm>
            <a:off x="1116330" y="1412777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algn="ctr"/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E31528-EF3D-AC11-FB7F-26B0FF991974}"/>
              </a:ext>
            </a:extLst>
          </p:cNvPr>
          <p:cNvSpPr txBox="1"/>
          <p:nvPr/>
        </p:nvSpPr>
        <p:spPr>
          <a:xfrm>
            <a:off x="1116331" y="1524746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1 — Catálogo </a:t>
            </a:r>
            <a:r>
              <a:rPr lang="es-ES" sz="900" dirty="0">
                <a:latin typeface="Montserrat" panose="00000500000000000000" pitchFamily="2" charset="0"/>
              </a:rPr>
              <a:t>(máximo nivel de organización y gobernanza)Agrupa y aísla los recursos de datos a nivel corporativo. Normalmente refleja unidades organizativas, entornos (</a:t>
            </a:r>
            <a:r>
              <a:rPr lang="es-ES" sz="900" dirty="0" err="1">
                <a:latin typeface="Montserrat" panose="00000500000000000000" pitchFamily="2" charset="0"/>
              </a:rPr>
              <a:t>dev</a:t>
            </a:r>
            <a:r>
              <a:rPr lang="es-ES" sz="900" dirty="0">
                <a:latin typeface="Montserrat" panose="00000500000000000000" pitchFamily="2" charset="0"/>
              </a:rPr>
              <a:t>/test/</a:t>
            </a:r>
            <a:r>
              <a:rPr lang="es-ES" sz="900" dirty="0" err="1">
                <a:latin typeface="Montserrat" panose="00000500000000000000" pitchFamily="2" charset="0"/>
              </a:rPr>
              <a:t>prod</a:t>
            </a:r>
            <a:r>
              <a:rPr lang="es-ES" sz="900" dirty="0">
                <a:latin typeface="Montserrat" panose="00000500000000000000" pitchFamily="2" charset="0"/>
              </a:rPr>
              <a:t>) o dominios globales.</a:t>
            </a:r>
          </a:p>
        </p:txBody>
      </p:sp>
      <p:sp>
        <p:nvSpPr>
          <p:cNvPr id="14" name="Google Shape;2204;p106">
            <a:extLst>
              <a:ext uri="{FF2B5EF4-FFF2-40B4-BE49-F238E27FC236}">
                <a16:creationId xmlns:a16="http://schemas.microsoft.com/office/drawing/2014/main" id="{66CCCBA8-1EEF-7300-5D8B-3FD585DC3AE5}"/>
              </a:ext>
            </a:extLst>
          </p:cNvPr>
          <p:cNvSpPr/>
          <p:nvPr/>
        </p:nvSpPr>
        <p:spPr>
          <a:xfrm>
            <a:off x="1129954" y="2679727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algn="ctr"/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EF5BE7-B6B9-F854-BAC2-429EDF794E67}"/>
              </a:ext>
            </a:extLst>
          </p:cNvPr>
          <p:cNvSpPr txBox="1"/>
          <p:nvPr/>
        </p:nvSpPr>
        <p:spPr>
          <a:xfrm>
            <a:off x="1129955" y="2791696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2 — Esquema </a:t>
            </a:r>
            <a:r>
              <a:rPr lang="es-ES" sz="900" dirty="0">
                <a:latin typeface="Montserrat" panose="00000500000000000000" pitchFamily="2" charset="0"/>
              </a:rPr>
              <a:t>(espacio lógico de trabajo por proyecto o equipo) Subdivisión dentro del catálogo para organizar datos por caso de uso, área funcional o equipo de trabajo, aislando su contexto operativo.</a:t>
            </a:r>
          </a:p>
        </p:txBody>
      </p:sp>
      <p:sp>
        <p:nvSpPr>
          <p:cNvPr id="16" name="Google Shape;2204;p106">
            <a:extLst>
              <a:ext uri="{FF2B5EF4-FFF2-40B4-BE49-F238E27FC236}">
                <a16:creationId xmlns:a16="http://schemas.microsoft.com/office/drawing/2014/main" id="{AAB96288-4817-7CD6-7EE5-10C0529EE7CE}"/>
              </a:ext>
            </a:extLst>
          </p:cNvPr>
          <p:cNvSpPr/>
          <p:nvPr/>
        </p:nvSpPr>
        <p:spPr>
          <a:xfrm>
            <a:off x="1125049" y="3946677"/>
            <a:ext cx="3583310" cy="1534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98197C-4B42-8E66-1F4D-04077B82EC00}"/>
              </a:ext>
            </a:extLst>
          </p:cNvPr>
          <p:cNvSpPr txBox="1"/>
          <p:nvPr/>
        </p:nvSpPr>
        <p:spPr>
          <a:xfrm>
            <a:off x="1196431" y="4064925"/>
            <a:ext cx="351130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3 — Objetos </a:t>
            </a:r>
            <a:r>
              <a:rPr lang="es-ES" sz="900" dirty="0">
                <a:latin typeface="Montserrat" panose="00000500000000000000" pitchFamily="2" charset="0"/>
              </a:rPr>
              <a:t>(donde realmente residen o se consumen los datos)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Elementos concretos dentro del esquema: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Tablas → datos estructurados gestionados por UC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Vistas → consultas reutilizables y gobernadas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Volúmenes → archivos crudos o semiestructurados en </a:t>
            </a:r>
            <a:r>
              <a:rPr lang="es-ES" sz="900" dirty="0" err="1">
                <a:latin typeface="Montserrat" panose="00000500000000000000" pitchFamily="2" charset="0"/>
              </a:rPr>
              <a:t>cloud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storage</a:t>
            </a:r>
            <a:endParaRPr lang="es-ES" sz="900" dirty="0">
              <a:latin typeface="Montserrat" panose="00000500000000000000" pitchFamily="2" charset="0"/>
            </a:endParaRPr>
          </a:p>
          <a:p>
            <a:r>
              <a:rPr lang="es-ES" sz="900" dirty="0">
                <a:latin typeface="Montserrat" panose="00000500000000000000" pitchFamily="2" charset="0"/>
              </a:rPr>
              <a:t>Funciones → lógica reutilizable para transformar o proteger datos</a:t>
            </a:r>
          </a:p>
        </p:txBody>
      </p:sp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170B64BA-FFD5-822B-C0EE-11267A485A28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Arquitectura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Objetos en UC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4691970-8806-A6C7-0388-74E1B6B416B1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8" name="Imagen 27" descr="Texto&#10;&#10;El contenido generado por IA puede ser incorrecto.">
            <a:extLst>
              <a:ext uri="{FF2B5EF4-FFF2-40B4-BE49-F238E27FC236}">
                <a16:creationId xmlns:a16="http://schemas.microsoft.com/office/drawing/2014/main" id="{A6EA56C3-9383-10DB-CFDB-D82FC7FD4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00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FC061-6F36-589E-A15B-841A2F45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01C4D576-6F65-0551-A484-8965FBAAABE2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Arquitectura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Nivel Organizativo en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8F74C9-B1B6-7869-CF5D-2DA64706C970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D2EE6BA-CAB3-E2CF-DB86-509BD394C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811D4C1F-9D66-4BDD-EA5B-37285DE357C1}"/>
              </a:ext>
            </a:extLst>
          </p:cNvPr>
          <p:cNvGrpSpPr/>
          <p:nvPr/>
        </p:nvGrpSpPr>
        <p:grpSpPr>
          <a:xfrm>
            <a:off x="2309838" y="2069608"/>
            <a:ext cx="1312681" cy="614279"/>
            <a:chOff x="1093846" y="1742337"/>
            <a:chExt cx="1084860" cy="507668"/>
          </a:xfrm>
        </p:grpSpPr>
        <p:sp>
          <p:nvSpPr>
            <p:cNvPr id="8" name="Google Shape;2204;p106">
              <a:extLst>
                <a:ext uri="{FF2B5EF4-FFF2-40B4-BE49-F238E27FC236}">
                  <a16:creationId xmlns:a16="http://schemas.microsoft.com/office/drawing/2014/main" id="{425AFEF2-3BB7-EADC-616B-EF4B5892D5F3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6E895565-4B88-B164-D16C-6F3278F44393}"/>
                </a:ext>
              </a:extLst>
            </p:cNvPr>
            <p:cNvSpPr txBox="1"/>
            <p:nvPr/>
          </p:nvSpPr>
          <p:spPr>
            <a:xfrm>
              <a:off x="1093846" y="1839165"/>
              <a:ext cx="10848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ORGANIZATION</a:t>
              </a: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973D789-A1C3-A20A-30D4-A57733EAF691}"/>
              </a:ext>
            </a:extLst>
          </p:cNvPr>
          <p:cNvGrpSpPr/>
          <p:nvPr/>
        </p:nvGrpSpPr>
        <p:grpSpPr>
          <a:xfrm>
            <a:off x="2309838" y="3588611"/>
            <a:ext cx="1312681" cy="614279"/>
            <a:chOff x="1093846" y="2720804"/>
            <a:chExt cx="1084860" cy="507668"/>
          </a:xfrm>
        </p:grpSpPr>
        <p:sp>
          <p:nvSpPr>
            <p:cNvPr id="13" name="Google Shape;2204;p106">
              <a:extLst>
                <a:ext uri="{FF2B5EF4-FFF2-40B4-BE49-F238E27FC236}">
                  <a16:creationId xmlns:a16="http://schemas.microsoft.com/office/drawing/2014/main" id="{FE7D86EA-1852-55BA-83B7-364BE009FDA5}"/>
                </a:ext>
              </a:extLst>
            </p:cNvPr>
            <p:cNvSpPr/>
            <p:nvPr/>
          </p:nvSpPr>
          <p:spPr>
            <a:xfrm>
              <a:off x="1122360" y="2720804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BD56C89C-8362-1D44-6764-85461B6DAF3D}"/>
                </a:ext>
              </a:extLst>
            </p:cNvPr>
            <p:cNvSpPr txBox="1"/>
            <p:nvPr/>
          </p:nvSpPr>
          <p:spPr>
            <a:xfrm>
              <a:off x="1093846" y="2817632"/>
              <a:ext cx="108486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ACCOUNT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AEA847A-4CB4-6D82-2514-8A70EC0067F5}"/>
              </a:ext>
            </a:extLst>
          </p:cNvPr>
          <p:cNvGrpSpPr/>
          <p:nvPr/>
        </p:nvGrpSpPr>
        <p:grpSpPr>
          <a:xfrm>
            <a:off x="4295565" y="3594063"/>
            <a:ext cx="1312681" cy="614279"/>
            <a:chOff x="1093846" y="1742337"/>
            <a:chExt cx="1084860" cy="507668"/>
          </a:xfrm>
        </p:grpSpPr>
        <p:sp>
          <p:nvSpPr>
            <p:cNvPr id="17" name="Google Shape;2204;p106">
              <a:extLst>
                <a:ext uri="{FF2B5EF4-FFF2-40B4-BE49-F238E27FC236}">
                  <a16:creationId xmlns:a16="http://schemas.microsoft.com/office/drawing/2014/main" id="{17639A46-1898-683D-DC23-0A07ADA4D8C8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E14B21BB-0493-B127-178F-57C0CCEF1A0F}"/>
                </a:ext>
              </a:extLst>
            </p:cNvPr>
            <p:cNvSpPr txBox="1"/>
            <p:nvPr/>
          </p:nvSpPr>
          <p:spPr>
            <a:xfrm>
              <a:off x="1093846" y="1839165"/>
              <a:ext cx="108486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WORKSPACE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0F3F9C1-FFE9-44DD-035B-6A16220A66FB}"/>
              </a:ext>
            </a:extLst>
          </p:cNvPr>
          <p:cNvGrpSpPr/>
          <p:nvPr/>
        </p:nvGrpSpPr>
        <p:grpSpPr>
          <a:xfrm>
            <a:off x="6390683" y="3588610"/>
            <a:ext cx="1312681" cy="614279"/>
            <a:chOff x="1093846" y="1742337"/>
            <a:chExt cx="1084860" cy="507668"/>
          </a:xfrm>
        </p:grpSpPr>
        <p:sp>
          <p:nvSpPr>
            <p:cNvPr id="20" name="Google Shape;2204;p106">
              <a:extLst>
                <a:ext uri="{FF2B5EF4-FFF2-40B4-BE49-F238E27FC236}">
                  <a16:creationId xmlns:a16="http://schemas.microsoft.com/office/drawing/2014/main" id="{3F0A4327-5ED6-02EA-FBA2-916E217A7FBF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E5CDD27-D353-2ED2-1A62-3EE6F7814821}"/>
                </a:ext>
              </a:extLst>
            </p:cNvPr>
            <p:cNvSpPr txBox="1"/>
            <p:nvPr/>
          </p:nvSpPr>
          <p:spPr>
            <a:xfrm>
              <a:off x="1093846" y="1839165"/>
              <a:ext cx="108486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9D1C2A6-97DE-5DAF-BE11-AC18860A95B4}"/>
              </a:ext>
            </a:extLst>
          </p:cNvPr>
          <p:cNvGrpSpPr/>
          <p:nvPr/>
        </p:nvGrpSpPr>
        <p:grpSpPr>
          <a:xfrm>
            <a:off x="8457038" y="3588610"/>
            <a:ext cx="1312681" cy="614279"/>
            <a:chOff x="1093846" y="1742337"/>
            <a:chExt cx="1084860" cy="507668"/>
          </a:xfrm>
        </p:grpSpPr>
        <p:sp>
          <p:nvSpPr>
            <p:cNvPr id="23" name="Google Shape;2204;p106">
              <a:extLst>
                <a:ext uri="{FF2B5EF4-FFF2-40B4-BE49-F238E27FC236}">
                  <a16:creationId xmlns:a16="http://schemas.microsoft.com/office/drawing/2014/main" id="{F6EB97B9-62AA-7D0E-DE39-D07DC436B716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52AAC9B-3343-913F-78F0-1461AF4F1CAD}"/>
                </a:ext>
              </a:extLst>
            </p:cNvPr>
            <p:cNvSpPr txBox="1"/>
            <p:nvPr/>
          </p:nvSpPr>
          <p:spPr>
            <a:xfrm>
              <a:off x="1093846" y="1839165"/>
              <a:ext cx="108486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JOBS</a:t>
              </a:r>
            </a:p>
          </p:txBody>
        </p:sp>
      </p:grp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CA4C361-4FE0-DF4C-A3B2-9A4B848F44A1}"/>
              </a:ext>
            </a:extLst>
          </p:cNvPr>
          <p:cNvCxnSpPr>
            <a:stCxn id="8" idx="2"/>
            <a:endCxn id="13" idx="0"/>
          </p:cNvCxnSpPr>
          <p:nvPr/>
        </p:nvCxnSpPr>
        <p:spPr>
          <a:xfrm>
            <a:off x="2945985" y="2683887"/>
            <a:ext cx="0" cy="904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19108AA-16F3-CCE4-2126-E92CE6A88DC9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3622519" y="3836117"/>
            <a:ext cx="673046" cy="5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90CD886A-CB35-86B1-9473-ABEB58FB999F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5608246" y="3836116"/>
            <a:ext cx="782437" cy="5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5941DDF-90E1-6D51-078E-63ED621DAB9B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7703364" y="3836116"/>
            <a:ext cx="7536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4769BC8-6C82-DCC2-D7AD-E1D38CB81426}"/>
              </a:ext>
            </a:extLst>
          </p:cNvPr>
          <p:cNvSpPr txBox="1"/>
          <p:nvPr/>
        </p:nvSpPr>
        <p:spPr>
          <a:xfrm>
            <a:off x="1897380" y="2813956"/>
            <a:ext cx="12032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One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to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many</a:t>
            </a:r>
            <a:endParaRPr lang="es-ES" sz="900" dirty="0">
              <a:latin typeface="Montserrat" panose="00000500000000000000" pitchFamily="2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F1F3309-501F-4B0E-FC2A-FC2FC7A75C0A}"/>
              </a:ext>
            </a:extLst>
          </p:cNvPr>
          <p:cNvSpPr txBox="1"/>
          <p:nvPr/>
        </p:nvSpPr>
        <p:spPr>
          <a:xfrm>
            <a:off x="3654200" y="3336440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One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to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many</a:t>
            </a:r>
            <a:endParaRPr lang="es-ES" sz="900" dirty="0">
              <a:latin typeface="Montserrat" panose="000005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0951E3F-2971-4846-774C-FCC921E9780B}"/>
              </a:ext>
            </a:extLst>
          </p:cNvPr>
          <p:cNvSpPr txBox="1"/>
          <p:nvPr/>
        </p:nvSpPr>
        <p:spPr>
          <a:xfrm>
            <a:off x="5634317" y="3336406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One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to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many</a:t>
            </a:r>
            <a:endParaRPr lang="es-ES" sz="900" dirty="0">
              <a:latin typeface="Montserrat" panose="00000500000000000000" pitchFamily="2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39500B7-38BA-6A78-9F77-111CDC6496E4}"/>
              </a:ext>
            </a:extLst>
          </p:cNvPr>
          <p:cNvSpPr txBox="1"/>
          <p:nvPr/>
        </p:nvSpPr>
        <p:spPr>
          <a:xfrm>
            <a:off x="7759488" y="3336406"/>
            <a:ext cx="73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One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to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many</a:t>
            </a:r>
            <a:endParaRPr lang="es-ES" sz="9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051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DBE34-5467-BAB3-B00E-2293A4A5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5CAB291E-0C59-851D-3B3C-207092CAE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876" y="877763"/>
            <a:ext cx="5194249" cy="344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87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FD379A4-0764-869C-8E20-15D2BEE1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568" y="1065848"/>
            <a:ext cx="6581332" cy="4197442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1E096C0-0C45-E527-846B-595E3A840ECB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E2669955-5AF3-21CB-9B57-7B99F26E4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32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830AA98-52A4-A8F7-9870-2F5E428C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00" y="1128391"/>
            <a:ext cx="7163800" cy="460121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216C2FE-3912-4D26-858B-CF2F68B449E6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4ED46421-7330-9FD3-C499-D1A79FB89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2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g35ee5cc475b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900" y="1173751"/>
            <a:ext cx="3787450" cy="427689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5ee5cc475b_0_40"/>
          <p:cNvSpPr txBox="1"/>
          <p:nvPr/>
        </p:nvSpPr>
        <p:spPr>
          <a:xfrm>
            <a:off x="7817050" y="1416400"/>
            <a:ext cx="2289600" cy="34869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b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 sz="100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✅Pros: 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Estructura clara y gobernabilidad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Ideal para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 y SQL tradicional</a:t>
            </a:r>
            <a:br>
              <a:rPr lang="es-ES" sz="1000" b="1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❌Cons: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Difícil manejar datos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estructurados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(audio, video, texto)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No está pensado para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ciencia de datos</a:t>
            </a:r>
            <a:b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Poco flexible ante grandes volúmenes o variedad de datos</a:t>
            </a:r>
            <a:endParaRPr sz="11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0D3361-8897-0907-9198-10B1D3A06479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0297CA5B-9846-4B7E-B463-7014A8A8B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5C183212-0D77-467A-04D8-A4A2457A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Google Shape;274;g35ee5cc475b_0_15">
            <a:extLst>
              <a:ext uri="{FF2B5EF4-FFF2-40B4-BE49-F238E27FC236}">
                <a16:creationId xmlns:a16="http://schemas.microsoft.com/office/drawing/2014/main" id="{3636A8AC-E99D-9B24-F170-A8EBBE28384F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>
                <a:latin typeface="Montserrat" panose="00000500000000000000" pitchFamily="2" charset="0"/>
                <a:cs typeface="Mongolian Baiti" panose="03000500000000000000" pitchFamily="66" charset="0"/>
              </a:rPr>
              <a:t>Databricks </a:t>
            </a:r>
            <a:r>
              <a:rPr lang="es-ES" sz="2400" b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Fundamentales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e5cc475b_0_54"/>
          <p:cNvSpPr txBox="1"/>
          <p:nvPr/>
        </p:nvSpPr>
        <p:spPr>
          <a:xfrm>
            <a:off x="7871149" y="1578725"/>
            <a:ext cx="2289600" cy="35142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br>
              <a:rPr lang="es-ES" sz="1100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100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100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Lake</a:t>
            </a:r>
            <a:endParaRPr sz="110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✅ Pros:</a:t>
            </a:r>
            <a:b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1. Escalable y económico (almacenamiento en bruto)</a:t>
            </a:r>
            <a:b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2. Acepta </a:t>
            </a:r>
            <a:r>
              <a:rPr lang="es-ES" sz="1000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cualquier tipo de datos</a:t>
            </a:r>
            <a: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 (estructurados o no)</a:t>
            </a:r>
            <a:b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0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r>
              <a:rPr lang="es-ES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s-ES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control de calidad</a:t>
            </a: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puede volverse una "ciénaga de datos"</a:t>
            </a:r>
            <a:b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Bajo rendimiento para consultas</a:t>
            </a:r>
            <a:b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Mala integración con herramientas BI</a:t>
            </a:r>
            <a:b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No garantiza integridad ni transacciones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10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5ee5cc475b_0_54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dirty="0"/>
              <a:t>Delta Lake</a:t>
            </a:r>
            <a:r>
              <a:rPr lang="es-ES" dirty="0">
                <a:solidFill>
                  <a:schemeClr val="accent1"/>
                </a:solidFill>
              </a:rPr>
              <a:t>| Data Lake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296" name="Google Shape;296;g35ee5cc475b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975" y="1090750"/>
            <a:ext cx="3869600" cy="449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D4A9511-3AC4-82C9-8498-DF31699E5F4B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7758E390-2272-556B-BF00-7E4D6E8F92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1733</Words>
  <Application>Microsoft Office PowerPoint</Application>
  <PresentationFormat>Panorámica</PresentationFormat>
  <Paragraphs>205</Paragraphs>
  <Slides>19</Slides>
  <Notes>10</Notes>
  <HiddenSlides>4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Montserrat</vt:lpstr>
      <vt:lpstr>Montserrat SemiBold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Delta Lake| Data Lake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Martínez Morales</dc:creator>
  <cp:lastModifiedBy>Javier Martínez Morales</cp:lastModifiedBy>
  <cp:revision>33</cp:revision>
  <dcterms:created xsi:type="dcterms:W3CDTF">2025-11-23T08:17:51Z</dcterms:created>
  <dcterms:modified xsi:type="dcterms:W3CDTF">2025-11-30T09:57:55Z</dcterms:modified>
</cp:coreProperties>
</file>