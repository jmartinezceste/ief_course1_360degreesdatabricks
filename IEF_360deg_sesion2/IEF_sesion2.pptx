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147474052" r:id="rId3"/>
    <p:sldId id="2147474053" r:id="rId4"/>
    <p:sldId id="2147474054" r:id="rId5"/>
    <p:sldId id="263" r:id="rId6"/>
    <p:sldId id="264" r:id="rId7"/>
    <p:sldId id="265" r:id="rId8"/>
    <p:sldId id="266" r:id="rId9"/>
    <p:sldId id="2147474034" r:id="rId10"/>
    <p:sldId id="2147474049" r:id="rId11"/>
    <p:sldId id="2147474050" r:id="rId12"/>
    <p:sldId id="2147474051" r:id="rId13"/>
    <p:sldId id="2147474045" r:id="rId14"/>
    <p:sldId id="2147474055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E1A"/>
    <a:srgbClr val="CC53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C80AF-6051-465D-9224-F12C374F3AE5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0DDE8-3234-4DB9-9693-C8CFE19653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23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C93A-67A9-CB85-9EF4-AD8727FF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645D0-D4CE-5A37-8D63-9D51E7588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702B0-4A47-0BC3-8559-3BBCAFA3C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3D3E4-4179-67AF-81EF-A869DF784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19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F85D675C-5610-0CDE-8034-2DAE0DF5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>
            <a:extLst>
              <a:ext uri="{FF2B5EF4-FFF2-40B4-BE49-F238E27FC236}">
                <a16:creationId xmlns:a16="http://schemas.microsoft.com/office/drawing/2014/main" id="{D4CBC312-F9F4-5207-4E1C-791CC40CFA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>
            <a:extLst>
              <a:ext uri="{FF2B5EF4-FFF2-40B4-BE49-F238E27FC236}">
                <a16:creationId xmlns:a16="http://schemas.microsoft.com/office/drawing/2014/main" id="{2BBCED17-E18E-5D18-3AFD-3B1C0F90C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8003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0B51B35A-739B-3E8F-C379-B618D515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>
            <a:extLst>
              <a:ext uri="{FF2B5EF4-FFF2-40B4-BE49-F238E27FC236}">
                <a16:creationId xmlns:a16="http://schemas.microsoft.com/office/drawing/2014/main" id="{0615E589-D4DB-A8F6-97CE-D89E46206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>
            <a:extLst>
              <a:ext uri="{FF2B5EF4-FFF2-40B4-BE49-F238E27FC236}">
                <a16:creationId xmlns:a16="http://schemas.microsoft.com/office/drawing/2014/main" id="{A6F6B0EB-2838-510C-0E94-A65CD0AE6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6401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E25AC038-E795-BE7A-EEB9-F19F9788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>
            <a:extLst>
              <a:ext uri="{FF2B5EF4-FFF2-40B4-BE49-F238E27FC236}">
                <a16:creationId xmlns:a16="http://schemas.microsoft.com/office/drawing/2014/main" id="{32E8D839-582A-BC28-0211-9360A75F8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>
            <a:extLst>
              <a:ext uri="{FF2B5EF4-FFF2-40B4-BE49-F238E27FC236}">
                <a16:creationId xmlns:a16="http://schemas.microsoft.com/office/drawing/2014/main" id="{1EFADA3D-C8E5-D94E-643A-1AA7F2904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2311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CBEA-9671-2941-2883-507B6AEE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4D742-C2B3-4434-117D-27FA7DB52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69A3F-22DA-7D2B-DE96-394DF4BB4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C442A-8F22-16E6-9164-6B9851D07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0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D7258-102D-CFE5-2186-ACE69C047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DDAB80-30AE-B6AA-4161-FA25FC1AF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D67AFE-0F7F-D1C8-E356-129FDA2C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185613-DD29-2893-D4EB-DFA5A765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0EA6B7-918E-2A41-006E-FB0D3B0C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765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69E80-488A-45AF-C918-1FBA1266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96E587-3515-0CFA-378F-2CB10BA34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8B7108-E692-C7D2-8F01-1480D6741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69D635-D51C-634C-B9AF-7A222F0F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9C1DBC-47E6-666C-D582-5191CF49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015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2EF90-1DF0-E81C-253F-1261B3D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363E22-3C8A-F254-9741-C4AB0A9B0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4C12C9-2FC6-A10E-BA8A-9E6F148E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7DA042-B10C-9047-9D25-ED343CA4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CD0C2B-93DB-580E-B96B-7319633A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418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D3779-8590-E984-B0F6-BFD21BB4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30E60E-6130-8591-60B6-934E1C061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51308F-95E8-427F-73D2-B05A359F8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B83EC-4432-5D9B-3605-3FE820B7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827374-54C5-84B2-9122-3186851F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1B25C6-0513-F535-E09E-5BC553D5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272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83285-0212-B248-320A-485E1E47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6FE5E9-ED0D-F7FA-0BC1-15D61ACFB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985D40-FDF4-1D70-885E-883E07D0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F336E8-26E7-BF71-5F2B-0B7EC554F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D3F301D-F6A7-D0C8-3824-4E95B35BE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B32924-1F3E-5BD5-65FC-1FE0AEC5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208DF4-1279-803B-9623-F6F8F0A0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A8EEC5E-D372-ED60-AF80-550994D3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43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911E9-4D78-87DB-63B4-01483730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21D1C8-4277-04CD-C457-918BF477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4B18AC-67EB-ECB2-7F7D-1D1FA2867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D5818C-00D5-3007-E1ED-857373BE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4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D3E0F9-DBC4-A505-54C0-4FCCD99C2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6B989F-B213-D935-1E87-92CDF352C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F40E8E-FEEE-65C6-774D-2A804BFD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8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6BA9A-1BAE-E28E-F752-BD4E32FE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5D5F6B-DD03-B8B1-F30C-E981F2722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1268F7-D352-5180-33C7-963221119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2DA3C2-365D-1829-EEF8-F650220A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5126BC-061F-4DCC-ACBC-3CE75035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26EACB-B761-470D-6BBB-D5273A30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767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C9B61-92CA-C144-2931-00D7C4F1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021B19-32FA-142B-7D1E-987222041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4C0DD0-DDB1-9858-8CE1-23AD18C34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7B6DF1-B7E2-9DD9-FBE7-503972B1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940DAB-086C-D04B-0718-9C4CF738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8A2EAA-FB9F-D564-541A-F7F6A2D9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273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55F1C-D83B-A173-C992-8D6C34CD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3CB58A-5258-33F1-9851-F24F69D22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3986FA-AB75-0ABB-468D-D0AE49B2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668216-F570-CF06-45F9-C7FC80C2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692C5-65DC-2682-6662-88804FF2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787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486900-B880-3C49-EA9F-5577C6DF9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1A7B03-EE28-950B-7A28-3167C98C1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1B2BFC-EC31-94C7-8E1F-BA19BCA2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F8F44D-28E8-2C56-C48A-33236A3E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944825-2E1A-32DD-3C46-DE60E994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482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533389-31A5-A42A-DF46-6BD01728D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01D9B9-2C62-C479-9115-9ED87CD98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4C6EE-7907-98BC-B3B0-17FB7E879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AD1BD-9202-4205-86C5-14E39C7A16C1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06731-60C2-5C78-20D2-39429FE5D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B729D9-3535-3D6F-36FF-72F3AF85E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7349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DA37F68-4E6A-5F9E-6C93-88A502DF2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876" y="877763"/>
            <a:ext cx="5194249" cy="34406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CBC6816-9B5E-4C9D-5356-A574E00D2C66}"/>
              </a:ext>
            </a:extLst>
          </p:cNvPr>
          <p:cNvSpPr txBox="1"/>
          <p:nvPr/>
        </p:nvSpPr>
        <p:spPr>
          <a:xfrm>
            <a:off x="3498875" y="5756114"/>
            <a:ext cx="519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Montserrat" panose="00000500000000000000" pitchFamily="2" charset="0"/>
              </a:rPr>
              <a:t>Curso </a:t>
            </a:r>
            <a:r>
              <a:rPr lang="es-ES" dirty="0" err="1">
                <a:latin typeface="Montserrat" panose="00000500000000000000" pitchFamily="2" charset="0"/>
              </a:rPr>
              <a:t>Databricks</a:t>
            </a:r>
            <a:r>
              <a:rPr lang="es-ES" dirty="0">
                <a:latin typeface="Montserrat" panose="00000500000000000000" pitchFamily="2" charset="0"/>
              </a:rPr>
              <a:t> de Inicio a Avanzado 360º</a:t>
            </a:r>
          </a:p>
        </p:txBody>
      </p:sp>
    </p:spTree>
    <p:extLst>
      <p:ext uri="{BB962C8B-B14F-4D97-AF65-F5344CB8AC3E}">
        <p14:creationId xmlns:p14="http://schemas.microsoft.com/office/powerpoint/2010/main" val="189448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E8285B-9CBD-969A-D600-5F0DE2D82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055" y="1620477"/>
            <a:ext cx="8416634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1600" b="1" dirty="0" err="1">
                <a:latin typeface="Montserrat SemiBold" panose="00000700000000000000" pitchFamily="2" charset="0"/>
              </a:rPr>
              <a:t>Optimizacion</a:t>
            </a:r>
            <a:endParaRPr lang="es-ES" sz="1600" b="1" dirty="0">
              <a:latin typeface="Montserrat SemiBold" panose="000007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s-ES" sz="1400" dirty="0" err="1">
                <a:latin typeface="Montserrat" panose="00000500000000000000" pitchFamily="2" charset="0"/>
              </a:rPr>
              <a:t>Lazy</a:t>
            </a:r>
            <a:r>
              <a:rPr lang="es-ES" sz="1400" dirty="0">
                <a:latin typeface="Montserrat" panose="00000500000000000000" pitchFamily="2" charset="0"/>
              </a:rPr>
              <a:t> Spark: Acciones vs </a:t>
            </a:r>
            <a:r>
              <a:rPr lang="es-ES" sz="1400" dirty="0" err="1">
                <a:latin typeface="Montserrat" panose="00000500000000000000" pitchFamily="2" charset="0"/>
              </a:rPr>
              <a:t>Transformacions</a:t>
            </a:r>
            <a:endParaRPr lang="es-ES" sz="1400" dirty="0">
              <a:latin typeface="Montserrat" panose="000005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s-ES" sz="1400" dirty="0" err="1">
                <a:latin typeface="Montserrat" panose="00000500000000000000" pitchFamily="2" charset="0"/>
              </a:rPr>
              <a:t>Transformacions</a:t>
            </a:r>
            <a:r>
              <a:rPr lang="es-ES" sz="1400" dirty="0">
                <a:latin typeface="Montserrat" panose="00000500000000000000" pitchFamily="2" charset="0"/>
              </a:rPr>
              <a:t> Wide vs Narrow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DAG, </a:t>
            </a:r>
            <a:r>
              <a:rPr lang="es-ES" sz="1400" dirty="0" err="1">
                <a:latin typeface="Montserrat" panose="00000500000000000000" pitchFamily="2" charset="0"/>
              </a:rPr>
              <a:t>Stages</a:t>
            </a:r>
            <a:r>
              <a:rPr lang="es-ES" sz="1400" dirty="0">
                <a:latin typeface="Montserrat" panose="00000500000000000000" pitchFamily="2" charset="0"/>
              </a:rPr>
              <a:t> y </a:t>
            </a:r>
            <a:r>
              <a:rPr lang="es-ES" sz="1400" dirty="0" err="1">
                <a:latin typeface="Montserrat" panose="00000500000000000000" pitchFamily="2" charset="0"/>
              </a:rPr>
              <a:t>Task</a:t>
            </a:r>
            <a:endParaRPr lang="es-ES" sz="1400" dirty="0">
              <a:latin typeface="Montserrat" panose="000005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Data </a:t>
            </a:r>
            <a:r>
              <a:rPr lang="es-ES" sz="1400" dirty="0" err="1">
                <a:latin typeface="Montserrat" panose="00000500000000000000" pitchFamily="2" charset="0"/>
              </a:rPr>
              <a:t>Skew</a:t>
            </a:r>
            <a:br>
              <a:rPr lang="es-ES" sz="1400" dirty="0">
                <a:latin typeface="Montserrat" panose="00000500000000000000" pitchFamily="2" charset="0"/>
              </a:rPr>
            </a:br>
            <a:endParaRPr lang="es-ES" sz="1400" dirty="0"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ES" sz="1600" b="1" dirty="0">
                <a:latin typeface="Montserrat SemiBold" panose="00000700000000000000" pitchFamily="2" charset="0"/>
              </a:rPr>
              <a:t>Orquestación y </a:t>
            </a:r>
            <a:r>
              <a:rPr lang="es-ES" sz="1600" b="1" dirty="0" err="1">
                <a:latin typeface="Montserrat SemiBold" panose="00000700000000000000" pitchFamily="2" charset="0"/>
              </a:rPr>
              <a:t>Workflow</a:t>
            </a:r>
            <a:endParaRPr lang="es-ES" sz="1600" b="1" dirty="0">
              <a:latin typeface="Montserrat SemiBold" panose="000007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ETL</a:t>
            </a:r>
          </a:p>
          <a:p>
            <a:pPr marL="1428750" lvl="2" indent="-514350">
              <a:buFont typeface="+mj-lt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Qué es</a:t>
            </a:r>
          </a:p>
          <a:p>
            <a:pPr marL="1428750" lvl="2" indent="-514350">
              <a:buFont typeface="+mj-lt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Tipos de E,T y L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Arquitectura Medallón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sz="1400" dirty="0" err="1">
                <a:latin typeface="Montserrat" panose="00000500000000000000" pitchFamily="2" charset="0"/>
              </a:rPr>
              <a:t>Modeo</a:t>
            </a:r>
            <a:r>
              <a:rPr lang="es-ES" sz="1400" dirty="0">
                <a:latin typeface="Montserrat" panose="00000500000000000000" pitchFamily="2" charset="0"/>
              </a:rPr>
              <a:t> de Estrella</a:t>
            </a:r>
          </a:p>
          <a:p>
            <a:pPr marL="971550" lvl="1" indent="-514350">
              <a:buFont typeface="+mj-lt"/>
              <a:buAutoNum type="arabicPeriod"/>
            </a:pPr>
            <a:endParaRPr lang="es-ES" sz="1400" dirty="0"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ES" sz="1600" dirty="0">
                <a:latin typeface="Montserrat SemiBold" panose="00000700000000000000" pitchFamily="2" charset="0"/>
              </a:rPr>
              <a:t>Demo Orquestación y </a:t>
            </a:r>
            <a:r>
              <a:rPr lang="es-ES" sz="1600" dirty="0" err="1">
                <a:latin typeface="Montserrat SemiBold" panose="00000700000000000000" pitchFamily="2" charset="0"/>
              </a:rPr>
              <a:t>Worklow</a:t>
            </a:r>
            <a:endParaRPr lang="es-ES" sz="1600" dirty="0">
              <a:latin typeface="Montserrat SemiBold" panose="000007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44D25CB-686B-F50E-E359-3B446B57F1E2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E3B826C8-CB8A-8DCD-172A-27C6DAB1F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8" name="Google Shape;93;p8">
            <a:extLst>
              <a:ext uri="{FF2B5EF4-FFF2-40B4-BE49-F238E27FC236}">
                <a16:creationId xmlns:a16="http://schemas.microsoft.com/office/drawing/2014/main" id="{82E3042B-E735-FE60-1480-EFE97FEA5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549" y="160265"/>
            <a:ext cx="7886700" cy="5435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Indice</a:t>
            </a:r>
            <a:r>
              <a:rPr lang="es-E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de la Sesión</a:t>
            </a:r>
          </a:p>
        </p:txBody>
      </p:sp>
    </p:spTree>
    <p:extLst>
      <p:ext uri="{BB962C8B-B14F-4D97-AF65-F5344CB8AC3E}">
        <p14:creationId xmlns:p14="http://schemas.microsoft.com/office/powerpoint/2010/main" val="286401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2DFF6-0A16-43EA-DF70-64A5BD1A1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E5E4E5C-3BB0-2B44-F1D0-967BF396C8EF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25C69FB-B918-1DC6-3858-D2C9F06B3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7CA7A2E-6A38-43F8-0A0D-CC9D3E68F742}"/>
              </a:ext>
            </a:extLst>
          </p:cNvPr>
          <p:cNvSpPr txBox="1"/>
          <p:nvPr/>
        </p:nvSpPr>
        <p:spPr>
          <a:xfrm>
            <a:off x="4529826" y="2673270"/>
            <a:ext cx="31323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OPTIMIZACIÓN</a:t>
            </a:r>
          </a:p>
        </p:txBody>
      </p:sp>
    </p:spTree>
    <p:extLst>
      <p:ext uri="{BB962C8B-B14F-4D97-AF65-F5344CB8AC3E}">
        <p14:creationId xmlns:p14="http://schemas.microsoft.com/office/powerpoint/2010/main" val="3271203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A4C52-9C9F-0019-44A9-4DAA6C4D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62386CC-739E-0AED-FE80-4B447E6A8173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F73D75B2-A021-EA13-FAC4-570286A4D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EC41256-52BF-1F8E-7D95-917A4A8FF9F7}"/>
              </a:ext>
            </a:extLst>
          </p:cNvPr>
          <p:cNvSpPr txBox="1"/>
          <p:nvPr/>
        </p:nvSpPr>
        <p:spPr>
          <a:xfrm>
            <a:off x="4529826" y="2673270"/>
            <a:ext cx="313234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ORQUESTACIÓN 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&amp;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50836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381549" y="160265"/>
            <a:ext cx="7886700" cy="5435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>
                <a:latin typeface="Montserrat" panose="00000500000000000000" pitchFamily="2" charset="0"/>
              </a:rPr>
              <a:t>ETL </a:t>
            </a:r>
            <a:r>
              <a:rPr lang="es-E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| </a:t>
            </a:r>
            <a:r>
              <a:rPr lang="es-ES" sz="1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Extract</a:t>
            </a:r>
            <a:r>
              <a:rPr lang="es-E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s-ES" sz="1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Transform</a:t>
            </a:r>
            <a:r>
              <a:rPr lang="es-E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Load</a:t>
            </a:r>
          </a:p>
        </p:txBody>
      </p:sp>
      <p:grpSp>
        <p:nvGrpSpPr>
          <p:cNvPr id="94" name="Google Shape;94;p8"/>
          <p:cNvGrpSpPr/>
          <p:nvPr/>
        </p:nvGrpSpPr>
        <p:grpSpPr>
          <a:xfrm>
            <a:off x="2111345" y="1858885"/>
            <a:ext cx="7773318" cy="3232749"/>
            <a:chOff x="831133" y="1636411"/>
            <a:chExt cx="7401841" cy="3079071"/>
          </a:xfrm>
        </p:grpSpPr>
        <p:pic>
          <p:nvPicPr>
            <p:cNvPr id="95" name="Google Shape;95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87544" y="1636411"/>
              <a:ext cx="1204913" cy="1204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52680" y="2147305"/>
              <a:ext cx="978693" cy="978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1135" y="1782975"/>
              <a:ext cx="364331" cy="364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1134" y="2454487"/>
              <a:ext cx="364331" cy="364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1133" y="3125998"/>
              <a:ext cx="364331" cy="36433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0" name="Google Shape;100;p8"/>
            <p:cNvCxnSpPr>
              <a:stCxn id="97" idx="3"/>
              <a:endCxn id="96" idx="1"/>
            </p:cNvCxnSpPr>
            <p:nvPr/>
          </p:nvCxnSpPr>
          <p:spPr>
            <a:xfrm>
              <a:off x="1195466" y="1965141"/>
              <a:ext cx="557100" cy="671400"/>
            </a:xfrm>
            <a:prstGeom prst="bentConnector3">
              <a:avLst>
                <a:gd name="adj1" fmla="val 50000"/>
              </a:avLst>
            </a:pr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8"/>
            <p:cNvCxnSpPr>
              <a:stCxn id="98" idx="3"/>
              <a:endCxn id="96" idx="1"/>
            </p:cNvCxnSpPr>
            <p:nvPr/>
          </p:nvCxnSpPr>
          <p:spPr>
            <a:xfrm>
              <a:off x="1195465" y="2636653"/>
              <a:ext cx="557100" cy="0"/>
            </a:xfrm>
            <a:prstGeom prst="straightConnector1">
              <a:avLst/>
            </a:pr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8"/>
            <p:cNvCxnSpPr>
              <a:stCxn id="99" idx="3"/>
              <a:endCxn id="96" idx="1"/>
            </p:cNvCxnSpPr>
            <p:nvPr/>
          </p:nvCxnSpPr>
          <p:spPr>
            <a:xfrm rot="10800000" flipH="1">
              <a:off x="1195464" y="2636764"/>
              <a:ext cx="557100" cy="671400"/>
            </a:xfrm>
            <a:prstGeom prst="bentConnector3">
              <a:avLst>
                <a:gd name="adj1" fmla="val 50000"/>
              </a:avLst>
            </a:pr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103" name="Google Shape;103;p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067944" y="2060848"/>
              <a:ext cx="1247315" cy="1247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34783" y="2527687"/>
              <a:ext cx="313637" cy="31363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5" name="Google Shape;105;p8"/>
            <p:cNvCxnSpPr/>
            <p:nvPr/>
          </p:nvCxnSpPr>
          <p:spPr>
            <a:xfrm>
              <a:off x="3002835" y="2636651"/>
              <a:ext cx="778669" cy="0"/>
            </a:xfrm>
            <a:prstGeom prst="straightConnector1">
              <a:avLst/>
            </a:prstGeom>
            <a:noFill/>
            <a:ln w="57150" cap="rnd" cmpd="sng">
              <a:solidFill>
                <a:schemeClr val="accent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pic>
          <p:nvPicPr>
            <p:cNvPr id="106" name="Google Shape;10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22268" y="2684505"/>
              <a:ext cx="735464" cy="73546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" name="Google Shape;107;p8"/>
            <p:cNvCxnSpPr/>
            <p:nvPr/>
          </p:nvCxnSpPr>
          <p:spPr>
            <a:xfrm>
              <a:off x="5574585" y="2636651"/>
              <a:ext cx="778669" cy="0"/>
            </a:xfrm>
            <a:prstGeom prst="straightConnector1">
              <a:avLst/>
            </a:prstGeom>
            <a:noFill/>
            <a:ln w="57150" cap="rnd" cmpd="sng">
              <a:solidFill>
                <a:schemeClr val="accent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8" name="Google Shape;108;p8"/>
            <p:cNvSpPr/>
            <p:nvPr/>
          </p:nvSpPr>
          <p:spPr>
            <a:xfrm>
              <a:off x="7091117" y="2393763"/>
              <a:ext cx="397767" cy="48577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381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endPara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 txBox="1"/>
            <p:nvPr/>
          </p:nvSpPr>
          <p:spPr>
            <a:xfrm>
              <a:off x="1116885" y="3565340"/>
              <a:ext cx="1885950" cy="115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r>
                <a:rPr lang="es-ES" sz="24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Extract</a:t>
              </a:r>
              <a:endParaRPr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s-ES" sz="14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Recolecta y valida los datos de diferentes fuentes</a:t>
              </a:r>
              <a:endParaRPr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 txBox="1"/>
            <p:nvPr/>
          </p:nvSpPr>
          <p:spPr>
            <a:xfrm>
              <a:off x="3748625" y="3565340"/>
              <a:ext cx="1885950" cy="115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r>
                <a:rPr lang="es-ES" sz="24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Transform</a:t>
              </a:r>
              <a:endParaRPr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s-ES" sz="14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Procesa y organiza los datos extraídos para convertirlos en útiles</a:t>
              </a:r>
              <a:endParaRPr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 txBox="1"/>
            <p:nvPr/>
          </p:nvSpPr>
          <p:spPr>
            <a:xfrm>
              <a:off x="6347024" y="3565340"/>
              <a:ext cx="1885950" cy="115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r>
                <a:rPr lang="es-ES" sz="24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Load</a:t>
              </a:r>
              <a:endParaRPr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s-ES" sz="14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Mueve los datos transformados a un repositorio</a:t>
              </a:r>
              <a:endParaRPr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4698A596-B80D-C1FB-8814-1C3704181B6C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56BB060-1290-95CD-9EAF-50F411A5EC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>
            <a:spLocks noGrp="1"/>
          </p:cNvSpPr>
          <p:nvPr>
            <p:ph type="title"/>
          </p:nvPr>
        </p:nvSpPr>
        <p:spPr>
          <a:xfrm>
            <a:off x="275359" y="198665"/>
            <a:ext cx="7886700" cy="5435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>
                <a:latin typeface="Montserrat" panose="00000500000000000000" pitchFamily="2" charset="0"/>
              </a:rPr>
              <a:t>ETL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Tipos de Extracciones </a:t>
            </a:r>
            <a:endParaRPr sz="1800" b="1" dirty="0">
              <a:latin typeface="Montserrat" panose="00000500000000000000" pitchFamily="2" charset="0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2423593" y="1347029"/>
            <a:ext cx="2288388" cy="4026187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4987810" y="1347029"/>
            <a:ext cx="2288388" cy="4026187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7552028" y="1347029"/>
            <a:ext cx="2288388" cy="4026187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2690858" y="1658583"/>
            <a:ext cx="1753860" cy="71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r>
              <a:rPr lang="es-ES" sz="20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 Total</a:t>
            </a:r>
            <a:endParaRPr/>
          </a:p>
        </p:txBody>
      </p:sp>
      <p:sp>
        <p:nvSpPr>
          <p:cNvPr id="121" name="Google Shape;121;p9"/>
          <p:cNvSpPr txBox="1"/>
          <p:nvPr/>
        </p:nvSpPr>
        <p:spPr>
          <a:xfrm>
            <a:off x="5211569" y="1658583"/>
            <a:ext cx="1840874" cy="71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r>
              <a:rPr lang="es-ES" sz="20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 incremental</a:t>
            </a:r>
            <a:endParaRPr/>
          </a:p>
        </p:txBody>
      </p:sp>
      <p:sp>
        <p:nvSpPr>
          <p:cNvPr id="122" name="Google Shape;122;p9"/>
          <p:cNvSpPr txBox="1"/>
          <p:nvPr/>
        </p:nvSpPr>
        <p:spPr>
          <a:xfrm>
            <a:off x="7819293" y="1658583"/>
            <a:ext cx="1753860" cy="71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r>
              <a:rPr lang="es-ES" sz="20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 en tiempo real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2423592" y="3723270"/>
            <a:ext cx="2288388" cy="1649941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00025" indent="-128588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 inicial</a:t>
            </a:r>
            <a:endParaRPr/>
          </a:p>
          <a:p>
            <a:pPr marL="200025" indent="-128588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Tablas fijas</a:t>
            </a:r>
            <a:endParaRPr sz="16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0025" indent="-128588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Migraciones, datasets históricos, … </a:t>
            </a:r>
            <a:endParaRPr sz="16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4987807" y="3723269"/>
            <a:ext cx="2288388" cy="1649940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8588" indent="-128588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Datos nuevos desde la última carga</a:t>
            </a:r>
            <a:endParaRPr/>
          </a:p>
          <a:p>
            <a:pPr marL="128588" indent="-128588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Columna de partición</a:t>
            </a:r>
            <a:endParaRPr/>
          </a:p>
          <a:p>
            <a:pPr marL="128588" indent="-128588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Cargas diarias, semanales, …</a:t>
            </a: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7552019" y="3723271"/>
            <a:ext cx="2288388" cy="1649939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8588" indent="-128588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Los datos se procesan y almacenan en cuanto están disponibles</a:t>
            </a:r>
            <a:endParaRPr/>
          </a:p>
          <a:p>
            <a:pPr marL="128588" indent="-128588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Herramientas específicas</a:t>
            </a:r>
            <a:endParaRPr sz="16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144" y="2473527"/>
            <a:ext cx="657287" cy="67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3361" y="2473527"/>
            <a:ext cx="657287" cy="67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7579" y="2473527"/>
            <a:ext cx="657287" cy="67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 txBox="1"/>
          <p:nvPr/>
        </p:nvSpPr>
        <p:spPr>
          <a:xfrm>
            <a:off x="2423584" y="5625807"/>
            <a:ext cx="7615766" cy="28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r>
              <a:rPr lang="es-ES" sz="16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En la parte práctica veremos los diferentes orígenes que existen (csv, json, bases de datos)</a:t>
            </a: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489892" y="1167028"/>
            <a:ext cx="360000" cy="360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D40D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7044585" y="1167028"/>
            <a:ext cx="360000" cy="360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D40D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F3ED3F-C99F-D541-A1E3-139245A64B3A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F58B58C7-17F3-4B42-DE63-D871F9B737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title"/>
          </p:nvPr>
        </p:nvSpPr>
        <p:spPr>
          <a:xfrm>
            <a:off x="171508" y="196670"/>
            <a:ext cx="7886700" cy="5435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>
                <a:latin typeface="Montserrat" panose="00000500000000000000" pitchFamily="2" charset="0"/>
              </a:rPr>
              <a:t>ETL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Tipos de Transformaciones</a:t>
            </a:r>
            <a:endParaRPr sz="1800" b="1" dirty="0">
              <a:latin typeface="Montserrat" panose="00000500000000000000" pitchFamily="2" charset="0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847530" y="1484793"/>
            <a:ext cx="1536711" cy="3816424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3569468" y="1484793"/>
            <a:ext cx="1536711" cy="3816424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5291406" y="1484793"/>
            <a:ext cx="1536711" cy="3816424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913884" y="1738111"/>
            <a:ext cx="1404000" cy="58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r>
              <a:rPr lang="es-ES" sz="16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Limpieza de Datos</a:t>
            </a:r>
            <a:endParaRPr/>
          </a:p>
        </p:txBody>
      </p:sp>
      <p:sp>
        <p:nvSpPr>
          <p:cNvPr id="142" name="Google Shape;142;p10"/>
          <p:cNvSpPr txBox="1"/>
          <p:nvPr/>
        </p:nvSpPr>
        <p:spPr>
          <a:xfrm>
            <a:off x="3635822" y="1738120"/>
            <a:ext cx="1404000" cy="58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r>
              <a:rPr lang="es-ES" sz="16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Filtrado</a:t>
            </a:r>
            <a:endParaRPr/>
          </a:p>
        </p:txBody>
      </p:sp>
      <p:sp>
        <p:nvSpPr>
          <p:cNvPr id="143" name="Google Shape;143;p10"/>
          <p:cNvSpPr txBox="1"/>
          <p:nvPr/>
        </p:nvSpPr>
        <p:spPr>
          <a:xfrm>
            <a:off x="5357760" y="1738120"/>
            <a:ext cx="1404000" cy="58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r>
              <a:rPr lang="es-ES" sz="16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Unificación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1847529" y="3416926"/>
            <a:ext cx="1536711" cy="1884295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00025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Eliminación valores nulos</a:t>
            </a:r>
            <a:endParaRPr/>
          </a:p>
          <a:p>
            <a:pPr marL="200025" indent="-39688">
              <a:buClr>
                <a:schemeClr val="lt1"/>
              </a:buClr>
              <a:buSzPts val="1400"/>
            </a:pP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0025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Eliminación duplicados</a:t>
            </a: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3569464" y="3416926"/>
            <a:ext cx="1536710" cy="1884293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8588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Filtrado por reglas</a:t>
            </a:r>
            <a:endParaRPr/>
          </a:p>
          <a:p>
            <a:pPr marL="128588" indent="-39687">
              <a:buClr>
                <a:schemeClr val="dk1"/>
              </a:buClr>
              <a:buSzPts val="1400"/>
            </a:pP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8588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Filtrado por tiempo</a:t>
            </a: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5291399" y="3416928"/>
            <a:ext cx="1536710" cy="1884291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8588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Conversión de tipos</a:t>
            </a:r>
            <a:endParaRPr/>
          </a:p>
          <a:p>
            <a:pPr marL="128588" indent="-39687">
              <a:buClr>
                <a:schemeClr val="dk1"/>
              </a:buClr>
              <a:buSzPts val="1400"/>
            </a:pP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8588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Mapeo de columnas</a:t>
            </a: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7007586" y="1484788"/>
            <a:ext cx="1536711" cy="3816424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7073940" y="1738116"/>
            <a:ext cx="1404000" cy="58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r>
              <a:rPr lang="es-ES" sz="16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Operaciones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7007579" y="3416923"/>
            <a:ext cx="1536710" cy="1884291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8588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Agregaciones</a:t>
            </a:r>
            <a:endParaRPr/>
          </a:p>
          <a:p>
            <a:pPr marL="128588" indent="-39687">
              <a:buClr>
                <a:schemeClr val="dk1"/>
              </a:buClr>
              <a:buSzPts val="1400"/>
            </a:pP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8588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Normalización</a:t>
            </a:r>
            <a:endParaRPr/>
          </a:p>
          <a:p>
            <a:pPr marL="128588" indent="-39687">
              <a:buClr>
                <a:schemeClr val="dk1"/>
              </a:buClr>
              <a:buSzPts val="1400"/>
            </a:pP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8588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Estandarización</a:t>
            </a: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8723754" y="1484784"/>
            <a:ext cx="1536711" cy="3816424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8790108" y="1738111"/>
            <a:ext cx="1404000" cy="58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r>
              <a:rPr lang="es-ES" sz="16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Anonimización</a:t>
            </a:r>
            <a:endParaRPr sz="1600" b="1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8723747" y="3416918"/>
            <a:ext cx="1536710" cy="1884291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8588" indent="-128588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Protección de datos sensibles</a:t>
            </a:r>
            <a:endParaRPr sz="14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4673" y="2386008"/>
            <a:ext cx="475051" cy="468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58" y="2417632"/>
            <a:ext cx="475051" cy="468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75462" y="2454854"/>
            <a:ext cx="419163" cy="413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39338" y="2407833"/>
            <a:ext cx="475051" cy="468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40605" y="2386008"/>
            <a:ext cx="502995" cy="496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8098234-6C9E-28A3-877F-78F30139C9B4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EB23A955-B700-73C9-3637-8657A67B14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>
            <a:spLocks noGrp="1"/>
          </p:cNvSpPr>
          <p:nvPr>
            <p:ph type="title"/>
          </p:nvPr>
        </p:nvSpPr>
        <p:spPr>
          <a:xfrm>
            <a:off x="116032" y="136159"/>
            <a:ext cx="7886700" cy="5435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>
                <a:latin typeface="Montserrat" panose="00000500000000000000" pitchFamily="2" charset="0"/>
              </a:rPr>
              <a:t>ETL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Tipos de Cargas (Load)</a:t>
            </a:r>
            <a:endParaRPr sz="1800" b="1" dirty="0">
              <a:latin typeface="Montserrat" panose="00000500000000000000" pitchFamily="2" charset="0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4712139" y="1700809"/>
            <a:ext cx="2737608" cy="3787934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7606864" y="1700808"/>
            <a:ext cx="2737608" cy="3787934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9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838234" y="3679958"/>
            <a:ext cx="2494871" cy="1570311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4833508" y="3854585"/>
            <a:ext cx="2494869" cy="1221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r>
              <a:rPr lang="es-ES" sz="135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/>
          </a:p>
          <a:p>
            <a:pPr marL="270272" lvl="1" indent="-138113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Grandes volúmenes de datos listos para consulta</a:t>
            </a:r>
            <a:endParaRPr/>
          </a:p>
          <a:p>
            <a:pPr marL="270272" lvl="1" indent="-138113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Snowflake, Google BigQuery</a:t>
            </a:r>
            <a:endParaRPr sz="12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7728232" y="2809620"/>
            <a:ext cx="2494871" cy="1570311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7806500" y="3076387"/>
            <a:ext cx="2338335" cy="10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r>
              <a:rPr lang="es-ES" sz="135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Almacenamiento distribuido</a:t>
            </a:r>
            <a:endParaRPr/>
          </a:p>
          <a:p>
            <a:pPr marL="270272" lvl="1" indent="-138113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Sistemas a gran escala</a:t>
            </a:r>
            <a:endParaRPr/>
          </a:p>
          <a:p>
            <a:pPr marL="270272" lvl="1" indent="-138113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HDFS</a:t>
            </a:r>
            <a:endParaRPr/>
          </a:p>
        </p:txBody>
      </p:sp>
      <p:grpSp>
        <p:nvGrpSpPr>
          <p:cNvPr id="170" name="Google Shape;170;p11"/>
          <p:cNvGrpSpPr/>
          <p:nvPr/>
        </p:nvGrpSpPr>
        <p:grpSpPr>
          <a:xfrm>
            <a:off x="1775520" y="1700808"/>
            <a:ext cx="2737608" cy="3787934"/>
            <a:chOff x="251520" y="1729298"/>
            <a:chExt cx="2737608" cy="3787934"/>
          </a:xfrm>
        </p:grpSpPr>
        <p:sp>
          <p:nvSpPr>
            <p:cNvPr id="171" name="Google Shape;171;p11"/>
            <p:cNvSpPr/>
            <p:nvPr/>
          </p:nvSpPr>
          <p:spPr>
            <a:xfrm>
              <a:off x="251520" y="1729298"/>
              <a:ext cx="2737608" cy="3787934"/>
            </a:xfrm>
            <a:prstGeom prst="rect">
              <a:avLst/>
            </a:prstGeom>
            <a:solidFill>
              <a:srgbClr val="D9D9D9">
                <a:alpha val="29803"/>
              </a:srgbClr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endParaRPr sz="9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363192" y="1919265"/>
              <a:ext cx="2494871" cy="1570311"/>
            </a:xfrm>
            <a:prstGeom prst="rect">
              <a:avLst/>
            </a:pr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endPara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1"/>
            <p:cNvSpPr txBox="1"/>
            <p:nvPr/>
          </p:nvSpPr>
          <p:spPr>
            <a:xfrm>
              <a:off x="445200" y="2281245"/>
              <a:ext cx="2338335" cy="846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r>
                <a:rPr lang="es-ES" sz="1350" b="1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Base datos relacionales</a:t>
              </a:r>
              <a:endParaRPr sz="135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70272" lvl="1" indent="-138113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12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Datos estructurados</a:t>
              </a:r>
              <a:endParaRPr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70272" lvl="1" indent="-138113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12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MySQL, PostgreSQL</a:t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358467" y="3673881"/>
              <a:ext cx="2494871" cy="1570311"/>
            </a:xfrm>
            <a:prstGeom prst="rect">
              <a:avLst/>
            </a:pr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endPara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 txBox="1"/>
            <p:nvPr/>
          </p:nvSpPr>
          <p:spPr>
            <a:xfrm>
              <a:off x="445200" y="3752396"/>
              <a:ext cx="2338335" cy="1413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r>
                <a:rPr lang="es-ES" sz="1350" b="1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Base datos NoSQL</a:t>
              </a:r>
              <a:endParaRPr/>
            </a:p>
            <a:p>
              <a:pPr marL="270272" lvl="1" indent="-138113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12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Datos semi-estructurados o no estructurados</a:t>
              </a:r>
              <a:endParaRPr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70272" lvl="1" indent="-138113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12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Clave-valor (Redis)</a:t>
              </a:r>
              <a:endParaRPr/>
            </a:p>
            <a:p>
              <a:pPr marL="270272" lvl="1" indent="-138113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12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Documentos (MongoDB)</a:t>
              </a:r>
              <a:endParaRPr/>
            </a:p>
            <a:p>
              <a:pPr marL="270272" lvl="1" indent="-138113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12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Grafos (Neo4j)</a:t>
              </a:r>
              <a:endParaRPr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/>
          <p:nvPr/>
        </p:nvSpPr>
        <p:spPr>
          <a:xfrm>
            <a:off x="4833508" y="1935020"/>
            <a:ext cx="2494871" cy="1570311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r>
              <a:rPr lang="es-ES" sz="135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Lakes</a:t>
            </a:r>
            <a:endParaRPr sz="1350" b="1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0272" lvl="1" indent="-138113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Grandes volúmenes de datos en forma “cruda”</a:t>
            </a:r>
            <a:endParaRPr/>
          </a:p>
          <a:p>
            <a:pPr marL="270272" lvl="1" indent="-138113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AWS S3, Azure Data Lake</a:t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4169270" y="1710775"/>
            <a:ext cx="360000" cy="360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D40D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23E7F88-A872-E6A3-09C4-6AF10C137B6A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DA42D440-CF53-F9BD-8CD5-18F467281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24E4-3DCA-15E1-A13E-7BD2DF2D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ADAD1E5-47E5-65D0-1013-E0982993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10865"/>
            <a:ext cx="9010650" cy="277987"/>
          </a:xfrm>
        </p:spPr>
        <p:txBody>
          <a:bodyPr>
            <a:noAutofit/>
          </a:bodyPr>
          <a:lstStyle/>
          <a:p>
            <a:r>
              <a:rPr lang="es-ES" sz="1800" b="1" dirty="0">
                <a:latin typeface="Montserrat" panose="00000500000000000000" pitchFamily="2" charset="0"/>
              </a:rPr>
              <a:t>Arquitectura de capas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Del dato crudo al valor con eficiencia</a:t>
            </a:r>
            <a:endParaRPr lang="es-ES" sz="1800" b="1" dirty="0">
              <a:latin typeface="Montserrat" panose="000005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F59D7CC-0A4D-88D7-BD07-4670B025E505}"/>
              </a:ext>
            </a:extLst>
          </p:cNvPr>
          <p:cNvGrpSpPr/>
          <p:nvPr/>
        </p:nvGrpSpPr>
        <p:grpSpPr>
          <a:xfrm>
            <a:off x="1703512" y="1268761"/>
            <a:ext cx="8568952" cy="4442467"/>
            <a:chOff x="323528" y="1684050"/>
            <a:chExt cx="8046748" cy="4027177"/>
          </a:xfrm>
        </p:grpSpPr>
        <p:sp>
          <p:nvSpPr>
            <p:cNvPr id="2" name="Rounded Rectangle 147">
              <a:extLst>
                <a:ext uri="{FF2B5EF4-FFF2-40B4-BE49-F238E27FC236}">
                  <a16:creationId xmlns:a16="http://schemas.microsoft.com/office/drawing/2014/main" id="{35CF758F-CBA3-5C42-A274-526AE8592954}"/>
                </a:ext>
              </a:extLst>
            </p:cNvPr>
            <p:cNvSpPr/>
            <p:nvPr/>
          </p:nvSpPr>
          <p:spPr>
            <a:xfrm>
              <a:off x="4167933" y="2836201"/>
              <a:ext cx="1350000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" rIns="0" bIns="137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Entidades de negocio (cliente, producto, transacción, …)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Datos enriquecidos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Agregaciones o cálculos</a:t>
              </a:r>
            </a:p>
          </p:txBody>
        </p:sp>
        <p:sp>
          <p:nvSpPr>
            <p:cNvPr id="3" name="Rounded Rectangle 147">
              <a:extLst>
                <a:ext uri="{FF2B5EF4-FFF2-40B4-BE49-F238E27FC236}">
                  <a16:creationId xmlns:a16="http://schemas.microsoft.com/office/drawing/2014/main" id="{76E030A3-0488-D194-60E0-BD19D2FA47C5}"/>
                </a:ext>
              </a:extLst>
            </p:cNvPr>
            <p:cNvSpPr/>
            <p:nvPr/>
          </p:nvSpPr>
          <p:spPr>
            <a:xfrm rot="5400000">
              <a:off x="2471793" y="536438"/>
              <a:ext cx="458775" cy="2754000"/>
            </a:xfrm>
            <a:prstGeom prst="roundRect">
              <a:avLst>
                <a:gd name="adj" fmla="val 12188"/>
              </a:avLst>
            </a:prstGeom>
            <a:pattFill prst="dkUpDiag">
              <a:fgClr>
                <a:srgbClr val="CC9900"/>
              </a:fgClr>
              <a:bgClr>
                <a:schemeClr val="bg1"/>
              </a:bgClr>
            </a:patt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200" b="1" err="1">
                  <a:solidFill>
                    <a:schemeClr val="tx1"/>
                  </a:solidFill>
                  <a:ea typeface="Verdana" panose="020B0604030504040204" pitchFamily="34" charset="0"/>
                </a:rPr>
                <a:t>Staging</a:t>
              </a:r>
              <a:r>
                <a:rPr lang="es-ES" sz="1200" b="1">
                  <a:solidFill>
                    <a:schemeClr val="tx1"/>
                  </a:solidFill>
                  <a:ea typeface="Verdana" panose="020B0604030504040204" pitchFamily="34" charset="0"/>
                </a:rPr>
                <a:t> / Bronce</a:t>
              </a:r>
            </a:p>
          </p:txBody>
        </p:sp>
        <p:sp>
          <p:nvSpPr>
            <p:cNvPr id="6" name="Rounded Rectangle 147">
              <a:extLst>
                <a:ext uri="{FF2B5EF4-FFF2-40B4-BE49-F238E27FC236}">
                  <a16:creationId xmlns:a16="http://schemas.microsoft.com/office/drawing/2014/main" id="{05D98174-0762-78AD-2FA6-A1B7214F512F}"/>
                </a:ext>
              </a:extLst>
            </p:cNvPr>
            <p:cNvSpPr/>
            <p:nvPr/>
          </p:nvSpPr>
          <p:spPr>
            <a:xfrm>
              <a:off x="1324181" y="2836201"/>
              <a:ext cx="1350000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" rIns="0" bIns="137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Recogida de las fuentes de datos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Forma original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Auditoría y recuperación de errores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endParaRPr lang="es-ES" sz="105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8" name="Rounded Rectangle 147">
              <a:extLst>
                <a:ext uri="{FF2B5EF4-FFF2-40B4-BE49-F238E27FC236}">
                  <a16:creationId xmlns:a16="http://schemas.microsoft.com/office/drawing/2014/main" id="{69790A0F-EB31-FDA5-2666-D882C68E942A}"/>
                </a:ext>
              </a:extLst>
            </p:cNvPr>
            <p:cNvSpPr/>
            <p:nvPr/>
          </p:nvSpPr>
          <p:spPr>
            <a:xfrm>
              <a:off x="2728181" y="2836201"/>
              <a:ext cx="1350000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" rIns="0" bIns="137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Datos limpios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Preparación inicial para análisis</a:t>
              </a:r>
            </a:p>
          </p:txBody>
        </p:sp>
        <p:sp>
          <p:nvSpPr>
            <p:cNvPr id="9" name="Rounded Rectangle 147">
              <a:extLst>
                <a:ext uri="{FF2B5EF4-FFF2-40B4-BE49-F238E27FC236}">
                  <a16:creationId xmlns:a16="http://schemas.microsoft.com/office/drawing/2014/main" id="{417F7C6F-4C1A-DDD6-6C90-0228FE02ED8A}"/>
                </a:ext>
              </a:extLst>
            </p:cNvPr>
            <p:cNvSpPr/>
            <p:nvPr/>
          </p:nvSpPr>
          <p:spPr>
            <a:xfrm rot="5400000">
              <a:off x="4613546" y="1238438"/>
              <a:ext cx="458775" cy="1350000"/>
            </a:xfrm>
            <a:prstGeom prst="roundRect">
              <a:avLst>
                <a:gd name="adj" fmla="val 12188"/>
              </a:avLst>
            </a:prstGeom>
            <a:pattFill prst="dkUpDiag">
              <a:fgClr>
                <a:schemeClr val="accent1">
                  <a:lumMod val="65000"/>
                </a:schemeClr>
              </a:fgClr>
              <a:bgClr>
                <a:schemeClr val="bg1"/>
              </a:bgClr>
            </a:patt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200" b="1">
                  <a:solidFill>
                    <a:schemeClr val="tx1"/>
                  </a:solidFill>
                  <a:ea typeface="Verdana" panose="020B0604030504040204" pitchFamily="34" charset="0"/>
                </a:rPr>
                <a:t>Core / Silver</a:t>
              </a:r>
            </a:p>
          </p:txBody>
        </p:sp>
        <p:sp>
          <p:nvSpPr>
            <p:cNvPr id="10" name="Rounded Rectangle 147">
              <a:extLst>
                <a:ext uri="{FF2B5EF4-FFF2-40B4-BE49-F238E27FC236}">
                  <a16:creationId xmlns:a16="http://schemas.microsoft.com/office/drawing/2014/main" id="{60DCC8E7-614E-8844-6D1C-D40770C02DE8}"/>
                </a:ext>
              </a:extLst>
            </p:cNvPr>
            <p:cNvSpPr/>
            <p:nvPr/>
          </p:nvSpPr>
          <p:spPr>
            <a:xfrm rot="5400000">
              <a:off x="6763888" y="536438"/>
              <a:ext cx="458775" cy="2754000"/>
            </a:xfrm>
            <a:prstGeom prst="roundRect">
              <a:avLst>
                <a:gd name="adj" fmla="val 12188"/>
              </a:avLst>
            </a:prstGeom>
            <a:pattFill prst="dkUpDiag">
              <a:fgClr>
                <a:srgbClr val="FFCC00"/>
              </a:fgClr>
              <a:bgClr>
                <a:schemeClr val="bg1"/>
              </a:bgClr>
            </a:patt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200" b="1" err="1">
                  <a:solidFill>
                    <a:schemeClr val="tx1"/>
                  </a:solidFill>
                  <a:ea typeface="Verdana" panose="020B0604030504040204" pitchFamily="34" charset="0"/>
                </a:rPr>
                <a:t>Presentation</a:t>
              </a:r>
              <a:r>
                <a:rPr lang="es-ES" sz="1200" b="1">
                  <a:solidFill>
                    <a:schemeClr val="tx1"/>
                  </a:solidFill>
                  <a:ea typeface="Verdana" panose="020B0604030504040204" pitchFamily="34" charset="0"/>
                </a:rPr>
                <a:t> / Gold</a:t>
              </a:r>
            </a:p>
          </p:txBody>
        </p:sp>
        <p:sp>
          <p:nvSpPr>
            <p:cNvPr id="11" name="Rounded Rectangle 147">
              <a:extLst>
                <a:ext uri="{FF2B5EF4-FFF2-40B4-BE49-F238E27FC236}">
                  <a16:creationId xmlns:a16="http://schemas.microsoft.com/office/drawing/2014/main" id="{F45F3A76-1A7F-4943-0D2C-9487F0B9EA96}"/>
                </a:ext>
              </a:extLst>
            </p:cNvPr>
            <p:cNvSpPr/>
            <p:nvPr/>
          </p:nvSpPr>
          <p:spPr>
            <a:xfrm>
              <a:off x="1324181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200">
                  <a:solidFill>
                    <a:schemeClr val="tx1"/>
                  </a:solidFill>
                  <a:ea typeface="Verdana" panose="020B0604030504040204" pitchFamily="34" charset="0"/>
                </a:rPr>
                <a:t>Raw</a:t>
              </a:r>
            </a:p>
          </p:txBody>
        </p:sp>
        <p:sp>
          <p:nvSpPr>
            <p:cNvPr id="12" name="Rounded Rectangle 147">
              <a:extLst>
                <a:ext uri="{FF2B5EF4-FFF2-40B4-BE49-F238E27FC236}">
                  <a16:creationId xmlns:a16="http://schemas.microsoft.com/office/drawing/2014/main" id="{BA92C060-526C-B6D2-5A40-EAEF69C33916}"/>
                </a:ext>
              </a:extLst>
            </p:cNvPr>
            <p:cNvSpPr/>
            <p:nvPr/>
          </p:nvSpPr>
          <p:spPr>
            <a:xfrm>
              <a:off x="5616275" y="2836201"/>
              <a:ext cx="1350000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" rIns="0" bIns="137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Diseñada para ML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Variables listas para entrenamiento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endParaRPr lang="es-ES" sz="105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17" name="Rounded Rectangle 147">
              <a:extLst>
                <a:ext uri="{FF2B5EF4-FFF2-40B4-BE49-F238E27FC236}">
                  <a16:creationId xmlns:a16="http://schemas.microsoft.com/office/drawing/2014/main" id="{88D140D7-7F98-4112-EBE4-F76DF8E49A84}"/>
                </a:ext>
              </a:extLst>
            </p:cNvPr>
            <p:cNvSpPr/>
            <p:nvPr/>
          </p:nvSpPr>
          <p:spPr>
            <a:xfrm>
              <a:off x="7013467" y="2836201"/>
              <a:ext cx="1356809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" rIns="0" bIns="137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 dirty="0">
                  <a:solidFill>
                    <a:schemeClr val="tx1"/>
                  </a:solidFill>
                  <a:ea typeface="Verdana" panose="020B0604030504040204" pitchFamily="34" charset="0"/>
                </a:rPr>
                <a:t>Listo para aplicaciones finales</a:t>
              </a:r>
            </a:p>
            <a:p>
              <a:pPr marL="128588" indent="-128588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1050" dirty="0">
                  <a:solidFill>
                    <a:schemeClr val="tx1"/>
                  </a:solidFill>
                  <a:ea typeface="Verdana" panose="020B0604030504040204" pitchFamily="34" charset="0"/>
                </a:rPr>
                <a:t>Necesidades de negocio</a:t>
              </a:r>
            </a:p>
          </p:txBody>
        </p:sp>
        <p:sp>
          <p:nvSpPr>
            <p:cNvPr id="20" name="Rounded Rectangle 147">
              <a:extLst>
                <a:ext uri="{FF2B5EF4-FFF2-40B4-BE49-F238E27FC236}">
                  <a16:creationId xmlns:a16="http://schemas.microsoft.com/office/drawing/2014/main" id="{7CABA294-414D-06EC-D4C4-6E4525727C50}"/>
                </a:ext>
              </a:extLst>
            </p:cNvPr>
            <p:cNvSpPr/>
            <p:nvPr/>
          </p:nvSpPr>
          <p:spPr>
            <a:xfrm>
              <a:off x="2728181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200">
                  <a:solidFill>
                    <a:schemeClr val="tx1"/>
                  </a:solidFill>
                  <a:ea typeface="Verdana" panose="020B0604030504040204" pitchFamily="34" charset="0"/>
                </a:rPr>
                <a:t>Standard</a:t>
              </a:r>
            </a:p>
          </p:txBody>
        </p:sp>
        <p:sp>
          <p:nvSpPr>
            <p:cNvPr id="22" name="Rounded Rectangle 147">
              <a:extLst>
                <a:ext uri="{FF2B5EF4-FFF2-40B4-BE49-F238E27FC236}">
                  <a16:creationId xmlns:a16="http://schemas.microsoft.com/office/drawing/2014/main" id="{EF34DBD4-ABDB-E3B5-3BDC-A07A3FB92610}"/>
                </a:ext>
              </a:extLst>
            </p:cNvPr>
            <p:cNvSpPr/>
            <p:nvPr/>
          </p:nvSpPr>
          <p:spPr>
            <a:xfrm>
              <a:off x="4167933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200" err="1">
                  <a:solidFill>
                    <a:schemeClr val="tx1"/>
                  </a:solidFill>
                  <a:ea typeface="Verdana" panose="020B0604030504040204" pitchFamily="34" charset="0"/>
                </a:rPr>
                <a:t>Conformed</a:t>
              </a:r>
              <a:endParaRPr lang="es-ES" sz="120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3" name="Rounded Rectangle 147">
              <a:extLst>
                <a:ext uri="{FF2B5EF4-FFF2-40B4-BE49-F238E27FC236}">
                  <a16:creationId xmlns:a16="http://schemas.microsoft.com/office/drawing/2014/main" id="{1DC1DD45-4D99-33BA-FB88-85E73265C570}"/>
                </a:ext>
              </a:extLst>
            </p:cNvPr>
            <p:cNvSpPr/>
            <p:nvPr/>
          </p:nvSpPr>
          <p:spPr>
            <a:xfrm>
              <a:off x="5616275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200">
                  <a:solidFill>
                    <a:schemeClr val="tx1"/>
                  </a:solidFill>
                  <a:ea typeface="Verdana"/>
                </a:rPr>
                <a:t>Datamart</a:t>
              </a:r>
              <a:endParaRPr lang="es-ES" sz="120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4" name="Rounded Rectangle 147">
              <a:extLst>
                <a:ext uri="{FF2B5EF4-FFF2-40B4-BE49-F238E27FC236}">
                  <a16:creationId xmlns:a16="http://schemas.microsoft.com/office/drawing/2014/main" id="{DFAA9A4A-F7E9-30D4-65B3-4CA077F4E02D}"/>
                </a:ext>
              </a:extLst>
            </p:cNvPr>
            <p:cNvSpPr/>
            <p:nvPr/>
          </p:nvSpPr>
          <p:spPr>
            <a:xfrm>
              <a:off x="7020275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200" err="1">
                  <a:solidFill>
                    <a:schemeClr val="tx1"/>
                  </a:solidFill>
                  <a:ea typeface="Verdana" panose="020B0604030504040204" pitchFamily="34" charset="0"/>
                </a:rPr>
                <a:t>Report</a:t>
              </a:r>
              <a:endParaRPr lang="es-ES" sz="120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5" name="Rounded Rectangle 147">
              <a:extLst>
                <a:ext uri="{FF2B5EF4-FFF2-40B4-BE49-F238E27FC236}">
                  <a16:creationId xmlns:a16="http://schemas.microsoft.com/office/drawing/2014/main" id="{E5A92599-0AE1-FD1E-06A9-DA7FDD2A1942}"/>
                </a:ext>
              </a:extLst>
            </p:cNvPr>
            <p:cNvSpPr/>
            <p:nvPr/>
          </p:nvSpPr>
          <p:spPr>
            <a:xfrm>
              <a:off x="1324181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Data </a:t>
              </a:r>
              <a:r>
                <a:rPr lang="es-ES" sz="1050" err="1">
                  <a:solidFill>
                    <a:schemeClr val="tx1"/>
                  </a:solidFill>
                  <a:ea typeface="Verdana" panose="020B0604030504040204" pitchFamily="34" charset="0"/>
                </a:rPr>
                <a:t>Engineering</a:t>
              </a:r>
              <a:endParaRPr lang="es-ES" sz="105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6" name="Rounded Rectangle 147">
              <a:extLst>
                <a:ext uri="{FF2B5EF4-FFF2-40B4-BE49-F238E27FC236}">
                  <a16:creationId xmlns:a16="http://schemas.microsoft.com/office/drawing/2014/main" id="{29E67515-2BA8-981A-8EF0-CB4CD05F62A7}"/>
                </a:ext>
              </a:extLst>
            </p:cNvPr>
            <p:cNvSpPr/>
            <p:nvPr/>
          </p:nvSpPr>
          <p:spPr>
            <a:xfrm>
              <a:off x="2728181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050" dirty="0">
                  <a:solidFill>
                    <a:schemeClr val="tx1"/>
                  </a:solidFill>
                  <a:ea typeface="Verdana" panose="020B0604030504040204" pitchFamily="34" charset="0"/>
                </a:rPr>
                <a:t>Data </a:t>
              </a:r>
              <a:r>
                <a:rPr lang="es-ES" sz="1050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analyst</a:t>
              </a:r>
              <a:r>
                <a:rPr lang="es-ES" sz="1050" dirty="0">
                  <a:solidFill>
                    <a:schemeClr val="tx1"/>
                  </a:solidFill>
                  <a:ea typeface="Verdana" panose="020B0604030504040204" pitchFamily="34" charset="0"/>
                </a:rPr>
                <a:t>, </a:t>
              </a:r>
              <a:r>
                <a:rPr lang="es-ES" sz="1050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Engineers</a:t>
              </a:r>
              <a:endParaRPr lang="es-ES" sz="1050" dirty="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7" name="Rounded Rectangle 147">
              <a:extLst>
                <a:ext uri="{FF2B5EF4-FFF2-40B4-BE49-F238E27FC236}">
                  <a16:creationId xmlns:a16="http://schemas.microsoft.com/office/drawing/2014/main" id="{1BBF7189-0107-27BA-2910-EAD647FF5ED1}"/>
                </a:ext>
              </a:extLst>
            </p:cNvPr>
            <p:cNvSpPr/>
            <p:nvPr/>
          </p:nvSpPr>
          <p:spPr>
            <a:xfrm>
              <a:off x="4167933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050" dirty="0">
                  <a:solidFill>
                    <a:schemeClr val="tx1"/>
                  </a:solidFill>
                  <a:ea typeface="Verdana" panose="020B0604030504040204" pitchFamily="34" charset="0"/>
                </a:rPr>
                <a:t>Data </a:t>
              </a:r>
              <a:r>
                <a:rPr lang="es-ES" sz="1050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Engineers</a:t>
              </a:r>
              <a:r>
                <a:rPr lang="es-ES" sz="1050" dirty="0">
                  <a:solidFill>
                    <a:schemeClr val="tx1"/>
                  </a:solidFill>
                  <a:ea typeface="Verdana" panose="020B0604030504040204" pitchFamily="34" charset="0"/>
                </a:rPr>
                <a:t>, </a:t>
              </a:r>
              <a:r>
                <a:rPr lang="es-ES" sz="1050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analyst</a:t>
              </a:r>
              <a:r>
                <a:rPr lang="es-ES" sz="1050" dirty="0">
                  <a:solidFill>
                    <a:schemeClr val="tx1"/>
                  </a:solidFill>
                  <a:ea typeface="Verdana" panose="020B0604030504040204" pitchFamily="34" charset="0"/>
                </a:rPr>
                <a:t> </a:t>
              </a:r>
              <a:r>
                <a:rPr lang="es-ES" sz="1050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Scientist</a:t>
              </a:r>
              <a:endParaRPr lang="es-ES" sz="1050" dirty="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9" name="Rounded Rectangle 147">
              <a:extLst>
                <a:ext uri="{FF2B5EF4-FFF2-40B4-BE49-F238E27FC236}">
                  <a16:creationId xmlns:a16="http://schemas.microsoft.com/office/drawing/2014/main" id="{3E6A2871-4AE1-D3ED-F913-7C7B0E729ECA}"/>
                </a:ext>
              </a:extLst>
            </p:cNvPr>
            <p:cNvSpPr/>
            <p:nvPr/>
          </p:nvSpPr>
          <p:spPr>
            <a:xfrm>
              <a:off x="5616275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Data </a:t>
              </a:r>
              <a:r>
                <a:rPr lang="es-ES" sz="1050" err="1">
                  <a:solidFill>
                    <a:schemeClr val="tx1"/>
                  </a:solidFill>
                  <a:ea typeface="Verdana" panose="020B0604030504040204" pitchFamily="34" charset="0"/>
                </a:rPr>
                <a:t>Scientist</a:t>
              </a: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, BI</a:t>
              </a:r>
            </a:p>
          </p:txBody>
        </p:sp>
        <p:sp>
          <p:nvSpPr>
            <p:cNvPr id="30" name="Rounded Rectangle 147">
              <a:extLst>
                <a:ext uri="{FF2B5EF4-FFF2-40B4-BE49-F238E27FC236}">
                  <a16:creationId xmlns:a16="http://schemas.microsoft.com/office/drawing/2014/main" id="{7B25B6BA-A8A6-131B-F7D7-7D7CEFEB3757}"/>
                </a:ext>
              </a:extLst>
            </p:cNvPr>
            <p:cNvSpPr/>
            <p:nvPr/>
          </p:nvSpPr>
          <p:spPr>
            <a:xfrm>
              <a:off x="7020275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25946" rIns="0" bIns="2594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1050">
                  <a:solidFill>
                    <a:schemeClr val="tx1"/>
                  </a:solidFill>
                  <a:ea typeface="Verdana" panose="020B0604030504040204" pitchFamily="34" charset="0"/>
                </a:rPr>
                <a:t>“C” Roles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89E3875-F0A2-499C-2CB5-423E474A2554}"/>
                </a:ext>
              </a:extLst>
            </p:cNvPr>
            <p:cNvSpPr txBox="1"/>
            <p:nvPr/>
          </p:nvSpPr>
          <p:spPr>
            <a:xfrm>
              <a:off x="323528" y="1791938"/>
              <a:ext cx="900000" cy="252000"/>
            </a:xfrm>
            <a:prstGeom prst="rect">
              <a:avLst/>
            </a:prstGeom>
            <a:solidFill>
              <a:srgbClr val="4472C4">
                <a:alpha val="30196"/>
              </a:srgbClr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ES" sz="1200" dirty="0">
                  <a:solidFill>
                    <a:schemeClr val="tx2">
                      <a:lumMod val="75000"/>
                    </a:schemeClr>
                  </a:solidFill>
                </a:rPr>
                <a:t>Capa</a:t>
              </a:r>
              <a:endParaRPr lang="en-US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FA94A4-C4E2-DCB4-74F4-A292E699E1D8}"/>
                </a:ext>
              </a:extLst>
            </p:cNvPr>
            <p:cNvSpPr txBox="1"/>
            <p:nvPr/>
          </p:nvSpPr>
          <p:spPr>
            <a:xfrm>
              <a:off x="323528" y="2333666"/>
              <a:ext cx="900000" cy="252000"/>
            </a:xfrm>
            <a:prstGeom prst="rect">
              <a:avLst/>
            </a:prstGeom>
            <a:solidFill>
              <a:srgbClr val="4472C4">
                <a:alpha val="30196"/>
              </a:srgbClr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algn="ctr">
                <a:defRPr sz="1200">
                  <a:solidFill>
                    <a:schemeClr val="tx2">
                      <a:lumMod val="75000"/>
                    </a:schemeClr>
                  </a:solidFill>
                </a:defRPr>
              </a:lvl1pPr>
            </a:lstStyle>
            <a:p>
              <a:r>
                <a:rPr lang="es-ES"/>
                <a:t>Sublayer</a:t>
              </a:r>
              <a:endParaRPr lang="en-US" err="1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2901FE3-E26B-2F33-1DE7-EB7D5B398EE8}"/>
                </a:ext>
              </a:extLst>
            </p:cNvPr>
            <p:cNvSpPr txBox="1"/>
            <p:nvPr/>
          </p:nvSpPr>
          <p:spPr>
            <a:xfrm>
              <a:off x="323528" y="3875640"/>
              <a:ext cx="900000" cy="252000"/>
            </a:xfrm>
            <a:prstGeom prst="rect">
              <a:avLst/>
            </a:prstGeom>
            <a:solidFill>
              <a:srgbClr val="4472C4">
                <a:alpha val="30196"/>
              </a:srgbClr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algn="ctr">
                <a:defRPr sz="1200">
                  <a:solidFill>
                    <a:schemeClr val="tx2">
                      <a:lumMod val="75000"/>
                    </a:schemeClr>
                  </a:solidFill>
                </a:defRPr>
              </a:lvl1pPr>
            </a:lstStyle>
            <a:p>
              <a:r>
                <a:rPr lang="es-ES" dirty="0"/>
                <a:t>Propósito</a:t>
              </a:r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3EE5C9-BF8F-B56E-76CD-B5BBFB9B80D1}"/>
                </a:ext>
              </a:extLst>
            </p:cNvPr>
            <p:cNvSpPr txBox="1"/>
            <p:nvPr/>
          </p:nvSpPr>
          <p:spPr>
            <a:xfrm>
              <a:off x="323528" y="5360339"/>
              <a:ext cx="900000" cy="252000"/>
            </a:xfrm>
            <a:prstGeom prst="rect">
              <a:avLst/>
            </a:prstGeom>
            <a:solidFill>
              <a:srgbClr val="4472C4">
                <a:alpha val="30196"/>
              </a:srgbClr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algn="ctr">
                <a:defRPr sz="1200">
                  <a:solidFill>
                    <a:schemeClr val="tx2">
                      <a:lumMod val="75000"/>
                    </a:schemeClr>
                  </a:solidFill>
                </a:defRPr>
              </a:lvl1pPr>
            </a:lstStyle>
            <a:p>
              <a:r>
                <a:rPr lang="es-ES" dirty="0"/>
                <a:t>Consumidor</a:t>
              </a:r>
              <a:endParaRPr lang="en-US" dirty="0"/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99BD5CAB-B332-9BD6-6010-E6278F370986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1D1AA8C-8998-60B8-C17B-D5DA2C175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2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B6146B7F-C561-A1FD-E0F9-6A5E22D2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DF7D68BF-6606-6D8D-1A07-BEEF57EFEB18}"/>
              </a:ext>
            </a:extLst>
          </p:cNvPr>
          <p:cNvGrpSpPr/>
          <p:nvPr/>
        </p:nvGrpSpPr>
        <p:grpSpPr>
          <a:xfrm>
            <a:off x="1789916" y="1164305"/>
            <a:ext cx="2131449" cy="697548"/>
            <a:chOff x="387954" y="2325414"/>
            <a:chExt cx="2131449" cy="697548"/>
          </a:xfrm>
        </p:grpSpPr>
        <p:sp>
          <p:nvSpPr>
            <p:cNvPr id="24" name="Google Shape;2204;p106">
              <a:extLst>
                <a:ext uri="{FF2B5EF4-FFF2-40B4-BE49-F238E27FC236}">
                  <a16:creationId xmlns:a16="http://schemas.microsoft.com/office/drawing/2014/main" id="{E134F76B-F3ED-9732-1925-086D5B11D91A}"/>
                </a:ext>
              </a:extLst>
            </p:cNvPr>
            <p:cNvSpPr/>
            <p:nvPr/>
          </p:nvSpPr>
          <p:spPr>
            <a:xfrm>
              <a:off x="387954" y="2397881"/>
              <a:ext cx="1245300" cy="590700"/>
            </a:xfrm>
            <a:prstGeom prst="rect">
              <a:avLst/>
            </a:prstGeom>
            <a:solidFill>
              <a:srgbClr val="B87333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12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" name="Google Shape;2207;p106">
              <a:extLst>
                <a:ext uri="{FF2B5EF4-FFF2-40B4-BE49-F238E27FC236}">
                  <a16:creationId xmlns:a16="http://schemas.microsoft.com/office/drawing/2014/main" id="{9D327496-5416-D4E9-9A94-DE0C045B9820}"/>
                </a:ext>
              </a:extLst>
            </p:cNvPr>
            <p:cNvSpPr/>
            <p:nvPr/>
          </p:nvSpPr>
          <p:spPr>
            <a:xfrm>
              <a:off x="1615599" y="2325414"/>
              <a:ext cx="737616" cy="697548"/>
            </a:xfrm>
            <a:custGeom>
              <a:avLst/>
              <a:gdLst/>
              <a:ahLst/>
              <a:cxnLst/>
              <a:rect l="l" t="t" r="r" b="b"/>
              <a:pathLst>
                <a:path w="2438401" h="1073151" extrusionOk="0">
                  <a:moveTo>
                    <a:pt x="758192" y="0"/>
                  </a:moveTo>
                  <a:lnTo>
                    <a:pt x="762001" y="0"/>
                  </a:lnTo>
                  <a:lnTo>
                    <a:pt x="2438401" y="374659"/>
                  </a:lnTo>
                  <a:lnTo>
                    <a:pt x="2438401" y="1073151"/>
                  </a:lnTo>
                  <a:lnTo>
                    <a:pt x="2419370" y="1072402"/>
                  </a:lnTo>
                  <a:lnTo>
                    <a:pt x="2434592" y="1073151"/>
                  </a:lnTo>
                  <a:lnTo>
                    <a:pt x="1948237" y="1073151"/>
                  </a:lnTo>
                  <a:lnTo>
                    <a:pt x="0" y="1023621"/>
                  </a:lnTo>
                  <a:lnTo>
                    <a:pt x="1" y="1023621"/>
                  </a:lnTo>
                  <a:lnTo>
                    <a:pt x="1" y="111745"/>
                  </a:lnTo>
                  <a:lnTo>
                    <a:pt x="758192" y="0"/>
                  </a:lnTo>
                  <a:close/>
                </a:path>
              </a:pathLst>
            </a:custGeom>
            <a:solidFill>
              <a:srgbClr val="3B4A1E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endParaRPr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208;p106">
              <a:extLst>
                <a:ext uri="{FF2B5EF4-FFF2-40B4-BE49-F238E27FC236}">
                  <a16:creationId xmlns:a16="http://schemas.microsoft.com/office/drawing/2014/main" id="{471540E5-6C00-AAFD-1ACE-6AD28B3ED21C}"/>
                </a:ext>
              </a:extLst>
            </p:cNvPr>
            <p:cNvSpPr/>
            <p:nvPr/>
          </p:nvSpPr>
          <p:spPr>
            <a:xfrm>
              <a:off x="1847019" y="2325414"/>
              <a:ext cx="509112" cy="69638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lnTo>
                    <a:pt x="0" y="20271"/>
                  </a:lnTo>
                  <a:lnTo>
                    <a:pt x="0" y="0"/>
                  </a:lnTo>
                  <a:lnTo>
                    <a:pt x="21600" y="7541"/>
                  </a:lnTo>
                  <a:close/>
                </a:path>
              </a:pathLst>
            </a:custGeom>
            <a:solidFill>
              <a:srgbClr val="B87333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algn="ctr"/>
              <a:endParaRPr sz="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D3D62BAC-FE1F-4099-0B42-FD56D1C3E3B5}"/>
                </a:ext>
              </a:extLst>
            </p:cNvPr>
            <p:cNvSpPr txBox="1"/>
            <p:nvPr/>
          </p:nvSpPr>
          <p:spPr>
            <a:xfrm>
              <a:off x="571089" y="2487530"/>
              <a:ext cx="9376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BRONZE LAYER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B2E5E850-B66B-C29C-39EC-4639380A61DB}"/>
                </a:ext>
              </a:extLst>
            </p:cNvPr>
            <p:cNvSpPr txBox="1"/>
            <p:nvPr/>
          </p:nvSpPr>
          <p:spPr>
            <a:xfrm>
              <a:off x="1810359" y="2548532"/>
              <a:ext cx="70904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8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Ingesta Cruda</a:t>
              </a:r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6410E45-A888-FE55-1488-E97AC3A0F252}"/>
              </a:ext>
            </a:extLst>
          </p:cNvPr>
          <p:cNvSpPr txBox="1"/>
          <p:nvPr/>
        </p:nvSpPr>
        <p:spPr>
          <a:xfrm>
            <a:off x="3315770" y="3512529"/>
            <a:ext cx="823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</a:rPr>
              <a:t>Datos</a:t>
            </a:r>
          </a:p>
          <a:p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</a:rPr>
              <a:t>Depurados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120634B-8688-2668-5308-DEA6E863B92A}"/>
              </a:ext>
            </a:extLst>
          </p:cNvPr>
          <p:cNvSpPr txBox="1"/>
          <p:nvPr/>
        </p:nvSpPr>
        <p:spPr>
          <a:xfrm>
            <a:off x="3334360" y="4572887"/>
            <a:ext cx="823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</a:rPr>
              <a:t>Valor</a:t>
            </a:r>
          </a:p>
          <a:p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</a:rPr>
              <a:t>Negocio</a:t>
            </a:r>
          </a:p>
        </p:txBody>
      </p:sp>
      <p:sp>
        <p:nvSpPr>
          <p:cNvPr id="5" name="Google Shape;2110;p105">
            <a:extLst>
              <a:ext uri="{FF2B5EF4-FFF2-40B4-BE49-F238E27FC236}">
                <a16:creationId xmlns:a16="http://schemas.microsoft.com/office/drawing/2014/main" id="{CE35AE8C-FB88-1567-0C34-307CEC2690E1}"/>
              </a:ext>
            </a:extLst>
          </p:cNvPr>
          <p:cNvSpPr/>
          <p:nvPr/>
        </p:nvSpPr>
        <p:spPr>
          <a:xfrm>
            <a:off x="4262860" y="1280328"/>
            <a:ext cx="5238612" cy="59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27A68C-93EE-142A-A5DF-0AB10BFFF235}"/>
              </a:ext>
            </a:extLst>
          </p:cNvPr>
          <p:cNvSpPr txBox="1"/>
          <p:nvPr/>
        </p:nvSpPr>
        <p:spPr>
          <a:xfrm>
            <a:off x="4343158" y="1349908"/>
            <a:ext cx="4993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La capa de bronce contiene datos </a:t>
            </a:r>
            <a:r>
              <a:rPr lang="es-ES" sz="900" b="1" dirty="0">
                <a:latin typeface="Montserrat" panose="00000500000000000000" pitchFamily="2" charset="0"/>
              </a:rPr>
              <a:t>sin procesar y no validados</a:t>
            </a:r>
            <a:r>
              <a:rPr lang="es-ES" sz="900" dirty="0">
                <a:latin typeface="Montserrat" panose="00000500000000000000" pitchFamily="2" charset="0"/>
              </a:rPr>
              <a:t>. Los datos ingeridos en la capa de bronce suelen tener las siguientes características:</a:t>
            </a:r>
          </a:p>
          <a:p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2FDD64-D793-3888-4996-34A9885B33E0}"/>
              </a:ext>
            </a:extLst>
          </p:cNvPr>
          <p:cNvSpPr txBox="1"/>
          <p:nvPr/>
        </p:nvSpPr>
        <p:spPr>
          <a:xfrm>
            <a:off x="4258490" y="2204061"/>
            <a:ext cx="5110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Contiene y mantiene el estado sin procesar del origen de datos en sus formatos originales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4ECE83-BF7E-0738-4315-81F4AA373CFD}"/>
              </a:ext>
            </a:extLst>
          </p:cNvPr>
          <p:cNvSpPr txBox="1"/>
          <p:nvPr/>
        </p:nvSpPr>
        <p:spPr>
          <a:xfrm>
            <a:off x="4258490" y="3032974"/>
            <a:ext cx="4952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Se agrega gradualmente con el tiempo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DBA941-0612-5FE2-37C1-F853C6116976}"/>
              </a:ext>
            </a:extLst>
          </p:cNvPr>
          <p:cNvSpPr txBox="1"/>
          <p:nvPr/>
        </p:nvSpPr>
        <p:spPr>
          <a:xfrm>
            <a:off x="4262860" y="3707996"/>
            <a:ext cx="49399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Está pensado para el consumo de cargas de trabajo que enriquecen los datos de las tablas </a:t>
            </a:r>
            <a:r>
              <a:rPr lang="es-ES" sz="1000" dirty="0" err="1">
                <a:solidFill>
                  <a:srgbClr val="161616"/>
                </a:solidFill>
                <a:latin typeface="Montserrat" panose="00000500000000000000" pitchFamily="2" charset="0"/>
              </a:rPr>
              <a:t>silver</a:t>
            </a:r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, no para el acceso de analistas y científicos de datos.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1FD5A8-1B52-8D25-F82A-00E61EA562E9}"/>
              </a:ext>
            </a:extLst>
          </p:cNvPr>
          <p:cNvSpPr txBox="1"/>
          <p:nvPr/>
        </p:nvSpPr>
        <p:spPr>
          <a:xfrm>
            <a:off x="4262860" y="4599077"/>
            <a:ext cx="4952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Sirve como única fuente de verdad, preservando la fidelidad de los datos.</a:t>
            </a:r>
          </a:p>
          <a:p>
            <a:endParaRPr lang="es-ES" sz="1000" dirty="0">
              <a:solidFill>
                <a:srgbClr val="161616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5274F4B-312D-63C1-C912-843EF11441A1}"/>
              </a:ext>
            </a:extLst>
          </p:cNvPr>
          <p:cNvSpPr txBox="1"/>
          <p:nvPr/>
        </p:nvSpPr>
        <p:spPr>
          <a:xfrm>
            <a:off x="4343158" y="5357461"/>
            <a:ext cx="48677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Permite el reprocesamiento y la auditoría al conservar todos los datos históricos.</a:t>
            </a:r>
          </a:p>
          <a:p>
            <a:endParaRPr lang="es-ES" sz="1000" dirty="0">
              <a:solidFill>
                <a:srgbClr val="161616"/>
              </a:solidFill>
              <a:latin typeface="Montserrat" panose="00000500000000000000" pitchFamily="2" charset="0"/>
            </a:endParaRPr>
          </a:p>
        </p:txBody>
      </p:sp>
      <p:pic>
        <p:nvPicPr>
          <p:cNvPr id="19" name="Imagen 18" descr="Forma&#10;&#10;El contenido generado por IA puede ser incorrecto.">
            <a:extLst>
              <a:ext uri="{FF2B5EF4-FFF2-40B4-BE49-F238E27FC236}">
                <a16:creationId xmlns:a16="http://schemas.microsoft.com/office/drawing/2014/main" id="{ADAC4E21-B621-8843-688F-1D4BEA1019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61496" y="4402468"/>
            <a:ext cx="593680" cy="593680"/>
          </a:xfrm>
          <a:prstGeom prst="rect">
            <a:avLst/>
          </a:prstGeom>
        </p:spPr>
      </p:pic>
      <p:pic>
        <p:nvPicPr>
          <p:cNvPr id="21" name="Imagen 20" descr="Logotipo&#10;&#10;El contenido generado por IA puede ser incorrecto.">
            <a:extLst>
              <a:ext uri="{FF2B5EF4-FFF2-40B4-BE49-F238E27FC236}">
                <a16:creationId xmlns:a16="http://schemas.microsoft.com/office/drawing/2014/main" id="{E248FD82-70BE-71D8-572F-88C1097D72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68826" y="3649713"/>
            <a:ext cx="494384" cy="494384"/>
          </a:xfrm>
          <a:prstGeom prst="rect">
            <a:avLst/>
          </a:prstGeom>
        </p:spPr>
      </p:pic>
      <p:pic>
        <p:nvPicPr>
          <p:cNvPr id="52" name="Imagen 51" descr="Forma&#10;&#10;El contenido generado por IA puede ser incorrecto.">
            <a:extLst>
              <a:ext uri="{FF2B5EF4-FFF2-40B4-BE49-F238E27FC236}">
                <a16:creationId xmlns:a16="http://schemas.microsoft.com/office/drawing/2014/main" id="{1707698E-7083-9BBF-0E68-E357A8E082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55639" y="2148757"/>
            <a:ext cx="505975" cy="505975"/>
          </a:xfrm>
          <a:prstGeom prst="rect">
            <a:avLst/>
          </a:prstGeom>
        </p:spPr>
      </p:pic>
      <p:pic>
        <p:nvPicPr>
          <p:cNvPr id="54" name="Imagen 5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F4DD35-8706-845A-793F-E55F5F9495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497" y="2859201"/>
            <a:ext cx="551883" cy="550635"/>
          </a:xfrm>
          <a:prstGeom prst="rect">
            <a:avLst/>
          </a:prstGeom>
        </p:spPr>
      </p:pic>
      <p:pic>
        <p:nvPicPr>
          <p:cNvPr id="56" name="Imagen 55" descr="Icono&#10;&#10;El contenido generado por IA puede ser incorrecto.">
            <a:extLst>
              <a:ext uri="{FF2B5EF4-FFF2-40B4-BE49-F238E27FC236}">
                <a16:creationId xmlns:a16="http://schemas.microsoft.com/office/drawing/2014/main" id="{5012016F-9A86-7E9B-E329-C0996FA803B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981" y="5289558"/>
            <a:ext cx="571517" cy="57151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F7855C2-1EAF-B0AE-B0DE-2AAC66510A44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4B54AFD-3B00-C9B9-1CFC-9D3E2A4618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14" name="Título 4">
            <a:extLst>
              <a:ext uri="{FF2B5EF4-FFF2-40B4-BE49-F238E27FC236}">
                <a16:creationId xmlns:a16="http://schemas.microsoft.com/office/drawing/2014/main" id="{6FFB5050-DAC9-327F-BFB4-69BAD459127A}"/>
              </a:ext>
            </a:extLst>
          </p:cNvPr>
          <p:cNvSpPr txBox="1">
            <a:spLocks/>
          </p:cNvSpPr>
          <p:nvPr/>
        </p:nvSpPr>
        <p:spPr>
          <a:xfrm>
            <a:off x="406400" y="310865"/>
            <a:ext cx="9010650" cy="2779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b="1" dirty="0">
                <a:latin typeface="Montserrat" panose="00000500000000000000" pitchFamily="2" charset="0"/>
              </a:rPr>
              <a:t>Arquitectura de capas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sz="18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Bronze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sz="18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Layer</a:t>
            </a:r>
            <a:endParaRPr lang="es-ES" sz="18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19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A06F0683-0424-B7B2-7230-C7536F5B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215EF5E0-5E3F-E3A9-2CFE-5257BFB89AE1}"/>
              </a:ext>
            </a:extLst>
          </p:cNvPr>
          <p:cNvGrpSpPr/>
          <p:nvPr/>
        </p:nvGrpSpPr>
        <p:grpSpPr>
          <a:xfrm>
            <a:off x="1789916" y="1108889"/>
            <a:ext cx="2200471" cy="697548"/>
            <a:chOff x="387954" y="2325414"/>
            <a:chExt cx="2200471" cy="697548"/>
          </a:xfrm>
        </p:grpSpPr>
        <p:sp>
          <p:nvSpPr>
            <p:cNvPr id="24" name="Google Shape;2204;p106">
              <a:extLst>
                <a:ext uri="{FF2B5EF4-FFF2-40B4-BE49-F238E27FC236}">
                  <a16:creationId xmlns:a16="http://schemas.microsoft.com/office/drawing/2014/main" id="{3AB40E2E-7BD0-529A-E140-865294C77C78}"/>
                </a:ext>
              </a:extLst>
            </p:cNvPr>
            <p:cNvSpPr/>
            <p:nvPr/>
          </p:nvSpPr>
          <p:spPr>
            <a:xfrm>
              <a:off x="387954" y="2397881"/>
              <a:ext cx="1245300" cy="5907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12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" name="Google Shape;2207;p106">
              <a:extLst>
                <a:ext uri="{FF2B5EF4-FFF2-40B4-BE49-F238E27FC236}">
                  <a16:creationId xmlns:a16="http://schemas.microsoft.com/office/drawing/2014/main" id="{60263553-310E-2C0F-8A72-A3F73FFA4AB6}"/>
                </a:ext>
              </a:extLst>
            </p:cNvPr>
            <p:cNvSpPr/>
            <p:nvPr/>
          </p:nvSpPr>
          <p:spPr>
            <a:xfrm>
              <a:off x="1615599" y="2325414"/>
              <a:ext cx="737616" cy="697548"/>
            </a:xfrm>
            <a:custGeom>
              <a:avLst/>
              <a:gdLst/>
              <a:ahLst/>
              <a:cxnLst/>
              <a:rect l="l" t="t" r="r" b="b"/>
              <a:pathLst>
                <a:path w="2438401" h="1073151" extrusionOk="0">
                  <a:moveTo>
                    <a:pt x="758192" y="0"/>
                  </a:moveTo>
                  <a:lnTo>
                    <a:pt x="762001" y="0"/>
                  </a:lnTo>
                  <a:lnTo>
                    <a:pt x="2438401" y="374659"/>
                  </a:lnTo>
                  <a:lnTo>
                    <a:pt x="2438401" y="1073151"/>
                  </a:lnTo>
                  <a:lnTo>
                    <a:pt x="2419370" y="1072402"/>
                  </a:lnTo>
                  <a:lnTo>
                    <a:pt x="2434592" y="1073151"/>
                  </a:lnTo>
                  <a:lnTo>
                    <a:pt x="1948237" y="1073151"/>
                  </a:lnTo>
                  <a:lnTo>
                    <a:pt x="0" y="1023621"/>
                  </a:lnTo>
                  <a:lnTo>
                    <a:pt x="1" y="1023621"/>
                  </a:lnTo>
                  <a:lnTo>
                    <a:pt x="1" y="111745"/>
                  </a:lnTo>
                  <a:lnTo>
                    <a:pt x="758192" y="0"/>
                  </a:lnTo>
                  <a:close/>
                </a:path>
              </a:pathLst>
            </a:custGeom>
            <a:solidFill>
              <a:srgbClr val="8A8A8A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endParaRPr dirty="0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208;p106">
              <a:extLst>
                <a:ext uri="{FF2B5EF4-FFF2-40B4-BE49-F238E27FC236}">
                  <a16:creationId xmlns:a16="http://schemas.microsoft.com/office/drawing/2014/main" id="{0D4FFB1B-5A00-447C-F45C-145D3FFB6DFB}"/>
                </a:ext>
              </a:extLst>
            </p:cNvPr>
            <p:cNvSpPr/>
            <p:nvPr/>
          </p:nvSpPr>
          <p:spPr>
            <a:xfrm>
              <a:off x="1847019" y="2325414"/>
              <a:ext cx="509112" cy="69638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lnTo>
                    <a:pt x="0" y="20271"/>
                  </a:lnTo>
                  <a:lnTo>
                    <a:pt x="0" y="0"/>
                  </a:lnTo>
                  <a:lnTo>
                    <a:pt x="21600" y="7541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algn="ctr"/>
              <a:endParaRPr sz="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3B913DE4-46EC-B842-A120-10FEC54B47D3}"/>
                </a:ext>
              </a:extLst>
            </p:cNvPr>
            <p:cNvSpPr txBox="1"/>
            <p:nvPr/>
          </p:nvSpPr>
          <p:spPr>
            <a:xfrm>
              <a:off x="571089" y="2487530"/>
              <a:ext cx="9376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SILVER LAYER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EE20B9F2-79FE-61B6-BA35-264B15B76757}"/>
                </a:ext>
              </a:extLst>
            </p:cNvPr>
            <p:cNvSpPr txBox="1"/>
            <p:nvPr/>
          </p:nvSpPr>
          <p:spPr>
            <a:xfrm>
              <a:off x="1764932" y="2566938"/>
              <a:ext cx="8234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Datos</a:t>
              </a:r>
            </a:p>
            <a:p>
              <a:r>
                <a:rPr lang="es-ES" sz="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Depurados</a:t>
              </a:r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7E02F43-F1B8-CBEF-CF4F-0498FAB5D446}"/>
              </a:ext>
            </a:extLst>
          </p:cNvPr>
          <p:cNvSpPr txBox="1"/>
          <p:nvPr/>
        </p:nvSpPr>
        <p:spPr>
          <a:xfrm>
            <a:off x="3315770" y="3512529"/>
            <a:ext cx="823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</a:rPr>
              <a:t>Datos</a:t>
            </a:r>
          </a:p>
          <a:p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</a:rPr>
              <a:t>Depurados</a:t>
            </a:r>
          </a:p>
        </p:txBody>
      </p:sp>
      <p:sp>
        <p:nvSpPr>
          <p:cNvPr id="5" name="Google Shape;2110;p105">
            <a:extLst>
              <a:ext uri="{FF2B5EF4-FFF2-40B4-BE49-F238E27FC236}">
                <a16:creationId xmlns:a16="http://schemas.microsoft.com/office/drawing/2014/main" id="{52FA8AB3-9AB6-3BB4-F6E7-6D627B3066C1}"/>
              </a:ext>
            </a:extLst>
          </p:cNvPr>
          <p:cNvSpPr/>
          <p:nvPr/>
        </p:nvSpPr>
        <p:spPr>
          <a:xfrm>
            <a:off x="4262860" y="1224912"/>
            <a:ext cx="5577556" cy="59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EB710B-E624-93A5-D34B-AA2DA775CBDE}"/>
              </a:ext>
            </a:extLst>
          </p:cNvPr>
          <p:cNvSpPr txBox="1"/>
          <p:nvPr/>
        </p:nvSpPr>
        <p:spPr>
          <a:xfrm>
            <a:off x="4343158" y="1382071"/>
            <a:ext cx="53162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La </a:t>
            </a:r>
            <a:r>
              <a:rPr lang="es-ES" sz="900" b="1" dirty="0">
                <a:latin typeface="Montserrat" panose="00000500000000000000" pitchFamily="2" charset="0"/>
              </a:rPr>
              <a:t>limpieza y validación </a:t>
            </a:r>
            <a:r>
              <a:rPr lang="es-ES" sz="900" dirty="0">
                <a:latin typeface="Montserrat" panose="00000500000000000000" pitchFamily="2" charset="0"/>
              </a:rPr>
              <a:t>de datos se realizan en capa plateada.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52DED8-90B9-D010-B8C3-47DCD7B3C7F6}"/>
              </a:ext>
            </a:extLst>
          </p:cNvPr>
          <p:cNvSpPr txBox="1"/>
          <p:nvPr/>
        </p:nvSpPr>
        <p:spPr>
          <a:xfrm>
            <a:off x="4258490" y="2096179"/>
            <a:ext cx="56539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Siempre debe incluir al menos una representación válida y no agregada de cada registro. </a:t>
            </a:r>
          </a:p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Si las representaciones agregadas impulsan muchas cargas de trabajo descendentes, esas representaciones pueden estar en la capa plateada, pero normalmente están en la capa dorada.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3018483-E802-135D-43BA-331B4117EFDF}"/>
              </a:ext>
            </a:extLst>
          </p:cNvPr>
          <p:cNvSpPr txBox="1"/>
          <p:nvPr/>
        </p:nvSpPr>
        <p:spPr>
          <a:xfrm>
            <a:off x="4258490" y="3263130"/>
            <a:ext cx="4952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Es donde se realiza la limpieza, la </a:t>
            </a:r>
            <a:r>
              <a:rPr lang="es-ES" sz="1000" dirty="0" err="1">
                <a:solidFill>
                  <a:srgbClr val="161616"/>
                </a:solidFill>
                <a:latin typeface="Montserrat" panose="00000500000000000000" pitchFamily="2" charset="0"/>
              </a:rPr>
              <a:t>deduplicación</a:t>
            </a:r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 y la normalización de datos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A6C7A7-D986-9BD7-6545-E9A6E93CF67C}"/>
              </a:ext>
            </a:extLst>
          </p:cNvPr>
          <p:cNvSpPr txBox="1"/>
          <p:nvPr/>
        </p:nvSpPr>
        <p:spPr>
          <a:xfrm>
            <a:off x="4258490" y="4163117"/>
            <a:ext cx="49399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Mejora la calidad de los datos al corregir errores e inconsistencias.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559B99-3A19-FE40-BF72-50A5755F2B47}"/>
              </a:ext>
            </a:extLst>
          </p:cNvPr>
          <p:cNvSpPr txBox="1"/>
          <p:nvPr/>
        </p:nvSpPr>
        <p:spPr>
          <a:xfrm>
            <a:off x="4336587" y="4938479"/>
            <a:ext cx="4952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Estructura los datos en un formato más consumible para el procesamiento posterior.</a:t>
            </a:r>
          </a:p>
        </p:txBody>
      </p:sp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9900F09D-ADED-7408-CE93-37E7F1093F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023" y="3186473"/>
            <a:ext cx="435027" cy="435027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7302F0DA-BBC2-F42F-4EBE-A85A11E266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92" y="2223810"/>
            <a:ext cx="413200" cy="413200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C25C0091-297A-8DE9-A7C9-5390A78AA5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80692" y="4061159"/>
            <a:ext cx="506196" cy="506196"/>
          </a:xfrm>
          <a:prstGeom prst="rect">
            <a:avLst/>
          </a:prstGeom>
        </p:spPr>
      </p:pic>
      <p:pic>
        <p:nvPicPr>
          <p:cNvPr id="28" name="Imagen 27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9DFC5CBF-0A3F-DC7B-A48B-A630D8E38F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296" y="4907859"/>
            <a:ext cx="541752" cy="541752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22845E9-4A39-7A82-244C-B9EC082F984A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2CEE8A94-3797-E3B6-E954-3A370C4E41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16" name="Título 4">
            <a:extLst>
              <a:ext uri="{FF2B5EF4-FFF2-40B4-BE49-F238E27FC236}">
                <a16:creationId xmlns:a16="http://schemas.microsoft.com/office/drawing/2014/main" id="{796841BF-8D5A-142D-4483-9F8EAEA38697}"/>
              </a:ext>
            </a:extLst>
          </p:cNvPr>
          <p:cNvSpPr txBox="1">
            <a:spLocks/>
          </p:cNvSpPr>
          <p:nvPr/>
        </p:nvSpPr>
        <p:spPr>
          <a:xfrm>
            <a:off x="406400" y="310865"/>
            <a:ext cx="9010650" cy="2779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b="1" dirty="0">
                <a:latin typeface="Montserrat" panose="00000500000000000000" pitchFamily="2" charset="0"/>
              </a:rPr>
              <a:t>Arquitectura de capas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Silver </a:t>
            </a:r>
            <a:r>
              <a:rPr lang="es-ES" sz="18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Layer</a:t>
            </a:r>
            <a:endParaRPr lang="es-ES" sz="18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70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98FBEA37-2EF2-7718-10AA-849B54E84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50FB99D1-E406-FDD5-7622-3CEF44CBF84C}"/>
              </a:ext>
            </a:extLst>
          </p:cNvPr>
          <p:cNvGrpSpPr/>
          <p:nvPr/>
        </p:nvGrpSpPr>
        <p:grpSpPr>
          <a:xfrm>
            <a:off x="1789916" y="1164305"/>
            <a:ext cx="2131449" cy="697548"/>
            <a:chOff x="387954" y="2325414"/>
            <a:chExt cx="2131449" cy="697548"/>
          </a:xfrm>
        </p:grpSpPr>
        <p:sp>
          <p:nvSpPr>
            <p:cNvPr id="24" name="Google Shape;2204;p106">
              <a:extLst>
                <a:ext uri="{FF2B5EF4-FFF2-40B4-BE49-F238E27FC236}">
                  <a16:creationId xmlns:a16="http://schemas.microsoft.com/office/drawing/2014/main" id="{B7DB9B9F-D6F6-D2CD-95C9-B23C4F994B29}"/>
                </a:ext>
              </a:extLst>
            </p:cNvPr>
            <p:cNvSpPr/>
            <p:nvPr/>
          </p:nvSpPr>
          <p:spPr>
            <a:xfrm>
              <a:off x="387954" y="2397881"/>
              <a:ext cx="1245300" cy="590700"/>
            </a:xfrm>
            <a:prstGeom prst="rect">
              <a:avLst/>
            </a:prstGeom>
            <a:solidFill>
              <a:srgbClr val="FFD700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12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" name="Google Shape;2207;p106">
              <a:extLst>
                <a:ext uri="{FF2B5EF4-FFF2-40B4-BE49-F238E27FC236}">
                  <a16:creationId xmlns:a16="http://schemas.microsoft.com/office/drawing/2014/main" id="{8BF2D50E-D241-21C0-3567-261DE04B1642}"/>
                </a:ext>
              </a:extLst>
            </p:cNvPr>
            <p:cNvSpPr/>
            <p:nvPr/>
          </p:nvSpPr>
          <p:spPr>
            <a:xfrm>
              <a:off x="1615599" y="2325414"/>
              <a:ext cx="737616" cy="697548"/>
            </a:xfrm>
            <a:custGeom>
              <a:avLst/>
              <a:gdLst/>
              <a:ahLst/>
              <a:cxnLst/>
              <a:rect l="l" t="t" r="r" b="b"/>
              <a:pathLst>
                <a:path w="2438401" h="1073151" extrusionOk="0">
                  <a:moveTo>
                    <a:pt x="758192" y="0"/>
                  </a:moveTo>
                  <a:lnTo>
                    <a:pt x="762001" y="0"/>
                  </a:lnTo>
                  <a:lnTo>
                    <a:pt x="2438401" y="374659"/>
                  </a:lnTo>
                  <a:lnTo>
                    <a:pt x="2438401" y="1073151"/>
                  </a:lnTo>
                  <a:lnTo>
                    <a:pt x="2419370" y="1072402"/>
                  </a:lnTo>
                  <a:lnTo>
                    <a:pt x="2434592" y="1073151"/>
                  </a:lnTo>
                  <a:lnTo>
                    <a:pt x="1948237" y="1073151"/>
                  </a:lnTo>
                  <a:lnTo>
                    <a:pt x="0" y="1023621"/>
                  </a:lnTo>
                  <a:lnTo>
                    <a:pt x="1" y="1023621"/>
                  </a:lnTo>
                  <a:lnTo>
                    <a:pt x="1" y="111745"/>
                  </a:lnTo>
                  <a:lnTo>
                    <a:pt x="758192" y="0"/>
                  </a:lnTo>
                  <a:close/>
                </a:path>
              </a:pathLst>
            </a:custGeom>
            <a:solidFill>
              <a:srgbClr val="CCAA00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endParaRPr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208;p106">
              <a:extLst>
                <a:ext uri="{FF2B5EF4-FFF2-40B4-BE49-F238E27FC236}">
                  <a16:creationId xmlns:a16="http://schemas.microsoft.com/office/drawing/2014/main" id="{01DB51FE-443D-CAB6-70D2-D2DB2603AE00}"/>
                </a:ext>
              </a:extLst>
            </p:cNvPr>
            <p:cNvSpPr/>
            <p:nvPr/>
          </p:nvSpPr>
          <p:spPr>
            <a:xfrm>
              <a:off x="1847019" y="2325414"/>
              <a:ext cx="509112" cy="69638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lnTo>
                    <a:pt x="0" y="20271"/>
                  </a:lnTo>
                  <a:lnTo>
                    <a:pt x="0" y="0"/>
                  </a:lnTo>
                  <a:lnTo>
                    <a:pt x="21600" y="7541"/>
                  </a:lnTo>
                  <a:close/>
                </a:path>
              </a:pathLst>
            </a:custGeom>
            <a:solidFill>
              <a:srgbClr val="FFD700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algn="ctr"/>
              <a:endParaRPr sz="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2DA424DF-9645-74F7-2C02-1F2BACCD162C}"/>
                </a:ext>
              </a:extLst>
            </p:cNvPr>
            <p:cNvSpPr txBox="1"/>
            <p:nvPr/>
          </p:nvSpPr>
          <p:spPr>
            <a:xfrm>
              <a:off x="571089" y="2487530"/>
              <a:ext cx="9376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GOLD LAYER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80DF4428-37FD-7F6D-C91F-93DB5753BD5E}"/>
                </a:ext>
              </a:extLst>
            </p:cNvPr>
            <p:cNvSpPr txBox="1"/>
            <p:nvPr/>
          </p:nvSpPr>
          <p:spPr>
            <a:xfrm>
              <a:off x="1810359" y="2548532"/>
              <a:ext cx="70904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8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Valor</a:t>
              </a:r>
            </a:p>
            <a:p>
              <a:r>
                <a:rPr lang="es-ES" sz="8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Negocio</a:t>
              </a:r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7B795A2-0612-CE96-3387-519154B14E23}"/>
              </a:ext>
            </a:extLst>
          </p:cNvPr>
          <p:cNvSpPr txBox="1"/>
          <p:nvPr/>
        </p:nvSpPr>
        <p:spPr>
          <a:xfrm>
            <a:off x="3315770" y="3512529"/>
            <a:ext cx="823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</a:rPr>
              <a:t>Datos</a:t>
            </a:r>
          </a:p>
          <a:p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</a:rPr>
              <a:t>Depurados</a:t>
            </a:r>
          </a:p>
        </p:txBody>
      </p:sp>
      <p:sp>
        <p:nvSpPr>
          <p:cNvPr id="5" name="Google Shape;2110;p105">
            <a:extLst>
              <a:ext uri="{FF2B5EF4-FFF2-40B4-BE49-F238E27FC236}">
                <a16:creationId xmlns:a16="http://schemas.microsoft.com/office/drawing/2014/main" id="{37F8A2AA-AA3F-98FA-3003-310235901CE6}"/>
              </a:ext>
            </a:extLst>
          </p:cNvPr>
          <p:cNvSpPr/>
          <p:nvPr/>
        </p:nvSpPr>
        <p:spPr>
          <a:xfrm>
            <a:off x="4262860" y="1280328"/>
            <a:ext cx="5238612" cy="59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5FB16F-0D5D-78B8-14EC-7BF548A3E35E}"/>
              </a:ext>
            </a:extLst>
          </p:cNvPr>
          <p:cNvSpPr txBox="1"/>
          <p:nvPr/>
        </p:nvSpPr>
        <p:spPr>
          <a:xfrm>
            <a:off x="4258490" y="1372034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La capa dorada representa </a:t>
            </a:r>
            <a:r>
              <a:rPr lang="es-ES" sz="900" b="1" dirty="0">
                <a:latin typeface="Montserrat" panose="00000500000000000000" pitchFamily="2" charset="0"/>
              </a:rPr>
              <a:t>vistas altamente refinadas </a:t>
            </a:r>
            <a:r>
              <a:rPr lang="es-ES" sz="900" dirty="0">
                <a:latin typeface="Montserrat" panose="00000500000000000000" pitchFamily="2" charset="0"/>
              </a:rPr>
              <a:t>de los datos que impulsan el análisis y herramientas de BI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4478FE-AE78-18D5-1CBD-70EAD045AD8B}"/>
              </a:ext>
            </a:extLst>
          </p:cNvPr>
          <p:cNvSpPr txBox="1"/>
          <p:nvPr/>
        </p:nvSpPr>
        <p:spPr>
          <a:xfrm>
            <a:off x="4258490" y="2302949"/>
            <a:ext cx="5110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Datos agregados listos para análisis y decisiones. Información ya resumida y preparada para responder preguntas.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CACE5F-9FB7-9DCF-36B6-4D5A1AB1C042}"/>
              </a:ext>
            </a:extLst>
          </p:cNvPr>
          <p:cNvSpPr txBox="1"/>
          <p:nvPr/>
        </p:nvSpPr>
        <p:spPr>
          <a:xfrm>
            <a:off x="4258490" y="3131861"/>
            <a:ext cx="4952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Totalmente alineado con la lógica del negocio. Refleja procesos reales de la empresa (ventas, HR, finanzas…).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3A11CBD-783C-56F6-FB85-F95DE606E27F}"/>
              </a:ext>
            </a:extLst>
          </p:cNvPr>
          <p:cNvSpPr txBox="1"/>
          <p:nvPr/>
        </p:nvSpPr>
        <p:spPr>
          <a:xfrm>
            <a:off x="4264689" y="3876774"/>
            <a:ext cx="49399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Modelado dimensional para su consumo. Tablas modelo estrella, métricas definidas, relaciones claras.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2C1145-91F8-2B41-1C95-70ACAA3C2EDA}"/>
              </a:ext>
            </a:extLst>
          </p:cNvPr>
          <p:cNvSpPr txBox="1"/>
          <p:nvPr/>
        </p:nvSpPr>
        <p:spPr>
          <a:xfrm>
            <a:off x="4262860" y="4697965"/>
            <a:ext cx="4952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161616"/>
                </a:solidFill>
                <a:latin typeface="Montserrat" panose="00000500000000000000" pitchFamily="2" charset="0"/>
              </a:rPr>
              <a:t>Orientado al usuario final / analistas de negocio. Destinado a analistas, autoservicio, tomar decisiones.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FF7ED54B-8881-7369-6526-8814711A9E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496" y="2204864"/>
            <a:ext cx="593680" cy="593680"/>
          </a:xfrm>
          <a:prstGeom prst="rect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78414149-1352-2611-0E04-38E9079077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639" y="3064978"/>
            <a:ext cx="533876" cy="533876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3C7E8FF0-658B-FBC4-443D-273BF01FE5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950" y="3892609"/>
            <a:ext cx="437172" cy="437172"/>
          </a:xfrm>
          <a:prstGeom prst="rect">
            <a:avLst/>
          </a:prstGeom>
        </p:spPr>
      </p:pic>
      <p:pic>
        <p:nvPicPr>
          <p:cNvPr id="17" name="Imagen 16" descr="Logotipo&#10;&#10;El contenido generado por IA puede ser incorrecto.">
            <a:extLst>
              <a:ext uri="{FF2B5EF4-FFF2-40B4-BE49-F238E27FC236}">
                <a16:creationId xmlns:a16="http://schemas.microsoft.com/office/drawing/2014/main" id="{CB0CFC4F-5A8F-26E2-CB5B-041F3A1494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216" y="4616759"/>
            <a:ext cx="885001" cy="88500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A43C4B9-DC9B-F47C-AD0B-AF3FE906D5C3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24C0C5F4-57B0-3D68-723E-BCA86FEF39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16" name="Título 4">
            <a:extLst>
              <a:ext uri="{FF2B5EF4-FFF2-40B4-BE49-F238E27FC236}">
                <a16:creationId xmlns:a16="http://schemas.microsoft.com/office/drawing/2014/main" id="{B13F20EE-F9B1-C9B3-CEB9-4F1D0EAB2296}"/>
              </a:ext>
            </a:extLst>
          </p:cNvPr>
          <p:cNvSpPr txBox="1">
            <a:spLocks/>
          </p:cNvSpPr>
          <p:nvPr/>
        </p:nvSpPr>
        <p:spPr>
          <a:xfrm>
            <a:off x="406400" y="310865"/>
            <a:ext cx="9010650" cy="2779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b="1" dirty="0">
                <a:latin typeface="Montserrat" panose="00000500000000000000" pitchFamily="2" charset="0"/>
              </a:rPr>
              <a:t>Arquitectura de capas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Gold </a:t>
            </a:r>
            <a:r>
              <a:rPr lang="es-ES" sz="18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Layer</a:t>
            </a:r>
            <a:endParaRPr lang="es-ES" sz="18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94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F0F3-FE9F-F314-1279-8350437A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r: 5 Points 6">
            <a:extLst>
              <a:ext uri="{FF2B5EF4-FFF2-40B4-BE49-F238E27FC236}">
                <a16:creationId xmlns:a16="http://schemas.microsoft.com/office/drawing/2014/main" id="{30E4EDD2-D13B-E908-9189-984F7F8E7387}"/>
              </a:ext>
            </a:extLst>
          </p:cNvPr>
          <p:cNvSpPr/>
          <p:nvPr/>
        </p:nvSpPr>
        <p:spPr>
          <a:xfrm>
            <a:off x="3054177" y="1232756"/>
            <a:ext cx="5688632" cy="4392488"/>
          </a:xfrm>
          <a:prstGeom prst="star5">
            <a:avLst/>
          </a:prstGeom>
          <a:solidFill>
            <a:srgbClr val="4472C4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1B45FD-BB2E-5025-83F1-110EF9C4DB2F}"/>
              </a:ext>
            </a:extLst>
          </p:cNvPr>
          <p:cNvSpPr/>
          <p:nvPr/>
        </p:nvSpPr>
        <p:spPr>
          <a:xfrm>
            <a:off x="4998393" y="2708920"/>
            <a:ext cx="1800200" cy="1944216"/>
          </a:xfrm>
          <a:prstGeom prst="roundRect">
            <a:avLst/>
          </a:prstGeom>
          <a:solidFill>
            <a:srgbClr val="4472C4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Tabla de hechos</a:t>
            </a:r>
          </a:p>
          <a:p>
            <a:pPr algn="ctr"/>
            <a:r>
              <a:rPr lang="es-ES" sz="1400" dirty="0"/>
              <a:t>(</a:t>
            </a:r>
            <a:r>
              <a:rPr lang="es-ES" sz="1400" dirty="0" err="1"/>
              <a:t>ej</a:t>
            </a:r>
            <a:r>
              <a:rPr lang="es-ES" sz="1400" dirty="0"/>
              <a:t>: </a:t>
            </a:r>
            <a:r>
              <a:rPr lang="es-ES" sz="1400" dirty="0" err="1"/>
              <a:t>fact_vuelos</a:t>
            </a:r>
            <a:r>
              <a:rPr lang="es-ES" sz="1400" dirty="0"/>
              <a:t>)</a:t>
            </a:r>
            <a:endParaRPr lang="en-US" sz="1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4DEFBC-5341-3CDA-4F5D-2AA9970E8F12}"/>
              </a:ext>
            </a:extLst>
          </p:cNvPr>
          <p:cNvSpPr/>
          <p:nvPr/>
        </p:nvSpPr>
        <p:spPr>
          <a:xfrm>
            <a:off x="7608168" y="2344806"/>
            <a:ext cx="1800200" cy="1142020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Tabla de dimensión</a:t>
            </a:r>
          </a:p>
          <a:p>
            <a:pPr algn="ctr"/>
            <a:r>
              <a:rPr lang="es-ES" sz="1400" dirty="0"/>
              <a:t>(</a:t>
            </a:r>
            <a:r>
              <a:rPr lang="es-ES" sz="1400" dirty="0" err="1"/>
              <a:t>ej</a:t>
            </a:r>
            <a:r>
              <a:rPr lang="es-ES" sz="1400" dirty="0"/>
              <a:t>: </a:t>
            </a:r>
            <a:r>
              <a:rPr lang="es-ES" sz="1400" dirty="0" err="1"/>
              <a:t>dim_aeronaves</a:t>
            </a:r>
            <a:r>
              <a:rPr lang="es-ES" sz="1400" dirty="0"/>
              <a:t>)</a:t>
            </a:r>
            <a:endParaRPr lang="en-US" sz="1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DBC061-2DCE-AACD-3106-02A49B7BC0DC}"/>
              </a:ext>
            </a:extLst>
          </p:cNvPr>
          <p:cNvSpPr/>
          <p:nvPr/>
        </p:nvSpPr>
        <p:spPr>
          <a:xfrm>
            <a:off x="2414489" y="2344806"/>
            <a:ext cx="1800200" cy="1142020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Tabla de dimensión</a:t>
            </a:r>
          </a:p>
          <a:p>
            <a:pPr algn="ctr"/>
            <a:r>
              <a:rPr lang="es-ES" sz="1400" dirty="0"/>
              <a:t>(</a:t>
            </a:r>
            <a:r>
              <a:rPr lang="es-ES" sz="1400" dirty="0" err="1"/>
              <a:t>ej</a:t>
            </a:r>
            <a:r>
              <a:rPr lang="es-ES" sz="1400" dirty="0"/>
              <a:t>: </a:t>
            </a:r>
            <a:r>
              <a:rPr lang="es-ES" sz="1400" dirty="0" err="1"/>
              <a:t>dim_estado_vuelos</a:t>
            </a:r>
            <a:r>
              <a:rPr lang="es-ES" sz="1400" dirty="0"/>
              <a:t>)</a:t>
            </a:r>
            <a:endParaRPr lang="en-US" sz="1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383880-80D9-5DB0-52B6-82CF3B674EED}"/>
              </a:ext>
            </a:extLst>
          </p:cNvPr>
          <p:cNvSpPr/>
          <p:nvPr/>
        </p:nvSpPr>
        <p:spPr>
          <a:xfrm>
            <a:off x="5028468" y="1203115"/>
            <a:ext cx="1800200" cy="1142020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Tabla de dimensión</a:t>
            </a:r>
          </a:p>
          <a:p>
            <a:pPr algn="ctr"/>
            <a:r>
              <a:rPr lang="es-ES" sz="1400" dirty="0"/>
              <a:t>(</a:t>
            </a:r>
            <a:r>
              <a:rPr lang="es-ES" sz="1400" dirty="0" err="1"/>
              <a:t>ej</a:t>
            </a:r>
            <a:r>
              <a:rPr lang="es-ES" sz="1400" dirty="0"/>
              <a:t>: </a:t>
            </a:r>
            <a:r>
              <a:rPr lang="es-ES" sz="1400" dirty="0" err="1"/>
              <a:t>dim_aeropuertos</a:t>
            </a:r>
            <a:r>
              <a:rPr lang="es-ES" sz="1400" dirty="0"/>
              <a:t>)</a:t>
            </a:r>
            <a:endParaRPr lang="en-US" sz="1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F1646E-6704-E1E3-2398-157663EB6BB7}"/>
              </a:ext>
            </a:extLst>
          </p:cNvPr>
          <p:cNvSpPr/>
          <p:nvPr/>
        </p:nvSpPr>
        <p:spPr>
          <a:xfrm>
            <a:off x="3414217" y="4847338"/>
            <a:ext cx="1800200" cy="1142020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Tabla de dimensión</a:t>
            </a:r>
          </a:p>
          <a:p>
            <a:pPr algn="ctr"/>
            <a:r>
              <a:rPr lang="es-ES" sz="1400" dirty="0"/>
              <a:t>(</a:t>
            </a:r>
            <a:r>
              <a:rPr lang="es-ES" sz="1400" dirty="0" err="1"/>
              <a:t>ej</a:t>
            </a:r>
            <a:r>
              <a:rPr lang="es-ES" sz="1400" dirty="0"/>
              <a:t>: </a:t>
            </a:r>
            <a:r>
              <a:rPr lang="es-ES" sz="1400" dirty="0" err="1"/>
              <a:t>dim_empleados</a:t>
            </a:r>
            <a:r>
              <a:rPr lang="es-ES" sz="1400" dirty="0"/>
              <a:t>)</a:t>
            </a:r>
            <a:endParaRPr lang="en-US" sz="1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9F551A-628E-1E20-A585-9867041DF245}"/>
              </a:ext>
            </a:extLst>
          </p:cNvPr>
          <p:cNvSpPr/>
          <p:nvPr/>
        </p:nvSpPr>
        <p:spPr>
          <a:xfrm>
            <a:off x="6798593" y="4847338"/>
            <a:ext cx="1800200" cy="1142020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Tabla de dimensión</a:t>
            </a:r>
          </a:p>
          <a:p>
            <a:pPr algn="ctr"/>
            <a:r>
              <a:rPr lang="es-ES" sz="1400" dirty="0"/>
              <a:t>(</a:t>
            </a:r>
            <a:r>
              <a:rPr lang="es-ES" sz="1400" dirty="0" err="1"/>
              <a:t>ej</a:t>
            </a:r>
            <a:r>
              <a:rPr lang="es-ES" sz="1400" dirty="0"/>
              <a:t>: </a:t>
            </a:r>
            <a:r>
              <a:rPr lang="es-ES" sz="1400" dirty="0" err="1"/>
              <a:t>dim_clientes</a:t>
            </a:r>
            <a:r>
              <a:rPr lang="es-ES" sz="1400" dirty="0"/>
              <a:t>)</a:t>
            </a:r>
            <a:endParaRPr lang="en-US" sz="14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998883-5AF4-899F-6D2D-BD3D6FD1BDD1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E89503A7-520F-A024-F58C-48E3A44F7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9" name="Título 4">
            <a:extLst>
              <a:ext uri="{FF2B5EF4-FFF2-40B4-BE49-F238E27FC236}">
                <a16:creationId xmlns:a16="http://schemas.microsoft.com/office/drawing/2014/main" id="{5B579AB4-3347-3917-6EE7-CBB1B36CA71D}"/>
              </a:ext>
            </a:extLst>
          </p:cNvPr>
          <p:cNvSpPr txBox="1">
            <a:spLocks/>
          </p:cNvSpPr>
          <p:nvPr/>
        </p:nvSpPr>
        <p:spPr>
          <a:xfrm>
            <a:off x="406400" y="310865"/>
            <a:ext cx="9010650" cy="2779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b="1" dirty="0">
                <a:latin typeface="Montserrat" panose="00000500000000000000" pitchFamily="2" charset="0"/>
              </a:rPr>
              <a:t>Modelo de Datos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Modelo de Estrella</a:t>
            </a:r>
            <a:endParaRPr lang="es-ES" sz="18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69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8A4E3-A07B-024C-E384-11D8A3F1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B771350-B897-5BE0-E50F-C209E2C5FD9C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B83BC72E-EB00-31C4-A7DC-97BD4883B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9ECACF9-4649-ABFD-20CF-6948AA3852E5}"/>
              </a:ext>
            </a:extLst>
          </p:cNvPr>
          <p:cNvSpPr txBox="1"/>
          <p:nvPr/>
        </p:nvSpPr>
        <p:spPr>
          <a:xfrm>
            <a:off x="2883477" y="2538799"/>
            <a:ext cx="642504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endParaRPr lang="es-ES" sz="2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ORQUESTACIÓN &amp; WORKFLOW</a:t>
            </a:r>
          </a:p>
        </p:txBody>
      </p:sp>
    </p:spTree>
    <p:extLst>
      <p:ext uri="{BB962C8B-B14F-4D97-AF65-F5344CB8AC3E}">
        <p14:creationId xmlns:p14="http://schemas.microsoft.com/office/powerpoint/2010/main" val="2995447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764</Words>
  <Application>Microsoft Office PowerPoint</Application>
  <PresentationFormat>Panorámica</PresentationFormat>
  <Paragraphs>162</Paragraphs>
  <Slides>14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Montserrat</vt:lpstr>
      <vt:lpstr>Montserrat SemiBold</vt:lpstr>
      <vt:lpstr>Verdana</vt:lpstr>
      <vt:lpstr>Tema de Office</vt:lpstr>
      <vt:lpstr>Presentación de PowerPoint</vt:lpstr>
      <vt:lpstr>Indice de la Sesión</vt:lpstr>
      <vt:lpstr>Presentación de PowerPoint</vt:lpstr>
      <vt:lpstr>Presentación de PowerPoint</vt:lpstr>
      <vt:lpstr>ETL | Extract Transform Load</vt:lpstr>
      <vt:lpstr>ETL | Tipos de Extracciones </vt:lpstr>
      <vt:lpstr>ETL | Tipos de Transformaciones</vt:lpstr>
      <vt:lpstr>ETL | Tipos de Cargas (Load)</vt:lpstr>
      <vt:lpstr>Arquitectura de capas | Del dato crudo al valor con eficiencia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Martínez Morales</dc:creator>
  <cp:lastModifiedBy>Javier Martínez Morales</cp:lastModifiedBy>
  <cp:revision>12</cp:revision>
  <dcterms:created xsi:type="dcterms:W3CDTF">2025-11-25T17:03:24Z</dcterms:created>
  <dcterms:modified xsi:type="dcterms:W3CDTF">2025-11-29T16:20:16Z</dcterms:modified>
</cp:coreProperties>
</file>