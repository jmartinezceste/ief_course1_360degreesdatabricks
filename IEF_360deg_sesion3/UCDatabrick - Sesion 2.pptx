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4"/>
  </p:sldMasterIdLst>
  <p:notesMasterIdLst>
    <p:notesMasterId r:id="rId19"/>
  </p:notesMasterIdLst>
  <p:handoutMasterIdLst>
    <p:handoutMasterId r:id="rId20"/>
  </p:handoutMasterIdLst>
  <p:sldIdLst>
    <p:sldId id="295" r:id="rId5"/>
    <p:sldId id="2147474065" r:id="rId6"/>
    <p:sldId id="2147474067" r:id="rId7"/>
    <p:sldId id="2147474064" r:id="rId8"/>
    <p:sldId id="2147474069" r:id="rId9"/>
    <p:sldId id="2147474070" r:id="rId10"/>
    <p:sldId id="2147474053" r:id="rId11"/>
    <p:sldId id="2147474060" r:id="rId12"/>
    <p:sldId id="2147474063" r:id="rId13"/>
    <p:sldId id="2147474058" r:id="rId14"/>
    <p:sldId id="2147474068" r:id="rId15"/>
    <p:sldId id="2147474089" r:id="rId16"/>
    <p:sldId id="2147474088" r:id="rId17"/>
    <p:sldId id="257" r:id="rId18"/>
  </p:sldIdLst>
  <p:sldSz cx="9144000" cy="6858000" type="screen4x3"/>
  <p:notesSz cx="6797675" cy="9926638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38D0F0A-DE05-4A42-9708-06B99D495EB7}">
          <p14:sldIdLst>
            <p14:sldId id="295"/>
            <p14:sldId id="2147474065"/>
            <p14:sldId id="2147474067"/>
            <p14:sldId id="2147474064"/>
            <p14:sldId id="2147474069"/>
            <p14:sldId id="2147474070"/>
            <p14:sldId id="2147474053"/>
            <p14:sldId id="2147474060"/>
            <p14:sldId id="2147474063"/>
            <p14:sldId id="2147474058"/>
            <p14:sldId id="2147474068"/>
            <p14:sldId id="2147474089"/>
            <p14:sldId id="2147474088"/>
          </p14:sldIdLst>
        </p14:section>
        <p14:section name="Fin" id="{9CF3C226-B334-4E16-8AF2-95D0DE59AB66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99" userDrawn="1">
          <p15:clr>
            <a:srgbClr val="A4A3A4"/>
          </p15:clr>
        </p15:guide>
        <p15:guide id="2" pos="249" userDrawn="1">
          <p15:clr>
            <a:srgbClr val="A4A3A4"/>
          </p15:clr>
        </p15:guide>
        <p15:guide id="3" pos="55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6220"/>
    <a:srgbClr val="BC781E"/>
    <a:srgbClr val="203864"/>
    <a:srgbClr val="9B8ED2"/>
    <a:srgbClr val="B9D9A3"/>
    <a:srgbClr val="C87676"/>
    <a:srgbClr val="A74343"/>
    <a:srgbClr val="9E89AD"/>
    <a:srgbClr val="A9D18E"/>
    <a:srgbClr val="009A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0" autoAdjust="0"/>
    <p:restoredTop sz="75126" autoAdjust="0"/>
  </p:normalViewPr>
  <p:slideViewPr>
    <p:cSldViewPr>
      <p:cViewPr varScale="1">
        <p:scale>
          <a:sx n="119" d="100"/>
          <a:sy n="119" d="100"/>
        </p:scale>
        <p:origin x="2640" y="108"/>
      </p:cViewPr>
      <p:guideLst>
        <p:guide orient="horz" pos="799"/>
        <p:guide pos="249"/>
        <p:guide pos="551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B7E6F-32B6-4D71-B377-734A03E6F81B}" type="datetimeFigureOut">
              <a:rPr lang="es-ES" smtClean="0"/>
              <a:t>29/11/2025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D2714-3170-454D-BDE7-33312AC051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03692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6DFC6-7D9C-4B63-B8DE-A4BEF9511721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F8B64C-EDD0-41C9-AB7F-26F0E93D38A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4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Si la sesión1 nos enfocamos en crear un entorno con una granularidad suficiente para poder aplicar una política de Gobernanza</a:t>
            </a:r>
          </a:p>
          <a:p>
            <a:endParaRPr lang="es-ES" dirty="0"/>
          </a:p>
          <a:p>
            <a:r>
              <a:rPr lang="es-ES" dirty="0"/>
              <a:t>En la sesión2 de hoy no enfocaremos en traer en esta presentación gran parte de el entorno de Unity </a:t>
            </a:r>
            <a:r>
              <a:rPr lang="es-ES" dirty="0" err="1"/>
              <a:t>Catalog</a:t>
            </a:r>
            <a:r>
              <a:rPr lang="es-ES" dirty="0"/>
              <a:t> y prestando atención a la Gobernanza….</a:t>
            </a:r>
          </a:p>
          <a:p>
            <a:r>
              <a:rPr lang="es-ES" dirty="0"/>
              <a:t>Veremos entonces:</a:t>
            </a:r>
          </a:p>
          <a:p>
            <a:pPr marL="1257300" lvl="2" indent="-342900">
              <a:buFont typeface="+mj-lt"/>
              <a:buAutoNum type="arabicPeriod"/>
            </a:pPr>
            <a:r>
              <a:rPr lang="es-ES" sz="1400" dirty="0">
                <a:latin typeface="Montserrat" panose="00000500000000000000" pitchFamily="2" charset="0"/>
              </a:rPr>
              <a:t>¿Qué es Unity </a:t>
            </a:r>
            <a:r>
              <a:rPr lang="es-ES" sz="1400" dirty="0" err="1">
                <a:latin typeface="Montserrat" panose="00000500000000000000" pitchFamily="2" charset="0"/>
              </a:rPr>
              <a:t>Catalog</a:t>
            </a:r>
            <a:r>
              <a:rPr lang="es-ES" sz="1400" dirty="0">
                <a:latin typeface="Montserrat" panose="00000500000000000000" pitchFamily="2" charset="0"/>
              </a:rPr>
              <a:t>?</a:t>
            </a:r>
          </a:p>
          <a:p>
            <a:pPr marL="1257300" lvl="2" indent="-342900">
              <a:buFont typeface="+mj-lt"/>
              <a:buAutoNum type="arabicPeriod"/>
            </a:pPr>
            <a:r>
              <a:rPr lang="es-ES" sz="1400" dirty="0">
                <a:latin typeface="Montserrat" panose="00000500000000000000" pitchFamily="2" charset="0"/>
              </a:rPr>
              <a:t>Claves de Unity </a:t>
            </a:r>
            <a:r>
              <a:rPr lang="es-ES" sz="1400" dirty="0" err="1">
                <a:latin typeface="Montserrat" panose="00000500000000000000" pitchFamily="2" charset="0"/>
              </a:rPr>
              <a:t>Catalog</a:t>
            </a:r>
            <a:endParaRPr lang="es-ES" sz="1400" dirty="0">
              <a:latin typeface="Montserrat" panose="00000500000000000000" pitchFamily="2" charset="0"/>
            </a:endParaRPr>
          </a:p>
          <a:p>
            <a:pPr marL="1257300" lvl="2" indent="-342900">
              <a:buFont typeface="+mj-lt"/>
              <a:buAutoNum type="arabicPeriod"/>
            </a:pPr>
            <a:r>
              <a:rPr lang="es-ES" sz="1400" dirty="0">
                <a:latin typeface="Montserrat" panose="00000500000000000000" pitchFamily="2" charset="0"/>
              </a:rPr>
              <a:t>¿Qué entendemos por Gobernanza?</a:t>
            </a:r>
          </a:p>
          <a:p>
            <a:pPr marL="1257300" lvl="2" indent="-342900">
              <a:buFont typeface="+mj-lt"/>
              <a:buAutoNum type="arabicPeriod"/>
            </a:pPr>
            <a:r>
              <a:rPr lang="es-ES" sz="1400" dirty="0">
                <a:latin typeface="Montserrat" panose="00000500000000000000" pitchFamily="2" charset="0"/>
              </a:rPr>
              <a:t>Unity </a:t>
            </a:r>
            <a:r>
              <a:rPr lang="es-ES" sz="1400" dirty="0" err="1">
                <a:latin typeface="Montserrat" panose="00000500000000000000" pitchFamily="2" charset="0"/>
              </a:rPr>
              <a:t>Catalog</a:t>
            </a:r>
            <a:r>
              <a:rPr lang="es-ES" sz="1400" dirty="0">
                <a:latin typeface="Montserrat" panose="00000500000000000000" pitchFamily="2" charset="0"/>
              </a:rPr>
              <a:t> desde la perspectiva de Gobernanza</a:t>
            </a:r>
          </a:p>
          <a:p>
            <a:pPr marL="1257300" lvl="2" indent="-342900">
              <a:buFont typeface="+mj-lt"/>
              <a:buAutoNum type="arabicPeriod"/>
            </a:pPr>
            <a:r>
              <a:rPr lang="es-ES" sz="1400" dirty="0">
                <a:latin typeface="Montserrat" panose="00000500000000000000" pitchFamily="2" charset="0"/>
              </a:rPr>
              <a:t>Repaso de objetos de </a:t>
            </a:r>
            <a:r>
              <a:rPr lang="es-ES" sz="1400" dirty="0" err="1">
                <a:latin typeface="Montserrat" panose="00000500000000000000" pitchFamily="2" charset="0"/>
              </a:rPr>
              <a:t>Databrick</a:t>
            </a:r>
            <a:endParaRPr lang="es-ES" sz="1400" u="sng" dirty="0">
              <a:latin typeface="Montserrat" panose="00000500000000000000" pitchFamily="2" charset="0"/>
            </a:endParaRPr>
          </a:p>
          <a:p>
            <a:pPr marL="1257300" lvl="2" indent="-342900">
              <a:buFont typeface="+mj-lt"/>
              <a:buAutoNum type="arabicPeriod"/>
            </a:pPr>
            <a:endParaRPr lang="es-ES" sz="1400" u="sng" dirty="0">
              <a:latin typeface="Montserrat" panose="00000500000000000000" pitchFamily="2" charset="0"/>
            </a:endParaRPr>
          </a:p>
          <a:p>
            <a:pPr marL="0" lvl="0" indent="0">
              <a:buFont typeface="+mj-lt"/>
              <a:buNone/>
            </a:pPr>
            <a:r>
              <a:rPr lang="es-ES" sz="1400" u="none" dirty="0">
                <a:latin typeface="Montserrat" panose="00000500000000000000" pitchFamily="2" charset="0"/>
              </a:rPr>
              <a:t>Posteriormente de manera practica nos centraremos en UC con foco en seguridad, es decir control de accesos, tipos de permisos y ocultación y enmascaramiento</a:t>
            </a:r>
          </a:p>
          <a:p>
            <a:pPr marL="0" lvl="0" indent="0">
              <a:buFont typeface="+mj-lt"/>
              <a:buNone/>
            </a:pPr>
            <a:endParaRPr lang="es-ES" sz="1400" u="none" dirty="0">
              <a:latin typeface="Montserrat" panose="00000500000000000000" pitchFamily="2" charset="0"/>
            </a:endParaRPr>
          </a:p>
          <a:p>
            <a:pPr marL="0" lvl="0" indent="0">
              <a:buFont typeface="+mj-lt"/>
              <a:buNone/>
            </a:pPr>
            <a:endParaRPr lang="es-ES" sz="1400" u="none" dirty="0">
              <a:latin typeface="Montserrat" panose="00000500000000000000" pitchFamily="2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119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90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E0BE5-4301-5F20-623F-09F716D5D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0BCC348-9BB5-65C9-866E-03267CB271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DABC440-42B3-711E-E9B8-E19F32B6E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Si hablamos ahora de Gobernanza….</a:t>
            </a:r>
          </a:p>
          <a:p>
            <a:endParaRPr lang="es-ES" b="1" dirty="0"/>
          </a:p>
          <a:p>
            <a:r>
              <a:rPr lang="es-ES" b="1" dirty="0"/>
              <a:t>Definir la gobernanza es complicado y no hay una definición única, pero podemos entenderla como:</a:t>
            </a:r>
          </a:p>
          <a:p>
            <a:endParaRPr lang="es-ES" b="1" dirty="0"/>
          </a:p>
          <a:p>
            <a:r>
              <a:rPr lang="es-ES" b="1" dirty="0"/>
              <a:t>🟦 ¿Qué es la Gobernanza de Datos?</a:t>
            </a:r>
          </a:p>
          <a:p>
            <a:r>
              <a:rPr lang="es-ES" b="1" dirty="0"/>
              <a:t>La gobernanza de datos</a:t>
            </a:r>
            <a:r>
              <a:rPr lang="es-ES" dirty="0"/>
              <a:t> es el conjunto de políticas, procesos y herramientas que aseguran que los datos de una organización sean </a:t>
            </a:r>
            <a:r>
              <a:rPr lang="es-ES" b="1" dirty="0"/>
              <a:t>accesibles, seguros, confiables y estén bien gestionados</a:t>
            </a:r>
            <a:r>
              <a:rPr lang="es-ES" dirty="0"/>
              <a:t> durante todo su ciclo de vida.</a:t>
            </a:r>
          </a:p>
          <a:p>
            <a:endParaRPr lang="es-ES" b="1" dirty="0"/>
          </a:p>
          <a:p>
            <a:r>
              <a:rPr lang="es-ES" b="1" dirty="0"/>
              <a:t>🎯Los Objetivos clave de la Gobernanza de Datos y problemas que encontramos más comunes:</a:t>
            </a:r>
          </a:p>
          <a:p>
            <a:r>
              <a:rPr lang="es-ES" b="1" u="sng" dirty="0"/>
              <a:t>ACCESIBLES-SEGUROS:</a:t>
            </a:r>
          </a:p>
          <a:p>
            <a:r>
              <a:rPr lang="es-ES" dirty="0"/>
              <a:t>✅ </a:t>
            </a:r>
            <a:r>
              <a:rPr lang="es-ES" b="1" dirty="0"/>
              <a:t>Control de acceso</a:t>
            </a:r>
            <a:r>
              <a:rPr lang="es-ES" dirty="0"/>
              <a:t> → Asegurar que cada usuario vea solo lo que debe ver. 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entornos tradicionales, cada sistema (HDFS, bases de datos,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clusters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Spark, aplicaciones BI) tiene su propio mecanismo de permisos.</a:t>
            </a: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Los roles y usuarios deben configurarse varias veces → duplicación de esfuerzos.</a:t>
            </a: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No hay forma unificada de aplicar el principio de mínimo privilegio.</a:t>
            </a:r>
            <a:endParaRPr lang="es-E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✅ </a:t>
            </a:r>
            <a:r>
              <a:rPr lang="es-ES" b="1" dirty="0"/>
              <a:t>Clasificación datos sensibles</a:t>
            </a:r>
            <a:r>
              <a:rPr lang="es-ES" dirty="0"/>
              <a:t>→ Identificar y categorizar los datos según su nivel de sensibilidad (como PII, financieros, confidenciales) para aplicar políticas de acceso adecuadas sin bloquear innecesariamente su uso.</a:t>
            </a:r>
          </a:p>
          <a:p>
            <a:br>
              <a:rPr lang="es-ES" dirty="0"/>
            </a:br>
            <a:r>
              <a:rPr lang="es-ES" b="1" u="sng" dirty="0"/>
              <a:t>SEGUROS-CONECTADOS</a:t>
            </a:r>
            <a:br>
              <a:rPr lang="es-ES" dirty="0"/>
            </a:br>
            <a:r>
              <a:rPr lang="es-ES" dirty="0"/>
              <a:t>✅ </a:t>
            </a:r>
            <a:r>
              <a:rPr lang="es-ES" b="1" dirty="0"/>
              <a:t>Seguridad y cumplimiento</a:t>
            </a:r>
            <a:r>
              <a:rPr lang="es-ES" dirty="0"/>
              <a:t> → Proteger datos sensibles (como PII) y cumplir con normativas (GDPR, HIPAA...)</a:t>
            </a:r>
            <a:br>
              <a:rPr lang="es-ES" dirty="0"/>
            </a:br>
            <a:r>
              <a:rPr lang="es-ES" b="1" dirty="0"/>
              <a:t>✅ Visibilidad y control sobre entornos distribuidos </a:t>
            </a:r>
            <a:r>
              <a:rPr lang="es-ES" dirty="0"/>
              <a:t>Garantizar seguridad y trazabilidad incluso cuando los datos residen en múltiples plataformas, nubes o catálogos federados.</a:t>
            </a:r>
            <a:br>
              <a:rPr lang="es-ES" dirty="0"/>
            </a:b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Compartir datos con otros equipos/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partners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suele implicar mover copias físicas (CSV, Excel,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dumps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Esto genera riesgos de fuga y pérdida de control: una vez enviado el archivo, no se puede revocar.</a:t>
            </a: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Es difícil garantizar que todos trabajan con la misma versión del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dataset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E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b="1" u="sng" dirty="0"/>
              <a:t>CONECTADOS-CONFIABLES</a:t>
            </a:r>
            <a:br>
              <a:rPr lang="es-ES" dirty="0"/>
            </a:br>
            <a:r>
              <a:rPr lang="es-ES" dirty="0"/>
              <a:t>✅ </a:t>
            </a:r>
            <a:r>
              <a:rPr lang="es-ES" b="1" dirty="0"/>
              <a:t>Calidad y trazabilidad</a:t>
            </a:r>
            <a:r>
              <a:rPr lang="es-ES" dirty="0"/>
              <a:t> → Saber de dónde vienen los datos, cómo se transforman y si son fiables</a:t>
            </a:r>
          </a:p>
          <a:p>
            <a:r>
              <a:rPr lang="es-ES" dirty="0"/>
              <a:t>✅ </a:t>
            </a:r>
            <a:r>
              <a:rPr lang="es-ES" b="1" dirty="0"/>
              <a:t>Catalogación y descubrimiento</a:t>
            </a:r>
            <a:r>
              <a:rPr lang="es-ES" dirty="0"/>
              <a:t> → Facilitar que los usuarios encuentren los datos que necesitan</a:t>
            </a:r>
            <a:br>
              <a:rPr lang="es-ES" dirty="0"/>
            </a:br>
            <a:r>
              <a:rPr lang="es-ES" dirty="0"/>
              <a:t>En otros entornos….</a:t>
            </a: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No existe un mapa claro de linaje: no sabemos de dónde viene un dato ni cómo se ha transformado.</a:t>
            </a: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Esto dificulta auditorías (ej. cumplimiento GDPR, SOX).</a:t>
            </a: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Si un KPI está mal calculado, es difícil saber en qué paso del pipeline se introdujo el error</a:t>
            </a:r>
          </a:p>
          <a:p>
            <a:br>
              <a:rPr lang="es-ES" dirty="0"/>
            </a:br>
            <a:r>
              <a:rPr lang="es-ES" b="1" u="sng" dirty="0"/>
              <a:t>CONFIABLES-ACCESIBLES</a:t>
            </a:r>
            <a:br>
              <a:rPr lang="es-ES" dirty="0"/>
            </a:br>
            <a:r>
              <a:rPr lang="es-ES" b="1" dirty="0"/>
              <a:t>✅ Versionado y trazabilidad histórica </a:t>
            </a:r>
            <a:r>
              <a:rPr lang="es-ES" dirty="0"/>
              <a:t>Asegurar que los usuarios trabajen siempre con versiones válidas y auditables de los datos, con posibilidad de auditar cambios y recuperar estados anteriores.</a:t>
            </a:r>
          </a:p>
          <a:p>
            <a:r>
              <a:rPr lang="es-ES" dirty="0"/>
              <a:t>✅ </a:t>
            </a:r>
            <a:r>
              <a:rPr lang="es-ES" b="1" dirty="0"/>
              <a:t>Consistencia en definiciones</a:t>
            </a:r>
            <a:r>
              <a:rPr lang="es-ES" dirty="0"/>
              <a:t> → Alinear términos clave y métricas en toda la organización</a:t>
            </a: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Información aislada en sistemas/departamentos, sin un repositorio central.  </a:t>
            </a: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- Consecuencias: duplicidad, incoherencia, falta de colaboración.</a:t>
            </a: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- Ejemplo sencillo:</a:t>
            </a: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Marketing tiene su base de clientes en un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CRM.Ventas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usa otra lista de clientes en un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Excel.Finanzas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usa aún otra versión en su ERP.</a:t>
            </a:r>
          </a:p>
          <a:p>
            <a:endParaRPr lang="es-ES" dirty="0"/>
          </a:p>
          <a:p>
            <a:endParaRPr lang="es-ES" dirty="0"/>
          </a:p>
          <a:p>
            <a:r>
              <a:rPr lang="es-ES" b="1" dirty="0"/>
              <a:t>🧠 Frase de resumen</a:t>
            </a:r>
          </a:p>
          <a:p>
            <a:r>
              <a:rPr lang="es-ES" b="1" dirty="0"/>
              <a:t>Gobernar datos no es solo protegerlos, es también hacerlos utilizables con confianza.</a:t>
            </a:r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541216-FC33-B8CF-C987-BF84D07F27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52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Crear algo de debate</a:t>
            </a:r>
          </a:p>
          <a:p>
            <a:pPr rtl="0"/>
            <a:endParaRPr lang="es-ES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s-E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ESPECTRO DE GOBERNANZA EN LAS ORGANIZACIONES</a:t>
            </a:r>
            <a:endParaRPr lang="es-ES" b="1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Hay empresas con enfoque centralizado, donde un equipo es responsable y realiza la gobernanza para toda la compañía.</a:t>
            </a:r>
          </a:p>
          <a:p>
            <a:pPr rtl="0"/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el otro lado del espectro son los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domain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experts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los que crean los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asstes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ademas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los gobiernan a nivel de gobernanza.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por supuesto hay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compañias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se colocan en el medio.</a:t>
            </a:r>
          </a:p>
          <a:p>
            <a:pPr rtl="0"/>
            <a:endParaRPr lang="es-E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=&gt; ¿Dónde creéis que se coloca vuestra empresa?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punto no pretende decir cual es bueno o malo sino entender donde se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situa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tu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compañia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asi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hacer uso correctamente de las herramientas que provee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databricks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eficientar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segun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donde te encuentras en ese espectro.</a:t>
            </a:r>
            <a:endParaRPr lang="es-ES" b="0" dirty="0">
              <a:effectLst/>
            </a:endParaRPr>
          </a:p>
          <a:p>
            <a:br>
              <a:rPr lang="es-ES" dirty="0"/>
            </a:b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9220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328AD-365E-E126-3784-AD013C166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0E4D490-0CDA-3A32-6F28-6288A9428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E1E81F1-356C-25AE-D865-26DDD2303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F10AB7B-9CD9-79AE-4FB7-92585FBF9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985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Una primera definición de Unity </a:t>
            </a:r>
            <a:r>
              <a:rPr lang="es-ES" b="1" dirty="0" err="1"/>
              <a:t>Catalog</a:t>
            </a:r>
            <a:r>
              <a:rPr lang="es-ES" b="1" dirty="0"/>
              <a:t> es que es el ecosistema que propone </a:t>
            </a:r>
            <a:r>
              <a:rPr lang="es-ES" b="1" dirty="0" err="1"/>
              <a:t>databrick</a:t>
            </a:r>
            <a:r>
              <a:rPr lang="es-ES" b="1" dirty="0"/>
              <a:t> para que se comuniquen las distintas personas y objetos que pueden generarse en un </a:t>
            </a:r>
            <a:r>
              <a:rPr lang="es-ES" b="1" dirty="0" err="1"/>
              <a:t>entonorno</a:t>
            </a:r>
            <a:r>
              <a:rPr lang="es-ES" b="1" dirty="0"/>
              <a:t> de Datos.</a:t>
            </a:r>
          </a:p>
          <a:p>
            <a:endParaRPr lang="es-ES" dirty="0"/>
          </a:p>
          <a:p>
            <a:r>
              <a:rPr lang="es-ES" dirty="0"/>
              <a:t>Por lo tanto será un entorno donde podrán convivir distintos roles como data </a:t>
            </a:r>
            <a:r>
              <a:rPr lang="es-ES" dirty="0" err="1"/>
              <a:t>engineers</a:t>
            </a:r>
            <a:r>
              <a:rPr lang="es-ES" dirty="0"/>
              <a:t>, data Analyst, data </a:t>
            </a:r>
            <a:r>
              <a:rPr lang="es-ES" dirty="0" err="1"/>
              <a:t>scientist</a:t>
            </a:r>
            <a:r>
              <a:rPr lang="es-ES" dirty="0"/>
              <a:t>, </a:t>
            </a:r>
            <a:r>
              <a:rPr lang="es-ES" dirty="0" err="1"/>
              <a:t>admins</a:t>
            </a:r>
            <a:r>
              <a:rPr lang="es-ES" dirty="0"/>
              <a:t>… y relacionarse con los objetos que se generan en un paradigma de datos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5085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 err="1"/>
              <a:t>Databricks</a:t>
            </a:r>
            <a:r>
              <a:rPr lang="es-ES" b="1" dirty="0"/>
              <a:t> explica que UC es capaz de ofrecer gestión en estas </a:t>
            </a:r>
            <a:r>
              <a:rPr lang="es-ES" b="1" dirty="0" err="1"/>
              <a:t>areas</a:t>
            </a:r>
            <a:br>
              <a:rPr lang="es-ES" b="1" dirty="0"/>
            </a:br>
            <a:endParaRPr lang="es-ES" b="1" dirty="0"/>
          </a:p>
          <a:p>
            <a:r>
              <a:rPr lang="es-ES" b="1" dirty="0"/>
              <a:t>1. 🔐 Access </a:t>
            </a:r>
            <a:r>
              <a:rPr lang="es-ES" b="1" dirty="0" err="1"/>
              <a:t>Controls</a:t>
            </a:r>
            <a:r>
              <a:rPr lang="es-ES" b="1" dirty="0"/>
              <a:t> (Controles de acceso)</a:t>
            </a:r>
          </a:p>
          <a:p>
            <a:r>
              <a:rPr lang="es-ES" dirty="0"/>
              <a:t>Permite definir y aplicar </a:t>
            </a:r>
            <a:r>
              <a:rPr lang="es-ES" b="1" dirty="0"/>
              <a:t>quién puede ver o modificar qué</a:t>
            </a:r>
            <a:r>
              <a:rPr lang="es-ES" dirty="0"/>
              <a:t>, desde catálogos y esquemas hasta columnas concretas.</a:t>
            </a:r>
          </a:p>
          <a:p>
            <a:r>
              <a:rPr lang="es-ES" dirty="0"/>
              <a:t>Se basa en </a:t>
            </a:r>
            <a:r>
              <a:rPr lang="es-ES" b="1" dirty="0" err="1"/>
              <a:t>ACLs</a:t>
            </a:r>
            <a:r>
              <a:rPr lang="es-ES" dirty="0"/>
              <a:t> (Listas de Control de Acceso) y soporta nivel </a:t>
            </a:r>
            <a:r>
              <a:rPr lang="es-ES" b="1" dirty="0"/>
              <a:t>tabla, vista, función, columna</a:t>
            </a:r>
            <a:r>
              <a:rPr lang="es-ES" dirty="0"/>
              <a:t>.</a:t>
            </a:r>
          </a:p>
          <a:p>
            <a:r>
              <a:rPr lang="es-ES" dirty="0"/>
              <a:t>Compatible con RBAC (roles/grupos) y SCIM.</a:t>
            </a:r>
          </a:p>
          <a:p>
            <a:endParaRPr lang="es-ES" dirty="0"/>
          </a:p>
          <a:p>
            <a:r>
              <a:rPr lang="es-ES" b="1" dirty="0"/>
              <a:t>2. 🔗 </a:t>
            </a:r>
            <a:r>
              <a:rPr lang="es-ES" b="1" dirty="0" err="1"/>
              <a:t>Lineage</a:t>
            </a:r>
            <a:r>
              <a:rPr lang="es-ES" b="1" dirty="0"/>
              <a:t> (Linaje de datos)</a:t>
            </a:r>
          </a:p>
          <a:p>
            <a:r>
              <a:rPr lang="es-ES" dirty="0"/>
              <a:t>Rastrea automáticamente el </a:t>
            </a:r>
            <a:r>
              <a:rPr lang="es-ES" b="1" dirty="0"/>
              <a:t>origen y transformación</a:t>
            </a:r>
            <a:r>
              <a:rPr lang="es-ES" dirty="0"/>
              <a:t> de los datos:</a:t>
            </a:r>
          </a:p>
          <a:p>
            <a:r>
              <a:rPr lang="es-ES" dirty="0"/>
              <a:t>Desde los notebooks y </a:t>
            </a:r>
            <a:r>
              <a:rPr lang="es-ES" dirty="0" err="1"/>
              <a:t>jobs</a:t>
            </a:r>
            <a:r>
              <a:rPr lang="es-ES" dirty="0"/>
              <a:t> que los generan</a:t>
            </a:r>
          </a:p>
          <a:p>
            <a:r>
              <a:rPr lang="es-ES" dirty="0"/>
              <a:t>Hasta los </a:t>
            </a:r>
            <a:r>
              <a:rPr lang="es-ES" dirty="0" err="1"/>
              <a:t>dashboards</a:t>
            </a:r>
            <a:r>
              <a:rPr lang="es-ES" dirty="0"/>
              <a:t> o usuarios que los consumen</a:t>
            </a:r>
          </a:p>
          <a:p>
            <a:r>
              <a:rPr lang="es-ES" dirty="0"/>
              <a:t>Aplica tanto a </a:t>
            </a:r>
            <a:r>
              <a:rPr lang="es-ES" b="1" dirty="0"/>
              <a:t>tablas como columnas</a:t>
            </a:r>
            <a:endParaRPr lang="es-ES" dirty="0"/>
          </a:p>
          <a:p>
            <a:endParaRPr lang="es-ES" dirty="0"/>
          </a:p>
          <a:p>
            <a:r>
              <a:rPr lang="es-ES" b="1" dirty="0"/>
              <a:t>3. 🔍 Discovery (Descubrimiento)</a:t>
            </a:r>
          </a:p>
          <a:p>
            <a:r>
              <a:rPr lang="es-ES" dirty="0"/>
              <a:t>Permite que los usuarios encuentren rápidamente los datos disponibles a través de:</a:t>
            </a:r>
          </a:p>
          <a:p>
            <a:r>
              <a:rPr lang="es-ES" dirty="0"/>
              <a:t>Exploradores tipo Data Explorer</a:t>
            </a:r>
          </a:p>
          <a:p>
            <a:r>
              <a:rPr lang="es-ES" dirty="0"/>
              <a:t>Etiquetas (</a:t>
            </a: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TAGS</a:t>
            </a:r>
            <a:r>
              <a:rPr lang="es-ES" dirty="0"/>
              <a:t>) y comentarios (</a:t>
            </a: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COMMENT ON</a:t>
            </a:r>
            <a:r>
              <a:rPr lang="es-ES" dirty="0"/>
              <a:t>)</a:t>
            </a:r>
          </a:p>
          <a:p>
            <a:r>
              <a:rPr lang="es-ES" dirty="0"/>
              <a:t>Clasificación por dominios/catálogos/esquemas</a:t>
            </a:r>
          </a:p>
          <a:p>
            <a:endParaRPr lang="es-ES" dirty="0"/>
          </a:p>
          <a:p>
            <a:r>
              <a:rPr lang="es-ES" b="1" dirty="0"/>
              <a:t>4. 📊 </a:t>
            </a:r>
            <a:r>
              <a:rPr lang="es-ES" b="1" dirty="0" err="1"/>
              <a:t>Monitoring</a:t>
            </a:r>
            <a:r>
              <a:rPr lang="es-ES" b="1" dirty="0"/>
              <a:t> (Monitorización)</a:t>
            </a:r>
          </a:p>
          <a:p>
            <a:r>
              <a:rPr lang="es-ES" dirty="0"/>
              <a:t>Supervisión de uso de datos y comportamiento:</a:t>
            </a:r>
          </a:p>
          <a:p>
            <a:r>
              <a:rPr lang="es-ES" dirty="0"/>
              <a:t>Consultas ejecutadas</a:t>
            </a:r>
          </a:p>
          <a:p>
            <a:r>
              <a:rPr lang="es-ES" dirty="0"/>
              <a:t>Tiempo de ejecución</a:t>
            </a:r>
          </a:p>
          <a:p>
            <a:r>
              <a:rPr lang="es-ES" dirty="0"/>
              <a:t>Cargas de trabajo sobre cada tabla</a:t>
            </a:r>
          </a:p>
          <a:p>
            <a:endParaRPr lang="es-ES" dirty="0"/>
          </a:p>
          <a:p>
            <a:r>
              <a:rPr lang="es-ES" b="1" dirty="0"/>
              <a:t>5. 📁 </a:t>
            </a:r>
            <a:r>
              <a:rPr lang="es-ES" b="1" dirty="0" err="1"/>
              <a:t>Auditing</a:t>
            </a:r>
            <a:r>
              <a:rPr lang="es-ES" b="1" dirty="0"/>
              <a:t> (Auditoría)</a:t>
            </a:r>
          </a:p>
          <a:p>
            <a:r>
              <a:rPr lang="es-ES" dirty="0"/>
              <a:t>Registro detallado y persistente de todas las acciones sobre los datos:</a:t>
            </a:r>
          </a:p>
          <a:p>
            <a:r>
              <a:rPr lang="es-ES" dirty="0"/>
              <a:t>¿Quién accedió a qué, cuándo y cómo?</a:t>
            </a:r>
          </a:p>
          <a:p>
            <a:r>
              <a:rPr lang="es-ES" dirty="0"/>
              <a:t>¿Se modificó un esquema o una tabla?</a:t>
            </a:r>
          </a:p>
          <a:p>
            <a:r>
              <a:rPr lang="es-ES" dirty="0"/>
              <a:t>Crucial para cumplimiento normativo (GDPR, HIPAA…)</a:t>
            </a:r>
          </a:p>
          <a:p>
            <a:endParaRPr lang="es-ES" dirty="0"/>
          </a:p>
          <a:p>
            <a:r>
              <a:rPr lang="es-ES" b="1" dirty="0"/>
              <a:t>6. 🤝 </a:t>
            </a:r>
            <a:r>
              <a:rPr lang="es-ES" b="1" dirty="0" err="1"/>
              <a:t>Sharing</a:t>
            </a:r>
            <a:r>
              <a:rPr lang="es-ES" b="1" dirty="0"/>
              <a:t> (Compartición de datos)</a:t>
            </a:r>
          </a:p>
          <a:p>
            <a:r>
              <a:rPr lang="es-ES" dirty="0"/>
              <a:t>Gestión segura y gobernada del </a:t>
            </a:r>
            <a:r>
              <a:rPr lang="es-ES" b="1" dirty="0"/>
              <a:t>intercambio de datos entre entornos o empresas</a:t>
            </a:r>
            <a:r>
              <a:rPr lang="es-ES" dirty="0"/>
              <a:t>:</a:t>
            </a:r>
          </a:p>
          <a:p>
            <a:r>
              <a:rPr lang="es-ES" dirty="0"/>
              <a:t>Unity </a:t>
            </a:r>
            <a:r>
              <a:rPr lang="es-ES" dirty="0" err="1"/>
              <a:t>Catalog</a:t>
            </a:r>
            <a:r>
              <a:rPr lang="es-ES" dirty="0"/>
              <a:t> permite compartir datos entre </a:t>
            </a:r>
            <a:r>
              <a:rPr lang="es-ES" dirty="0" err="1"/>
              <a:t>workspaces</a:t>
            </a:r>
            <a:endParaRPr lang="es-ES" dirty="0"/>
          </a:p>
          <a:p>
            <a:r>
              <a:rPr lang="es-ES" dirty="0"/>
              <a:t>También soporta </a:t>
            </a:r>
            <a:r>
              <a:rPr lang="es-ES" b="1" dirty="0"/>
              <a:t>Delta </a:t>
            </a:r>
            <a:r>
              <a:rPr lang="es-ES" b="1" dirty="0" err="1"/>
              <a:t>Sharing</a:t>
            </a:r>
            <a:r>
              <a:rPr lang="es-ES" dirty="0"/>
              <a:t> para compartir </a:t>
            </a:r>
            <a:r>
              <a:rPr lang="es-ES" dirty="0" err="1"/>
              <a:t>datasets</a:t>
            </a:r>
            <a:r>
              <a:rPr lang="es-ES" dirty="0"/>
              <a:t> externos de forma segura y sin duplicación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090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s-ES" b="0" dirty="0">
                <a:effectLst/>
              </a:rPr>
            </a:br>
            <a:br>
              <a:rPr lang="es-ES" b="0" dirty="0">
                <a:effectLst/>
              </a:rPr>
            </a:br>
            <a:endParaRPr lang="es-ES" b="0" dirty="0">
              <a:effectLst/>
            </a:endParaRPr>
          </a:p>
          <a:p>
            <a:pPr rtl="0"/>
            <a:r>
              <a:rPr lang="es-E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Una de las </a:t>
            </a:r>
            <a:r>
              <a:rPr lang="es-E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caracteristicas</a:t>
            </a:r>
            <a:r>
              <a:rPr lang="es-E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capacidades mas importantes de UC en </a:t>
            </a:r>
            <a:r>
              <a:rPr lang="es-E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Databricks</a:t>
            </a:r>
            <a:endParaRPr lang="es-ES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s-E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capacidad de realmente unificar datos provenientes de diferentes entornos o fuentes.  No solo la </a:t>
            </a:r>
            <a:r>
              <a:rPr lang="es-E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informacion</a:t>
            </a:r>
            <a:r>
              <a:rPr lang="es-E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interna de </a:t>
            </a:r>
            <a:r>
              <a:rPr lang="es-E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databricks</a:t>
            </a:r>
            <a:r>
              <a:rPr lang="es-E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sino </a:t>
            </a:r>
            <a:r>
              <a:rPr lang="es-E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tambien</a:t>
            </a:r>
            <a:r>
              <a:rPr lang="es-E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informacion</a:t>
            </a:r>
            <a:r>
              <a:rPr lang="es-E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proveniente de otras plataformas como </a:t>
            </a:r>
            <a:r>
              <a:rPr lang="es-E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snowflake</a:t>
            </a:r>
            <a:r>
              <a:rPr lang="es-E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red shift</a:t>
            </a:r>
          </a:p>
          <a:p>
            <a:br>
              <a:rPr lang="es-ES" dirty="0"/>
            </a:br>
            <a:endParaRPr lang="es-ES" dirty="0"/>
          </a:p>
          <a:p>
            <a:r>
              <a:rPr lang="es-ES" b="1" dirty="0"/>
              <a:t>🔹 </a:t>
            </a:r>
            <a:r>
              <a:rPr lang="es-ES" b="1" dirty="0" err="1"/>
              <a:t>External</a:t>
            </a:r>
            <a:r>
              <a:rPr lang="es-ES" b="1" dirty="0"/>
              <a:t> Compute </a:t>
            </a:r>
            <a:r>
              <a:rPr lang="es-ES" b="1" dirty="0" err="1"/>
              <a:t>Platforms</a:t>
            </a:r>
            <a:endParaRPr lang="es-ES" b="1" dirty="0"/>
          </a:p>
          <a:p>
            <a:r>
              <a:rPr lang="es-ES" dirty="0"/>
              <a:t>Motores externos como Amazon </a:t>
            </a:r>
            <a:r>
              <a:rPr lang="es-ES" dirty="0" err="1"/>
              <a:t>Athena</a:t>
            </a:r>
            <a:r>
              <a:rPr lang="es-ES" dirty="0"/>
              <a:t>, EMR, Trino, Presto o Spark acceden a datos gobernados por Unity </a:t>
            </a:r>
            <a:r>
              <a:rPr lang="es-ES" dirty="0" err="1"/>
              <a:t>Catalog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➡️ Garantiza que la gobernanza (tags, permisos, máscaras) definida en Unity </a:t>
            </a:r>
            <a:r>
              <a:rPr lang="es-ES" dirty="0" err="1"/>
              <a:t>Catalog</a:t>
            </a:r>
            <a:r>
              <a:rPr lang="es-ES" dirty="0"/>
              <a:t> se respete incluso cuando los datos son consultados desde fuera de </a:t>
            </a:r>
            <a:r>
              <a:rPr lang="es-ES" dirty="0" err="1"/>
              <a:t>Databricks</a:t>
            </a:r>
            <a:r>
              <a:rPr lang="es-ES" dirty="0"/>
              <a:t>.</a:t>
            </a:r>
          </a:p>
          <a:p>
            <a:pPr marL="0" indent="0" rtl="0">
              <a:buFont typeface="Arial" panose="020B0604020202020204" pitchFamily="34" charset="0"/>
              <a:buNone/>
            </a:pPr>
            <a:endParaRPr lang="es-ES" b="1" dirty="0">
              <a:effectLst/>
            </a:endParaRPr>
          </a:p>
          <a:p>
            <a:r>
              <a:rPr lang="es-ES" b="1" dirty="0"/>
              <a:t>🔹 Cloud Data Lake</a:t>
            </a:r>
          </a:p>
          <a:p>
            <a:r>
              <a:rPr lang="es-ES" dirty="0"/>
              <a:t>Acceso directo a datos almacenados en S3, ADLS o GCS (almacenamiento en la nube).</a:t>
            </a:r>
            <a:br>
              <a:rPr lang="es-ES" dirty="0"/>
            </a:br>
            <a:r>
              <a:rPr lang="es-ES" dirty="0"/>
              <a:t>➡️ Permite lectura y escritura nativas sobre datos estructurados y no estructurados desde </a:t>
            </a:r>
            <a:r>
              <a:rPr lang="es-ES" dirty="0" err="1"/>
              <a:t>Databricks</a:t>
            </a:r>
            <a:r>
              <a:rPr lang="es-ES" dirty="0"/>
              <a:t>, con gobernanza aplicada por Unity </a:t>
            </a:r>
            <a:r>
              <a:rPr lang="es-ES" dirty="0" err="1"/>
              <a:t>Catalog</a:t>
            </a:r>
            <a:r>
              <a:rPr lang="es-ES" dirty="0"/>
              <a:t>.</a:t>
            </a:r>
          </a:p>
          <a:p>
            <a:br>
              <a:rPr lang="es-ES" dirty="0"/>
            </a:br>
            <a:endParaRPr lang="es-ES" dirty="0"/>
          </a:p>
          <a:p>
            <a:r>
              <a:rPr lang="es-ES" b="1" dirty="0"/>
              <a:t>🔹 </a:t>
            </a:r>
            <a:r>
              <a:rPr lang="es-ES" b="1" dirty="0" err="1"/>
              <a:t>Catalog</a:t>
            </a:r>
            <a:r>
              <a:rPr lang="es-ES" b="1" dirty="0"/>
              <a:t> </a:t>
            </a:r>
            <a:r>
              <a:rPr lang="es-ES" b="1" dirty="0" err="1"/>
              <a:t>Federation</a:t>
            </a:r>
            <a:endParaRPr lang="es-ES" b="1" dirty="0"/>
          </a:p>
          <a:p>
            <a:r>
              <a:rPr lang="es-ES" dirty="0"/>
              <a:t>Unity </a:t>
            </a:r>
            <a:r>
              <a:rPr lang="es-ES" dirty="0" err="1"/>
              <a:t>Catalog</a:t>
            </a:r>
            <a:r>
              <a:rPr lang="es-ES" dirty="0"/>
              <a:t> se conecta a metadatos externos (como AWS </a:t>
            </a:r>
            <a:r>
              <a:rPr lang="es-ES" dirty="0" err="1"/>
              <a:t>Glue</a:t>
            </a:r>
            <a:r>
              <a:rPr lang="es-ES" dirty="0"/>
              <a:t> o Apache </a:t>
            </a:r>
            <a:r>
              <a:rPr lang="es-ES" dirty="0" err="1"/>
              <a:t>Hive</a:t>
            </a:r>
            <a:r>
              <a:rPr lang="es-ES" dirty="0"/>
              <a:t>).</a:t>
            </a:r>
            <a:br>
              <a:rPr lang="es-ES" dirty="0"/>
            </a:br>
            <a:r>
              <a:rPr lang="es-ES" dirty="0"/>
              <a:t>➡️ Expone catálogos ajenos dentro del entorno de </a:t>
            </a:r>
            <a:r>
              <a:rPr lang="es-ES" dirty="0" err="1"/>
              <a:t>Databricks</a:t>
            </a:r>
            <a:r>
              <a:rPr lang="es-ES" dirty="0"/>
              <a:t>, permitiendo exploración y descubrimiento, aunque los datos permanezcan fuera.</a:t>
            </a:r>
          </a:p>
          <a:p>
            <a:br>
              <a:rPr lang="es-ES" dirty="0"/>
            </a:br>
            <a:endParaRPr lang="es-ES" dirty="0"/>
          </a:p>
          <a:p>
            <a:r>
              <a:rPr lang="es-ES" b="1" dirty="0"/>
              <a:t>🔹 Data </a:t>
            </a:r>
            <a:r>
              <a:rPr lang="es-ES" b="1" dirty="0" err="1"/>
              <a:t>Federation</a:t>
            </a:r>
            <a:endParaRPr lang="es-ES" b="1" dirty="0"/>
          </a:p>
          <a:p>
            <a:r>
              <a:rPr lang="es-ES" dirty="0" err="1"/>
              <a:t>Databricks</a:t>
            </a:r>
            <a:r>
              <a:rPr lang="es-ES" dirty="0"/>
              <a:t> ejecuta consultas hacia fuentes externas como </a:t>
            </a:r>
            <a:r>
              <a:rPr lang="es-ES" dirty="0" err="1"/>
              <a:t>Snowflake</a:t>
            </a:r>
            <a:r>
              <a:rPr lang="es-ES" dirty="0"/>
              <a:t>, </a:t>
            </a:r>
            <a:r>
              <a:rPr lang="es-ES" dirty="0" err="1"/>
              <a:t>Redshift</a:t>
            </a:r>
            <a:r>
              <a:rPr lang="es-ES" dirty="0"/>
              <a:t>, </a:t>
            </a:r>
            <a:r>
              <a:rPr lang="es-ES" dirty="0" err="1"/>
              <a:t>BigQuery</a:t>
            </a:r>
            <a:r>
              <a:rPr lang="es-ES" dirty="0"/>
              <a:t>, PostgreSQL, etc.</a:t>
            </a:r>
            <a:br>
              <a:rPr lang="es-ES" dirty="0"/>
            </a:br>
            <a:r>
              <a:rPr lang="es-ES" dirty="0"/>
              <a:t>➡️ Permite análisis desde </a:t>
            </a:r>
            <a:r>
              <a:rPr lang="es-ES" dirty="0" err="1"/>
              <a:t>Databricks</a:t>
            </a:r>
            <a:r>
              <a:rPr lang="es-ES" dirty="0"/>
              <a:t> sin mover los datos, integrando múltiples orígenes bajo una única capa lógica.</a:t>
            </a:r>
          </a:p>
          <a:p>
            <a:endParaRPr lang="es-ES" b="1" dirty="0"/>
          </a:p>
          <a:p>
            <a:endParaRPr lang="es-ES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630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dirty="0">
                <a:latin typeface="Montserrat" panose="00000500000000000000" pitchFamily="2" charset="0"/>
              </a:rPr>
              <a:t>Comprender la estructura jerárquica de Unity </a:t>
            </a:r>
            <a:r>
              <a:rPr lang="es-ES" sz="1200" b="1" dirty="0" err="1">
                <a:latin typeface="Montserrat" panose="00000500000000000000" pitchFamily="2" charset="0"/>
              </a:rPr>
              <a:t>Catalog</a:t>
            </a:r>
            <a:r>
              <a:rPr lang="es-ES" sz="1200" b="1" dirty="0">
                <a:latin typeface="Montserrat" panose="00000500000000000000" pitchFamily="2" charset="0"/>
              </a:rPr>
              <a:t> es clave para organizar, asegurar y gobernar los datos: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dirty="0">
                <a:latin typeface="Montserrat" panose="00000500000000000000" pitchFamily="2" charset="0"/>
              </a:rPr>
              <a:t>desde el </a:t>
            </a:r>
            <a:r>
              <a:rPr lang="es-ES" sz="1200" b="1" dirty="0">
                <a:latin typeface="Montserrat" panose="00000500000000000000" pitchFamily="2" charset="0"/>
              </a:rPr>
              <a:t>nivel global (catálogo)</a:t>
            </a:r>
            <a:r>
              <a:rPr lang="es-ES" sz="1200" b="0" dirty="0">
                <a:latin typeface="Montserrat" panose="00000500000000000000" pitchFamily="2" charset="0"/>
              </a:rPr>
              <a:t>, pasando por el </a:t>
            </a:r>
            <a:r>
              <a:rPr lang="es-ES" sz="1200" b="1" dirty="0">
                <a:latin typeface="Montserrat" panose="00000500000000000000" pitchFamily="2" charset="0"/>
              </a:rPr>
              <a:t>espacio de trabajo lógico (</a:t>
            </a:r>
            <a:r>
              <a:rPr lang="es-ES" sz="1200" b="1" dirty="0" err="1">
                <a:latin typeface="Montserrat" panose="00000500000000000000" pitchFamily="2" charset="0"/>
              </a:rPr>
              <a:t>schema</a:t>
            </a:r>
            <a:r>
              <a:rPr lang="es-ES" sz="1200" b="1" dirty="0">
                <a:latin typeface="Montserrat" panose="00000500000000000000" pitchFamily="2" charset="0"/>
              </a:rPr>
              <a:t>)</a:t>
            </a:r>
            <a:r>
              <a:rPr lang="es-ES" sz="1200" b="0" dirty="0">
                <a:latin typeface="Montserrat" panose="00000500000000000000" pitchFamily="2" charset="0"/>
              </a:rPr>
              <a:t>, hasta los objetos concretos donde residen y se consumen los datos (tablas, vistas, volúmenes y funciones).</a:t>
            </a:r>
          </a:p>
          <a:p>
            <a:endParaRPr lang="es-ES" b="1" dirty="0"/>
          </a:p>
          <a:p>
            <a:endParaRPr lang="es-ES" b="1" dirty="0"/>
          </a:p>
          <a:p>
            <a:r>
              <a:rPr lang="es-ES" b="1" dirty="0"/>
              <a:t>📝 ¿Cuándo usar varios </a:t>
            </a:r>
            <a:r>
              <a:rPr lang="es-ES" b="1" dirty="0" err="1"/>
              <a:t>metastores</a:t>
            </a:r>
            <a:r>
              <a:rPr lang="es-ES" b="1" dirty="0"/>
              <a:t> en una empresa?</a:t>
            </a:r>
          </a:p>
          <a:p>
            <a:r>
              <a:rPr lang="es-ES" dirty="0"/>
              <a:t>Aunque lo recomendable es gestionar todo desde un único </a:t>
            </a:r>
            <a:r>
              <a:rPr lang="es-ES" dirty="0" err="1"/>
              <a:t>metastore</a:t>
            </a:r>
            <a:r>
              <a:rPr lang="es-ES" dirty="0"/>
              <a:t> (Unity </a:t>
            </a:r>
            <a:r>
              <a:rPr lang="es-ES" dirty="0" err="1"/>
              <a:t>Catalog</a:t>
            </a:r>
            <a:r>
              <a:rPr lang="es-ES" dirty="0"/>
              <a:t>), hay </a:t>
            </a:r>
            <a:r>
              <a:rPr lang="es-ES" b="1" dirty="0"/>
              <a:t>casos justificados</a:t>
            </a:r>
            <a:r>
              <a:rPr lang="es-ES" dirty="0"/>
              <a:t> donde tener más de uno es necesario:</a:t>
            </a:r>
          </a:p>
          <a:p>
            <a:r>
              <a:rPr lang="es-ES" b="1" dirty="0"/>
              <a:t>🌍 Requisitos de residencia de datos</a:t>
            </a:r>
            <a:br>
              <a:rPr lang="es-ES" dirty="0"/>
            </a:br>
            <a:r>
              <a:rPr lang="es-ES" dirty="0"/>
              <a:t>Cuando una empresa opera en varias regiones con leyes distintas (por ejemplo, GDPR en la UE), puede ser obligatorio mantener los datos en </a:t>
            </a:r>
            <a:r>
              <a:rPr lang="es-ES" dirty="0" err="1"/>
              <a:t>metastores</a:t>
            </a:r>
            <a:r>
              <a:rPr lang="es-ES" dirty="0"/>
              <a:t> separados por región.</a:t>
            </a:r>
          </a:p>
          <a:p>
            <a:r>
              <a:rPr lang="es-ES" b="1" dirty="0"/>
              <a:t>🔐 Necesidad de aislamiento total</a:t>
            </a:r>
            <a:br>
              <a:rPr lang="es-ES" dirty="0"/>
            </a:br>
            <a:r>
              <a:rPr lang="es-ES" dirty="0"/>
              <a:t>En grandes organizaciones con unidades de negocio independientes o altamente reguladas, puede ser necesario que cada una tenga su propio </a:t>
            </a:r>
            <a:r>
              <a:rPr lang="es-ES" dirty="0" err="1"/>
              <a:t>metastore</a:t>
            </a:r>
            <a:r>
              <a:rPr lang="es-ES" dirty="0"/>
              <a:t> para garantizar separación de permisos, políticas y administración.</a:t>
            </a:r>
          </a:p>
          <a:p>
            <a:r>
              <a:rPr lang="es-ES" b="1" dirty="0"/>
              <a:t>☁️ Restricciones </a:t>
            </a:r>
            <a:r>
              <a:rPr lang="es-ES" b="1" dirty="0" err="1"/>
              <a:t>multicloud</a:t>
            </a:r>
            <a:br>
              <a:rPr lang="es-ES" dirty="0"/>
            </a:br>
            <a:r>
              <a:rPr lang="es-ES" dirty="0"/>
              <a:t>Si la empresa opera en distintas nubes (AWS, Azure, GCP), y hay restricciones que impiden compartir un único </a:t>
            </a:r>
            <a:r>
              <a:rPr lang="es-ES" dirty="0" err="1"/>
              <a:t>metastore</a:t>
            </a:r>
            <a:r>
              <a:rPr lang="es-ES" dirty="0"/>
              <a:t> entre nubes, se puede asignar uno por proveedor </a:t>
            </a:r>
            <a:r>
              <a:rPr lang="es-ES" dirty="0" err="1"/>
              <a:t>cloud</a:t>
            </a:r>
            <a:r>
              <a:rPr lang="es-ES" dirty="0"/>
              <a:t>.</a:t>
            </a:r>
          </a:p>
          <a:p>
            <a:r>
              <a:rPr lang="es-ES" b="1" dirty="0"/>
              <a:t>🧪 Entornos críticos de prueba o seguridad</a:t>
            </a:r>
            <a:br>
              <a:rPr lang="es-ES" dirty="0"/>
            </a:br>
            <a:r>
              <a:rPr lang="es-ES" dirty="0"/>
              <a:t>Para ciertos entornos de </a:t>
            </a:r>
            <a:r>
              <a:rPr lang="es-ES" dirty="0" err="1"/>
              <a:t>sandbox</a:t>
            </a:r>
            <a:r>
              <a:rPr lang="es-ES" dirty="0"/>
              <a:t>, pruebas sensibles o desarrollo aislado, puede tener sentido usar un </a:t>
            </a:r>
            <a:r>
              <a:rPr lang="es-ES" dirty="0" err="1"/>
              <a:t>metastore</a:t>
            </a:r>
            <a:r>
              <a:rPr lang="es-ES" dirty="0"/>
              <a:t> separado, aunque no es lo habitual.</a:t>
            </a:r>
          </a:p>
          <a:p>
            <a:r>
              <a:rPr lang="es-ES" dirty="0"/>
              <a:t>📌 </a:t>
            </a:r>
            <a:r>
              <a:rPr lang="es-ES" b="1" dirty="0"/>
              <a:t>Conclusión:</a:t>
            </a:r>
            <a:endParaRPr lang="es-ES" dirty="0"/>
          </a:p>
          <a:p>
            <a:r>
              <a:rPr lang="es-ES" dirty="0"/>
              <a:t>Usar múltiples </a:t>
            </a:r>
            <a:r>
              <a:rPr lang="es-ES" dirty="0" err="1"/>
              <a:t>metastores</a:t>
            </a:r>
            <a:r>
              <a:rPr lang="es-ES" dirty="0"/>
              <a:t> es posible, pero debe ser una </a:t>
            </a:r>
            <a:r>
              <a:rPr lang="es-ES" b="1" dirty="0"/>
              <a:t>decisión estratégica bien justificada</a:t>
            </a:r>
            <a:r>
              <a:rPr lang="es-ES" dirty="0"/>
              <a:t>. Siempre que se pueda, se recomienda mantener un </a:t>
            </a:r>
            <a:r>
              <a:rPr lang="es-ES" b="1" dirty="0"/>
              <a:t>modelo centralizado</a:t>
            </a:r>
            <a:r>
              <a:rPr lang="es-ES" dirty="0"/>
              <a:t> con un único </a:t>
            </a:r>
            <a:r>
              <a:rPr lang="es-ES" dirty="0" err="1"/>
              <a:t>metastore</a:t>
            </a:r>
            <a:r>
              <a:rPr lang="es-ES" dirty="0"/>
              <a:t> para simplificar la gobernanza.</a:t>
            </a:r>
          </a:p>
          <a:p>
            <a:endParaRPr lang="es-ES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777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459D4-BCCB-8569-076D-B85E13888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0DDC960-57B5-6D75-B50C-B4FBB20851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27DDD42-0FA8-7342-9A30-B01825DD6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Una estructura jerárquica de gobernanza de datos con </a:t>
            </a:r>
            <a:r>
              <a:rPr lang="es-ES" b="1" dirty="0"/>
              <a:t>un único </a:t>
            </a:r>
            <a:r>
              <a:rPr lang="es-ES" b="1" dirty="0" err="1"/>
              <a:t>metastorer</a:t>
            </a:r>
            <a:r>
              <a:rPr lang="es-ES" b="1" dirty="0"/>
              <a:t> </a:t>
            </a:r>
            <a:r>
              <a:rPr lang="es-ES" b="0" dirty="0"/>
              <a:t>pueden utilizarse varios enfo</a:t>
            </a:r>
            <a:r>
              <a:rPr lang="es-ES" dirty="0"/>
              <a:t>ques:</a:t>
            </a:r>
          </a:p>
          <a:p>
            <a:r>
              <a:rPr lang="es-ES" b="1" dirty="0"/>
              <a:t>Centralizados</a:t>
            </a:r>
            <a:r>
              <a:rPr lang="es-ES" dirty="0"/>
              <a:t> → todo lo controla el </a:t>
            </a:r>
            <a:r>
              <a:rPr lang="es-ES" b="1" dirty="0" err="1"/>
              <a:t>Metastore</a:t>
            </a:r>
            <a:r>
              <a:rPr lang="es-ES" b="1" dirty="0"/>
              <a:t> </a:t>
            </a:r>
            <a:r>
              <a:rPr lang="es-ES" b="1" dirty="0" err="1"/>
              <a:t>Admin</a:t>
            </a:r>
            <a:endParaRPr lang="es-ES" dirty="0"/>
          </a:p>
          <a:p>
            <a:r>
              <a:rPr lang="es-ES" b="1" dirty="0"/>
              <a:t>Distribuidos</a:t>
            </a:r>
            <a:r>
              <a:rPr lang="es-ES" dirty="0"/>
              <a:t> → se delega la gobernanza a distintos </a:t>
            </a:r>
            <a:r>
              <a:rPr lang="es-ES" b="1" dirty="0" err="1"/>
              <a:t>Catalog</a:t>
            </a:r>
            <a:r>
              <a:rPr lang="es-ES" b="1" dirty="0"/>
              <a:t> </a:t>
            </a:r>
            <a:r>
              <a:rPr lang="es-ES" b="1" dirty="0" err="1"/>
              <a:t>Admins</a:t>
            </a:r>
            <a:endParaRPr lang="es-ES" dirty="0"/>
          </a:p>
          <a:p>
            <a:br>
              <a:rPr lang="es-ES" dirty="0"/>
            </a:br>
            <a:endParaRPr lang="es-ES" dirty="0"/>
          </a:p>
          <a:p>
            <a:r>
              <a:rPr lang="es-ES" b="1" dirty="0"/>
              <a:t>🧩 Elementos clave explicados</a:t>
            </a:r>
          </a:p>
          <a:p>
            <a:r>
              <a:rPr lang="es-ES" b="1" dirty="0"/>
              <a:t>1. 🗂 Unity </a:t>
            </a:r>
            <a:r>
              <a:rPr lang="es-ES" b="1" dirty="0" err="1"/>
              <a:t>Catalog</a:t>
            </a:r>
            <a:endParaRPr lang="es-ES" b="1" dirty="0"/>
          </a:p>
          <a:p>
            <a:r>
              <a:rPr lang="es-ES" dirty="0"/>
              <a:t>Es la capa lógica de gobernanza, que se gestiona desde un </a:t>
            </a:r>
            <a:r>
              <a:rPr lang="es-ES" b="1" dirty="0" err="1"/>
              <a:t>metastore</a:t>
            </a:r>
            <a:r>
              <a:rPr lang="es-ES" dirty="0"/>
              <a:t> centralizado.</a:t>
            </a:r>
          </a:p>
          <a:p>
            <a:br>
              <a:rPr lang="es-ES" dirty="0"/>
            </a:br>
            <a:endParaRPr lang="es-ES" dirty="0"/>
          </a:p>
          <a:p>
            <a:r>
              <a:rPr lang="es-ES" b="1" dirty="0"/>
              <a:t>2. 🧱 </a:t>
            </a:r>
            <a:r>
              <a:rPr lang="es-ES" b="1" dirty="0" err="1"/>
              <a:t>Metastore</a:t>
            </a:r>
            <a:endParaRPr lang="es-ES" b="1" dirty="0"/>
          </a:p>
          <a:p>
            <a:r>
              <a:rPr lang="es-ES" dirty="0"/>
              <a:t>Es el </a:t>
            </a:r>
            <a:r>
              <a:rPr lang="es-ES" b="1" dirty="0"/>
              <a:t>núcleo</a:t>
            </a:r>
            <a:r>
              <a:rPr lang="es-ES" dirty="0"/>
              <a:t> donde se guardan todos los metadatos: catálogos, esquemas, tablas, funciones, permisos, etc.</a:t>
            </a:r>
          </a:p>
          <a:p>
            <a:r>
              <a:rPr lang="es-ES" dirty="0"/>
              <a:t>Tiene un rol especial: </a:t>
            </a:r>
            <a:r>
              <a:rPr lang="es-ES" b="1" dirty="0" err="1"/>
              <a:t>Metastore</a:t>
            </a:r>
            <a:r>
              <a:rPr lang="es-ES" b="1" dirty="0"/>
              <a:t> </a:t>
            </a:r>
            <a:r>
              <a:rPr lang="es-ES" b="1" dirty="0" err="1"/>
              <a:t>Admin</a:t>
            </a:r>
            <a:endParaRPr lang="es-ES" dirty="0"/>
          </a:p>
          <a:p>
            <a:pPr lvl="1"/>
            <a:r>
              <a:rPr lang="es-ES" dirty="0"/>
              <a:t>🛠 Puede gestionar el </a:t>
            </a:r>
            <a:r>
              <a:rPr lang="es-ES" dirty="0" err="1"/>
              <a:t>metastore</a:t>
            </a:r>
            <a:r>
              <a:rPr lang="es-ES" dirty="0"/>
              <a:t> por completo</a:t>
            </a:r>
          </a:p>
          <a:p>
            <a:pPr lvl="1"/>
            <a:r>
              <a:rPr lang="es-ES" dirty="0"/>
              <a:t>❌ Pero </a:t>
            </a:r>
            <a:r>
              <a:rPr lang="es-ES" b="1" dirty="0"/>
              <a:t>no puede acceder a los datos</a:t>
            </a:r>
            <a:r>
              <a:rPr lang="es-ES" dirty="0"/>
              <a:t> a menos que se le otorgue explícitamente acceso</a:t>
            </a:r>
          </a:p>
          <a:p>
            <a:br>
              <a:rPr lang="es-ES" dirty="0"/>
            </a:br>
            <a:endParaRPr lang="es-ES" dirty="0"/>
          </a:p>
          <a:p>
            <a:r>
              <a:rPr lang="es-ES" b="1" dirty="0"/>
              <a:t>3. 📦 Catálogos (Catalog1, Catalog2)</a:t>
            </a:r>
          </a:p>
          <a:p>
            <a:r>
              <a:rPr lang="es-ES" dirty="0"/>
              <a:t>Agrupan esquemas y objetos (tablas, vistas, funciones…). Cada catálogo puede tener un </a:t>
            </a:r>
            <a:r>
              <a:rPr lang="es-ES" b="1" dirty="0" err="1"/>
              <a:t>Catalog</a:t>
            </a:r>
            <a:r>
              <a:rPr lang="es-ES" b="1" dirty="0"/>
              <a:t> </a:t>
            </a:r>
            <a:r>
              <a:rPr lang="es-ES" b="1" dirty="0" err="1"/>
              <a:t>Admin</a:t>
            </a:r>
            <a:r>
              <a:rPr lang="es-ES" dirty="0"/>
              <a:t> distinto.</a:t>
            </a:r>
          </a:p>
          <a:p>
            <a:r>
              <a:rPr lang="es-ES" b="1" dirty="0" err="1"/>
              <a:t>Catalog</a:t>
            </a:r>
            <a:r>
              <a:rPr lang="es-ES" b="1" dirty="0"/>
              <a:t> </a:t>
            </a:r>
            <a:r>
              <a:rPr lang="es-ES" b="1" dirty="0" err="1"/>
              <a:t>Admin</a:t>
            </a:r>
            <a:r>
              <a:rPr lang="es-ES" dirty="0"/>
              <a:t>:</a:t>
            </a:r>
          </a:p>
          <a:p>
            <a:pPr lvl="1"/>
            <a:r>
              <a:rPr lang="es-ES" dirty="0"/>
              <a:t>✅ Puede crear esquemas dentro de su catálogo</a:t>
            </a:r>
          </a:p>
          <a:p>
            <a:pPr lvl="1"/>
            <a:r>
              <a:rPr lang="es-ES" dirty="0"/>
              <a:t>✅ Puede gestionar accesos dentro de su catálogo</a:t>
            </a:r>
          </a:p>
          <a:p>
            <a:pPr lvl="1"/>
            <a:r>
              <a:rPr lang="es-ES" dirty="0"/>
              <a:t>Esto permite </a:t>
            </a:r>
            <a:r>
              <a:rPr lang="es-ES" b="1" dirty="0"/>
              <a:t>delegar</a:t>
            </a:r>
            <a:r>
              <a:rPr lang="es-ES" dirty="0"/>
              <a:t> la gobernanza por dominio o unidad de negocio</a:t>
            </a:r>
          </a:p>
          <a:p>
            <a:br>
              <a:rPr lang="es-ES" dirty="0"/>
            </a:br>
            <a:endParaRPr lang="es-ES" dirty="0"/>
          </a:p>
          <a:p>
            <a:r>
              <a:rPr lang="es-ES" b="1" dirty="0"/>
              <a:t>4. 📁 Storage </a:t>
            </a:r>
            <a:r>
              <a:rPr lang="es-ES" b="1" dirty="0" err="1"/>
              <a:t>Credentials</a:t>
            </a:r>
            <a:r>
              <a:rPr lang="es-ES" b="1" dirty="0"/>
              <a:t>, Shares y </a:t>
            </a:r>
            <a:r>
              <a:rPr lang="es-ES" b="1" dirty="0" err="1"/>
              <a:t>External</a:t>
            </a:r>
            <a:r>
              <a:rPr lang="es-ES" b="1" dirty="0"/>
              <a:t> </a:t>
            </a:r>
            <a:r>
              <a:rPr lang="es-ES" b="1" dirty="0" err="1"/>
              <a:t>Locations</a:t>
            </a:r>
            <a:endParaRPr lang="es-ES" b="1" dirty="0"/>
          </a:p>
          <a:p>
            <a:r>
              <a:rPr lang="es-ES" dirty="0"/>
              <a:t>Recursos críticos que también se gobiernan desde el </a:t>
            </a:r>
            <a:r>
              <a:rPr lang="es-ES" dirty="0" err="1"/>
              <a:t>metastore</a:t>
            </a:r>
            <a:r>
              <a:rPr lang="es-ES" dirty="0"/>
              <a:t>:</a:t>
            </a:r>
          </a:p>
          <a:p>
            <a:r>
              <a:rPr lang="es-ES" dirty="0"/>
              <a:t>🔐 </a:t>
            </a:r>
            <a:r>
              <a:rPr lang="es-ES" b="1" dirty="0"/>
              <a:t>Storage </a:t>
            </a:r>
            <a:r>
              <a:rPr lang="es-ES" b="1" dirty="0" err="1"/>
              <a:t>Credentials</a:t>
            </a:r>
            <a:r>
              <a:rPr lang="es-ES" dirty="0"/>
              <a:t> → credenciales para acceder a los </a:t>
            </a:r>
            <a:r>
              <a:rPr lang="es-ES" dirty="0" err="1"/>
              <a:t>buckets</a:t>
            </a:r>
            <a:r>
              <a:rPr lang="es-ES" dirty="0"/>
              <a:t> (S3, ADLS...)</a:t>
            </a:r>
          </a:p>
          <a:p>
            <a:r>
              <a:rPr lang="es-ES" dirty="0"/>
              <a:t>🔄 </a:t>
            </a:r>
            <a:r>
              <a:rPr lang="es-ES" b="1" dirty="0"/>
              <a:t>Shares</a:t>
            </a:r>
            <a:r>
              <a:rPr lang="es-ES" dirty="0"/>
              <a:t> → para compartir datos mediante </a:t>
            </a:r>
            <a:r>
              <a:rPr lang="es-ES" b="1" dirty="0"/>
              <a:t>Delta </a:t>
            </a:r>
            <a:r>
              <a:rPr lang="es-ES" b="1" dirty="0" err="1"/>
              <a:t>Sharing</a:t>
            </a:r>
            <a:endParaRPr lang="es-ES" dirty="0"/>
          </a:p>
          <a:p>
            <a:r>
              <a:rPr lang="es-ES" dirty="0"/>
              <a:t>🌐 </a:t>
            </a:r>
            <a:r>
              <a:rPr lang="es-ES" b="1" dirty="0" err="1"/>
              <a:t>External</a:t>
            </a:r>
            <a:r>
              <a:rPr lang="es-ES" b="1" dirty="0"/>
              <a:t> </a:t>
            </a:r>
            <a:r>
              <a:rPr lang="es-ES" b="1" dirty="0" err="1"/>
              <a:t>Locations</a:t>
            </a:r>
            <a:r>
              <a:rPr lang="es-ES" dirty="0"/>
              <a:t> → definiciones de rutas externas para tablas/volúmenes</a:t>
            </a:r>
          </a:p>
          <a:p>
            <a:r>
              <a:rPr lang="es-ES" dirty="0"/>
              <a:t>Todos estos objetos </a:t>
            </a:r>
            <a:r>
              <a:rPr lang="es-ES" b="1" dirty="0"/>
              <a:t>pueden ser delegados también por </a:t>
            </a:r>
            <a:r>
              <a:rPr lang="es-ES" b="1" dirty="0" err="1"/>
              <a:t>scope</a:t>
            </a:r>
            <a:r>
              <a:rPr lang="es-ES" dirty="0"/>
              <a:t>, es decir, no todo debe gestionarse solo por el </a:t>
            </a:r>
            <a:r>
              <a:rPr lang="es-ES" dirty="0" err="1"/>
              <a:t>Metastore</a:t>
            </a:r>
            <a:r>
              <a:rPr lang="es-ES" dirty="0"/>
              <a:t> </a:t>
            </a:r>
            <a:r>
              <a:rPr lang="es-ES" dirty="0" err="1"/>
              <a:t>Admin</a:t>
            </a:r>
            <a:r>
              <a:rPr lang="es-ES" dirty="0"/>
              <a:t>.</a:t>
            </a:r>
          </a:p>
          <a:p>
            <a:br>
              <a:rPr lang="es-ES" dirty="0"/>
            </a:br>
            <a:endParaRPr lang="es-ES" dirty="0"/>
          </a:p>
          <a:p>
            <a:r>
              <a:rPr lang="es-ES" b="1" dirty="0"/>
              <a:t>🧭 Idea principal de la diapositiva</a:t>
            </a:r>
          </a:p>
          <a:p>
            <a:r>
              <a:rPr lang="es-ES" dirty="0"/>
              <a:t>Unity </a:t>
            </a:r>
            <a:r>
              <a:rPr lang="es-ES" dirty="0" err="1"/>
              <a:t>Catalog</a:t>
            </a:r>
            <a:r>
              <a:rPr lang="es-ES" dirty="0"/>
              <a:t> permite una </a:t>
            </a:r>
            <a:r>
              <a:rPr lang="es-ES" b="1" dirty="0"/>
              <a:t>gobernanza flexible</a:t>
            </a:r>
            <a:r>
              <a:rPr lang="es-ES" dirty="0"/>
              <a:t>:</a:t>
            </a:r>
            <a:br>
              <a:rPr lang="es-ES" dirty="0"/>
            </a:br>
            <a:r>
              <a:rPr lang="es-ES" dirty="0"/>
              <a:t>puedes centralizar el control en el </a:t>
            </a:r>
            <a:r>
              <a:rPr lang="es-ES" b="1" dirty="0" err="1"/>
              <a:t>Metastore</a:t>
            </a:r>
            <a:r>
              <a:rPr lang="es-ES" b="1" dirty="0"/>
              <a:t> </a:t>
            </a:r>
            <a:r>
              <a:rPr lang="es-ES" b="1" dirty="0" err="1"/>
              <a:t>Admin</a:t>
            </a:r>
            <a:r>
              <a:rPr lang="es-ES" dirty="0"/>
              <a:t>, o delegar la responsabilidad por catálogo a diferentes </a:t>
            </a:r>
            <a:r>
              <a:rPr lang="es-ES" b="1" dirty="0" err="1"/>
              <a:t>Catalog</a:t>
            </a:r>
            <a:r>
              <a:rPr lang="es-ES" b="1" dirty="0"/>
              <a:t> </a:t>
            </a:r>
            <a:r>
              <a:rPr lang="es-ES" b="1" dirty="0" err="1"/>
              <a:t>Admins</a:t>
            </a:r>
            <a:r>
              <a:rPr lang="es-ES" dirty="0"/>
              <a:t>, según el modelo organizativo de tu empresa.</a:t>
            </a:r>
          </a:p>
          <a:p>
            <a:endParaRPr lang="es-ES" b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EAD584-116A-3AC2-2FE1-D5B4F14CD0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722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D8254-336D-8404-2C97-4F966343D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AB38047-7986-886B-BDD4-F7A34BE64F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3260C85-3B1D-B864-A571-E655EBDC0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 err="1"/>
              <a:t>Databricks</a:t>
            </a:r>
            <a:r>
              <a:rPr lang="es-ES" b="1" dirty="0"/>
              <a:t> explica que UC es capaz de ofrecer gestión en estas </a:t>
            </a:r>
            <a:r>
              <a:rPr lang="es-ES" b="1" dirty="0" err="1"/>
              <a:t>areas</a:t>
            </a:r>
            <a:br>
              <a:rPr lang="es-ES" b="1" dirty="0"/>
            </a:br>
            <a:endParaRPr lang="es-ES" b="1" dirty="0"/>
          </a:p>
          <a:p>
            <a:r>
              <a:rPr lang="es-ES" b="1" dirty="0"/>
              <a:t>1. 🔐 Access </a:t>
            </a:r>
            <a:r>
              <a:rPr lang="es-ES" b="1" dirty="0" err="1"/>
              <a:t>Controls</a:t>
            </a:r>
            <a:r>
              <a:rPr lang="es-ES" b="1" dirty="0"/>
              <a:t> (Controles de acceso)</a:t>
            </a:r>
          </a:p>
          <a:p>
            <a:r>
              <a:rPr lang="es-ES" dirty="0"/>
              <a:t>Permite definir y aplicar </a:t>
            </a:r>
            <a:r>
              <a:rPr lang="es-ES" b="1" dirty="0"/>
              <a:t>quién puede ver o modificar qué</a:t>
            </a:r>
            <a:r>
              <a:rPr lang="es-ES" dirty="0"/>
              <a:t>, desde catálogos y esquemas hasta columnas concretas.</a:t>
            </a:r>
          </a:p>
          <a:p>
            <a:r>
              <a:rPr lang="es-ES" dirty="0"/>
              <a:t>Se basa en </a:t>
            </a:r>
            <a:r>
              <a:rPr lang="es-ES" b="1" dirty="0" err="1"/>
              <a:t>ACLs</a:t>
            </a:r>
            <a:r>
              <a:rPr lang="es-ES" dirty="0"/>
              <a:t> (Listas de Control de Acceso) y soporta nivel </a:t>
            </a:r>
            <a:r>
              <a:rPr lang="es-ES" b="1" dirty="0"/>
              <a:t>tabla, vista, función, columna</a:t>
            </a:r>
            <a:r>
              <a:rPr lang="es-ES" dirty="0"/>
              <a:t>.</a:t>
            </a:r>
          </a:p>
          <a:p>
            <a:r>
              <a:rPr lang="es-ES" dirty="0"/>
              <a:t>Compatible con RBAC (roles/grupos) y SCIM.</a:t>
            </a:r>
          </a:p>
          <a:p>
            <a:endParaRPr lang="es-ES" dirty="0"/>
          </a:p>
          <a:p>
            <a:r>
              <a:rPr lang="es-ES" b="1" dirty="0"/>
              <a:t>2. 🔗 </a:t>
            </a:r>
            <a:r>
              <a:rPr lang="es-ES" b="1" dirty="0" err="1"/>
              <a:t>Lineage</a:t>
            </a:r>
            <a:r>
              <a:rPr lang="es-ES" b="1" dirty="0"/>
              <a:t> (Linaje de datos)</a:t>
            </a:r>
          </a:p>
          <a:p>
            <a:r>
              <a:rPr lang="es-ES" dirty="0"/>
              <a:t>Rastrea automáticamente el </a:t>
            </a:r>
            <a:r>
              <a:rPr lang="es-ES" b="1" dirty="0"/>
              <a:t>origen y transformación</a:t>
            </a:r>
            <a:r>
              <a:rPr lang="es-ES" dirty="0"/>
              <a:t> de los datos:</a:t>
            </a:r>
          </a:p>
          <a:p>
            <a:r>
              <a:rPr lang="es-ES" dirty="0"/>
              <a:t>Desde los notebooks y </a:t>
            </a:r>
            <a:r>
              <a:rPr lang="es-ES" dirty="0" err="1"/>
              <a:t>jobs</a:t>
            </a:r>
            <a:r>
              <a:rPr lang="es-ES" dirty="0"/>
              <a:t> que los generan</a:t>
            </a:r>
          </a:p>
          <a:p>
            <a:r>
              <a:rPr lang="es-ES" dirty="0"/>
              <a:t>Hasta los </a:t>
            </a:r>
            <a:r>
              <a:rPr lang="es-ES" dirty="0" err="1"/>
              <a:t>dashboards</a:t>
            </a:r>
            <a:r>
              <a:rPr lang="es-ES" dirty="0"/>
              <a:t> o usuarios que los consumen</a:t>
            </a:r>
          </a:p>
          <a:p>
            <a:r>
              <a:rPr lang="es-ES" dirty="0"/>
              <a:t>Aplica tanto a </a:t>
            </a:r>
            <a:r>
              <a:rPr lang="es-ES" b="1" dirty="0"/>
              <a:t>tablas como columnas</a:t>
            </a:r>
            <a:endParaRPr lang="es-ES" dirty="0"/>
          </a:p>
          <a:p>
            <a:endParaRPr lang="es-ES" dirty="0"/>
          </a:p>
          <a:p>
            <a:r>
              <a:rPr lang="es-ES" b="1" dirty="0"/>
              <a:t>3. 🔍 Discovery (Descubrimiento)</a:t>
            </a:r>
          </a:p>
          <a:p>
            <a:r>
              <a:rPr lang="es-ES" dirty="0"/>
              <a:t>Permite que los usuarios encuentren rápidamente los datos disponibles a través de:</a:t>
            </a:r>
          </a:p>
          <a:p>
            <a:r>
              <a:rPr lang="es-ES" dirty="0"/>
              <a:t>Exploradores tipo Data Explorer</a:t>
            </a:r>
          </a:p>
          <a:p>
            <a:r>
              <a:rPr lang="es-ES" dirty="0"/>
              <a:t>Etiquetas (</a:t>
            </a: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TAGS</a:t>
            </a:r>
            <a:r>
              <a:rPr lang="es-ES" dirty="0"/>
              <a:t>) y comentarios (</a:t>
            </a: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COMMENT ON</a:t>
            </a:r>
            <a:r>
              <a:rPr lang="es-ES" dirty="0"/>
              <a:t>)</a:t>
            </a:r>
          </a:p>
          <a:p>
            <a:r>
              <a:rPr lang="es-ES" dirty="0"/>
              <a:t>Clasificación por dominios/catálogos/esquemas</a:t>
            </a:r>
          </a:p>
          <a:p>
            <a:endParaRPr lang="es-ES" dirty="0"/>
          </a:p>
          <a:p>
            <a:r>
              <a:rPr lang="es-ES" b="1" dirty="0"/>
              <a:t>4. 📊 </a:t>
            </a:r>
            <a:r>
              <a:rPr lang="es-ES" b="1" dirty="0" err="1"/>
              <a:t>Monitoring</a:t>
            </a:r>
            <a:r>
              <a:rPr lang="es-ES" b="1" dirty="0"/>
              <a:t> (Monitorización)</a:t>
            </a:r>
          </a:p>
          <a:p>
            <a:r>
              <a:rPr lang="es-ES" dirty="0"/>
              <a:t>Supervisión de uso de datos y comportamiento:</a:t>
            </a:r>
          </a:p>
          <a:p>
            <a:r>
              <a:rPr lang="es-ES" dirty="0"/>
              <a:t>Consultas ejecutadas</a:t>
            </a:r>
          </a:p>
          <a:p>
            <a:r>
              <a:rPr lang="es-ES" dirty="0"/>
              <a:t>Tiempo de ejecución</a:t>
            </a:r>
          </a:p>
          <a:p>
            <a:r>
              <a:rPr lang="es-ES" dirty="0"/>
              <a:t>Cargas de trabajo sobre cada tabla</a:t>
            </a:r>
          </a:p>
          <a:p>
            <a:endParaRPr lang="es-ES" dirty="0"/>
          </a:p>
          <a:p>
            <a:r>
              <a:rPr lang="es-ES" b="1" dirty="0"/>
              <a:t>5. 📁 </a:t>
            </a:r>
            <a:r>
              <a:rPr lang="es-ES" b="1" dirty="0" err="1"/>
              <a:t>Auditing</a:t>
            </a:r>
            <a:r>
              <a:rPr lang="es-ES" b="1" dirty="0"/>
              <a:t> (Auditoría)</a:t>
            </a:r>
          </a:p>
          <a:p>
            <a:r>
              <a:rPr lang="es-ES" dirty="0"/>
              <a:t>Registro detallado y persistente de todas las acciones sobre los datos:</a:t>
            </a:r>
          </a:p>
          <a:p>
            <a:r>
              <a:rPr lang="es-ES" dirty="0"/>
              <a:t>¿Quién accedió a qué, cuándo y cómo?</a:t>
            </a:r>
          </a:p>
          <a:p>
            <a:r>
              <a:rPr lang="es-ES" dirty="0"/>
              <a:t>¿Se modificó un esquema o una tabla?</a:t>
            </a:r>
          </a:p>
          <a:p>
            <a:r>
              <a:rPr lang="es-ES" dirty="0"/>
              <a:t>Crucial para cumplimiento normativo (GDPR, HIPAA…)</a:t>
            </a:r>
          </a:p>
          <a:p>
            <a:endParaRPr lang="es-ES" dirty="0"/>
          </a:p>
          <a:p>
            <a:r>
              <a:rPr lang="es-ES" b="1" dirty="0"/>
              <a:t>6. 🤝 </a:t>
            </a:r>
            <a:r>
              <a:rPr lang="es-ES" b="1" dirty="0" err="1"/>
              <a:t>Sharing</a:t>
            </a:r>
            <a:r>
              <a:rPr lang="es-ES" b="1" dirty="0"/>
              <a:t> (Compartición de datos)</a:t>
            </a:r>
          </a:p>
          <a:p>
            <a:r>
              <a:rPr lang="es-ES" dirty="0"/>
              <a:t>Gestión segura y gobernada del </a:t>
            </a:r>
            <a:r>
              <a:rPr lang="es-ES" b="1" dirty="0"/>
              <a:t>intercambio de datos entre entornos o empresas</a:t>
            </a:r>
            <a:r>
              <a:rPr lang="es-ES" dirty="0"/>
              <a:t>:</a:t>
            </a:r>
          </a:p>
          <a:p>
            <a:r>
              <a:rPr lang="es-ES" dirty="0"/>
              <a:t>Unity </a:t>
            </a:r>
            <a:r>
              <a:rPr lang="es-ES" dirty="0" err="1"/>
              <a:t>Catalog</a:t>
            </a:r>
            <a:r>
              <a:rPr lang="es-ES" dirty="0"/>
              <a:t> permite compartir datos entre </a:t>
            </a:r>
            <a:r>
              <a:rPr lang="es-ES" dirty="0" err="1"/>
              <a:t>workspaces</a:t>
            </a:r>
            <a:endParaRPr lang="es-ES" dirty="0"/>
          </a:p>
          <a:p>
            <a:r>
              <a:rPr lang="es-ES" dirty="0"/>
              <a:t>También soporta </a:t>
            </a:r>
            <a:r>
              <a:rPr lang="es-ES" b="1" dirty="0"/>
              <a:t>Delta </a:t>
            </a:r>
            <a:r>
              <a:rPr lang="es-ES" b="1" dirty="0" err="1"/>
              <a:t>Sharing</a:t>
            </a:r>
            <a:r>
              <a:rPr lang="es-ES" dirty="0"/>
              <a:t> para compartir </a:t>
            </a:r>
            <a:r>
              <a:rPr lang="es-ES" dirty="0" err="1"/>
              <a:t>datasets</a:t>
            </a:r>
            <a:r>
              <a:rPr lang="es-ES" dirty="0"/>
              <a:t> externos de forma segura y sin duplicación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B52F817-CD68-72D7-DF1B-CB824D771B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4316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13A40-D0D6-8F67-C380-97567C2B6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5A7E480-0AA0-844C-BCFB-5EE5E4DBB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C59A1D3-BDE5-B408-54FC-83AB800D0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00B59F-0472-502E-F01E-95F470A87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5935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179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97DD6-C3EF-4EDC-A764-DBBB13B38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4B237E-3366-49DC-A5B2-875AB14CB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13 Rectángulo">
            <a:extLst>
              <a:ext uri="{FF2B5EF4-FFF2-40B4-BE49-F238E27FC236}">
                <a16:creationId xmlns:a16="http://schemas.microsoft.com/office/drawing/2014/main" id="{D6C32259-CF4F-40D9-87EA-B3A647A1591D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B3E2DF03-2CE7-4A9C-A771-591251BBF9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19 Imagen" descr="CESTE blanco estrella roja sin coletilla.png">
            <a:extLst>
              <a:ext uri="{FF2B5EF4-FFF2-40B4-BE49-F238E27FC236}">
                <a16:creationId xmlns:a16="http://schemas.microsoft.com/office/drawing/2014/main" id="{AE4FCCDC-943C-4720-9545-D9B580615F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577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EA877-320E-4E53-A0C7-FC3A97FFA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2BCAAD-0433-4C53-959E-D88902C1DF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96752"/>
            <a:ext cx="3867150" cy="4351338"/>
          </a:xfr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5E6915-382E-4217-ACD9-6D0136062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196752"/>
            <a:ext cx="386715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13 Rectángulo">
            <a:extLst>
              <a:ext uri="{FF2B5EF4-FFF2-40B4-BE49-F238E27FC236}">
                <a16:creationId xmlns:a16="http://schemas.microsoft.com/office/drawing/2014/main" id="{C0036AAF-5A53-4151-90BE-48F07F7AB8C7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B0E4B335-D332-4E06-AE4D-5E17D86033F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19 Imagen" descr="CESTE blanco estrella roja sin coletilla.png">
            <a:extLst>
              <a:ext uri="{FF2B5EF4-FFF2-40B4-BE49-F238E27FC236}">
                <a16:creationId xmlns:a16="http://schemas.microsoft.com/office/drawing/2014/main" id="{13C02505-FECE-4A29-9F34-42CD3910D9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49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EEDE8-238D-431B-9E02-ECEA5C508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543595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4FC885-D21E-4C6F-92A4-7DF46EB72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152748"/>
            <a:ext cx="3868737" cy="692076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430F69-62A4-47BE-B8E1-BDB77F91F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976660"/>
            <a:ext cx="386873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336B7D7-2137-443B-B8F2-2827DBA756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152748"/>
            <a:ext cx="3887788" cy="692076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A41CAA0-A338-4726-AD36-E9CAB2E329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976660"/>
            <a:ext cx="38877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0" name="13 Rectángulo">
            <a:extLst>
              <a:ext uri="{FF2B5EF4-FFF2-40B4-BE49-F238E27FC236}">
                <a16:creationId xmlns:a16="http://schemas.microsoft.com/office/drawing/2014/main" id="{CADFFFF2-D07E-48B3-B746-4C1E4E0D3EE7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926C383A-DA23-4774-90AB-96458016A6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19 Imagen" descr="CESTE blanco estrella roja sin coletilla.png">
            <a:extLst>
              <a:ext uri="{FF2B5EF4-FFF2-40B4-BE49-F238E27FC236}">
                <a16:creationId xmlns:a16="http://schemas.microsoft.com/office/drawing/2014/main" id="{372DB351-4074-41B1-8D78-45083290FC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715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334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E6F0CB5-4C9C-47CC-9AC6-73C1D182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543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08939DD-6314-46C2-B153-796562A40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124744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572454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7" r:id="rId2"/>
    <p:sldLayoutId id="2147483658" r:id="rId3"/>
    <p:sldLayoutId id="214748365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a mujer en frente de laptop&#10;&#10;Descripción generada automáticamente">
            <a:extLst>
              <a:ext uri="{FF2B5EF4-FFF2-40B4-BE49-F238E27FC236}">
                <a16:creationId xmlns:a16="http://schemas.microsoft.com/office/drawing/2014/main" id="{1B2DE7D5-11AB-4593-8E63-D175747460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3" r="9979"/>
          <a:stretch/>
        </p:blipFill>
        <p:spPr>
          <a:xfrm>
            <a:off x="0" y="-20033"/>
            <a:ext cx="9144000" cy="6905417"/>
          </a:xfrm>
          <a:prstGeom prst="rect">
            <a:avLst/>
          </a:prstGeom>
        </p:spPr>
      </p:pic>
      <p:sp>
        <p:nvSpPr>
          <p:cNvPr id="5" name="12 Rectángulo">
            <a:extLst>
              <a:ext uri="{FF2B5EF4-FFF2-40B4-BE49-F238E27FC236}">
                <a16:creationId xmlns:a16="http://schemas.microsoft.com/office/drawing/2014/main" id="{16DA3BB4-B192-47D7-B785-553D283516FF}"/>
              </a:ext>
            </a:extLst>
          </p:cNvPr>
          <p:cNvSpPr/>
          <p:nvPr/>
        </p:nvSpPr>
        <p:spPr>
          <a:xfrm>
            <a:off x="1282604" y="519466"/>
            <a:ext cx="3816424" cy="2549494"/>
          </a:xfrm>
          <a:prstGeom prst="rect">
            <a:avLst/>
          </a:prstGeom>
          <a:solidFill>
            <a:srgbClr val="003594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739E4FC8-D959-4548-BC2D-FFB66F30D630}"/>
              </a:ext>
            </a:extLst>
          </p:cNvPr>
          <p:cNvGrpSpPr/>
          <p:nvPr/>
        </p:nvGrpSpPr>
        <p:grpSpPr>
          <a:xfrm>
            <a:off x="1358758" y="1068907"/>
            <a:ext cx="4365370" cy="1915534"/>
            <a:chOff x="560503" y="937402"/>
            <a:chExt cx="4365370" cy="1915534"/>
          </a:xfrm>
        </p:grpSpPr>
        <p:sp>
          <p:nvSpPr>
            <p:cNvPr id="7" name="1 Título">
              <a:extLst>
                <a:ext uri="{FF2B5EF4-FFF2-40B4-BE49-F238E27FC236}">
                  <a16:creationId xmlns:a16="http://schemas.microsoft.com/office/drawing/2014/main" id="{69E1C32A-6BA1-4445-86AA-71F7AA08089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0503" y="937402"/>
              <a:ext cx="4365370" cy="581961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algn="l">
                <a:defRPr sz="3600" b="1">
                  <a:solidFill>
                    <a:schemeClr val="bg1"/>
                  </a:solidFill>
                  <a:latin typeface="+mn-lt"/>
                  <a:cs typeface="Arial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3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j-ea"/>
                  <a:cs typeface="Arial" pitchFamily="34" charset="0"/>
                </a:rPr>
                <a:t>CESTE</a:t>
              </a:r>
            </a:p>
          </p:txBody>
        </p:sp>
        <p:sp>
          <p:nvSpPr>
            <p:cNvPr id="8" name="2 Subtítulo">
              <a:extLst>
                <a:ext uri="{FF2B5EF4-FFF2-40B4-BE49-F238E27FC236}">
                  <a16:creationId xmlns:a16="http://schemas.microsoft.com/office/drawing/2014/main" id="{52C02F8F-E868-4CC8-9231-CE3B8698C2E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0503" y="2383459"/>
              <a:ext cx="4365370" cy="469477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>
                <a:buNone/>
                <a:defRPr sz="2000" baseline="0">
                  <a:solidFill>
                    <a:schemeClr val="bg1"/>
                  </a:solidFill>
                  <a:latin typeface="+mn-lt"/>
                  <a:cs typeface="Arial" pitchFamily="34" charset="0"/>
                </a:defRPr>
              </a:lvl1pPr>
              <a:lvl2pPr marL="4572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2pPr>
              <a:lvl3pPr marL="9144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3pPr>
              <a:lvl4pPr marL="13716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4pPr>
              <a:lvl5pPr marL="18288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5pPr>
              <a:lvl6pPr marL="22860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6pPr>
              <a:lvl7pPr marL="27432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7pPr>
              <a:lvl8pPr marL="32004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8pPr>
              <a:lvl9pPr marL="36576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s-E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Arial" pitchFamily="34" charset="0"/>
                </a:rPr>
                <a:t>Zaragoza (España)</a:t>
              </a:r>
            </a:p>
          </p:txBody>
        </p:sp>
        <p:sp>
          <p:nvSpPr>
            <p:cNvPr id="9" name="1 Título">
              <a:extLst>
                <a:ext uri="{FF2B5EF4-FFF2-40B4-BE49-F238E27FC236}">
                  <a16:creationId xmlns:a16="http://schemas.microsoft.com/office/drawing/2014/main" id="{FFCCC8ED-BFDD-40C2-9384-6051B135D31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0503" y="1087315"/>
              <a:ext cx="3501770" cy="163405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>
                <a:defRPr sz="2800" b="1">
                  <a:solidFill>
                    <a:schemeClr val="bg1"/>
                  </a:solidFill>
                  <a:latin typeface="+mn-lt"/>
                  <a:cs typeface="Arial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j-ea"/>
                  <a:cs typeface="Arial" pitchFamily="34" charset="0"/>
                </a:rPr>
                <a:t>Escuela Internacional de Negocios</a:t>
              </a:r>
            </a:p>
          </p:txBody>
        </p:sp>
      </p:grpSp>
      <p:sp>
        <p:nvSpPr>
          <p:cNvPr id="11" name="7 Rectángulo">
            <a:extLst>
              <a:ext uri="{FF2B5EF4-FFF2-40B4-BE49-F238E27FC236}">
                <a16:creationId xmlns:a16="http://schemas.microsoft.com/office/drawing/2014/main" id="{EA4F64AD-90F0-48AB-9FF8-1C33D6875C8F}"/>
              </a:ext>
            </a:extLst>
          </p:cNvPr>
          <p:cNvSpPr/>
          <p:nvPr/>
        </p:nvSpPr>
        <p:spPr>
          <a:xfrm>
            <a:off x="895446" y="6682676"/>
            <a:ext cx="8248554" cy="202708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2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29C61ABE-ECA3-4141-A971-81B9DEAA2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94130" y="6582971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7 Rectángulo">
            <a:extLst>
              <a:ext uri="{FF2B5EF4-FFF2-40B4-BE49-F238E27FC236}">
                <a16:creationId xmlns:a16="http://schemas.microsoft.com/office/drawing/2014/main" id="{AA627398-F4D7-4381-808D-80D5F1F3EB48}"/>
              </a:ext>
            </a:extLst>
          </p:cNvPr>
          <p:cNvSpPr/>
          <p:nvPr/>
        </p:nvSpPr>
        <p:spPr>
          <a:xfrm>
            <a:off x="0" y="-14102"/>
            <a:ext cx="8248554" cy="202708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4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0A8F8B0D-2FAA-485C-9D78-273EB1B0A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947238" y="-316515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EC902A68-A05E-4C30-9FDE-A0B9A7E87B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908" y="614880"/>
            <a:ext cx="1512664" cy="73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41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81FDB-332D-FDBA-F0A1-4F73A130B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41FE4EC-D6FC-BA9E-BA8F-23D14C647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>
                <a:latin typeface="Montserrat" panose="00000500000000000000" pitchFamily="2" charset="0"/>
              </a:rPr>
              <a:t>Indice</a:t>
            </a:r>
            <a:r>
              <a:rPr lang="es-ES" dirty="0">
                <a:latin typeface="Montserrat" panose="00000500000000000000" pitchFamily="2" charset="0"/>
              </a:rPr>
              <a:t> de la Sesión 2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A7D9A56-9108-B211-0757-4E0E49E75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412776"/>
            <a:ext cx="7886700" cy="4680520"/>
          </a:xfrm>
        </p:spPr>
        <p:txBody>
          <a:bodyPr>
            <a:normAutofit/>
          </a:bodyPr>
          <a:lstStyle/>
          <a:p>
            <a:pPr marL="800100" lvl="1" indent="-342900">
              <a:buFont typeface="+mj-lt"/>
              <a:buAutoNum type="arabicPeriod"/>
            </a:pPr>
            <a:r>
              <a:rPr lang="es-ES" sz="1600" dirty="0">
                <a:latin typeface="Montserrat SemiBold" panose="00000700000000000000" pitchFamily="2" charset="0"/>
              </a:rPr>
              <a:t>Gobernanza</a:t>
            </a:r>
          </a:p>
          <a:p>
            <a:pPr marL="1257300" lvl="2" indent="-342900">
              <a:buFont typeface="+mj-lt"/>
              <a:buAutoNum type="arabicPeriod"/>
            </a:pPr>
            <a:r>
              <a:rPr lang="es-ES" sz="1400" dirty="0">
                <a:latin typeface="Montserrat" panose="00000500000000000000" pitchFamily="2" charset="0"/>
              </a:rPr>
              <a:t>Qué es</a:t>
            </a:r>
          </a:p>
          <a:p>
            <a:pPr marL="1257300" lvl="2" indent="-342900">
              <a:buFont typeface="+mj-lt"/>
              <a:buAutoNum type="arabicPeriod"/>
            </a:pPr>
            <a:r>
              <a:rPr lang="es-ES" sz="1400" dirty="0">
                <a:latin typeface="Montserrat" panose="00000500000000000000" pitchFamily="2" charset="0"/>
              </a:rPr>
              <a:t>Espectro de Gobernanza</a:t>
            </a:r>
          </a:p>
          <a:p>
            <a:pPr marL="1257300" lvl="2" indent="-342900">
              <a:buFont typeface="+mj-lt"/>
              <a:buAutoNum type="arabicPeriod"/>
            </a:pPr>
            <a:endParaRPr lang="es-ES" sz="1400" dirty="0">
              <a:latin typeface="Montserrat SemiBold" panose="00000700000000000000" pitchFamily="2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s-ES" sz="1600" dirty="0">
                <a:latin typeface="Montserrat SemiBold" panose="00000700000000000000" pitchFamily="2" charset="0"/>
              </a:rPr>
              <a:t>Unity </a:t>
            </a:r>
            <a:r>
              <a:rPr lang="es-ES" sz="1600" dirty="0" err="1">
                <a:latin typeface="Montserrat SemiBold" panose="00000700000000000000" pitchFamily="2" charset="0"/>
              </a:rPr>
              <a:t>Catalog</a:t>
            </a:r>
            <a:endParaRPr lang="es-ES" sz="1600" dirty="0">
              <a:latin typeface="Montserrat SemiBold" panose="00000700000000000000" pitchFamily="2" charset="0"/>
            </a:endParaRPr>
          </a:p>
          <a:p>
            <a:pPr marL="1257300" lvl="2" indent="-342900">
              <a:buFont typeface="+mj-lt"/>
              <a:buAutoNum type="arabicPeriod"/>
            </a:pPr>
            <a:r>
              <a:rPr lang="es-ES" sz="1400" dirty="0">
                <a:latin typeface="Montserrat" panose="00000500000000000000" pitchFamily="2" charset="0"/>
              </a:rPr>
              <a:t>Qué es</a:t>
            </a:r>
          </a:p>
          <a:p>
            <a:pPr marL="1257300" lvl="2" indent="-342900">
              <a:buFont typeface="+mj-lt"/>
              <a:buAutoNum type="arabicPeriod"/>
            </a:pPr>
            <a:r>
              <a:rPr lang="es-ES" sz="1400" dirty="0">
                <a:latin typeface="Montserrat" panose="00000500000000000000" pitchFamily="2" charset="0"/>
              </a:rPr>
              <a:t>UC desde la perspectiva de Gobernanza</a:t>
            </a:r>
          </a:p>
          <a:p>
            <a:pPr marL="1257300" lvl="2" indent="-342900">
              <a:buFont typeface="+mj-lt"/>
              <a:buAutoNum type="arabicPeriod"/>
            </a:pPr>
            <a:r>
              <a:rPr lang="es-ES" sz="1400" dirty="0">
                <a:latin typeface="Montserrat" panose="00000500000000000000" pitchFamily="2" charset="0"/>
              </a:rPr>
              <a:t>Claves de UC</a:t>
            </a:r>
          </a:p>
          <a:p>
            <a:pPr marL="1257300" lvl="2" indent="-342900">
              <a:buFont typeface="+mj-lt"/>
              <a:buAutoNum type="arabicPeriod"/>
            </a:pPr>
            <a:r>
              <a:rPr lang="es-ES" sz="1400" dirty="0">
                <a:latin typeface="Montserrat" panose="00000500000000000000" pitchFamily="2" charset="0"/>
              </a:rPr>
              <a:t>Repaso de objetos en UC</a:t>
            </a:r>
          </a:p>
          <a:p>
            <a:pPr marL="1257300" lvl="2" indent="-342900">
              <a:buFont typeface="+mj-lt"/>
              <a:buAutoNum type="arabicPeriod"/>
            </a:pPr>
            <a:r>
              <a:rPr lang="es-ES" sz="1400" dirty="0" err="1">
                <a:latin typeface="Montserrat" panose="00000500000000000000" pitchFamily="2" charset="0"/>
              </a:rPr>
              <a:t>Intro</a:t>
            </a:r>
            <a:r>
              <a:rPr lang="es-ES" sz="1400" dirty="0">
                <a:latin typeface="Montserrat" panose="00000500000000000000" pitchFamily="2" charset="0"/>
              </a:rPr>
              <a:t> control de accesos</a:t>
            </a:r>
          </a:p>
          <a:p>
            <a:pPr marL="1257300" lvl="2" indent="-342900">
              <a:buFont typeface="+mj-lt"/>
              <a:buAutoNum type="arabicPeriod"/>
            </a:pPr>
            <a:endParaRPr lang="es-ES" sz="1400" dirty="0">
              <a:latin typeface="Montserrat" panose="00000500000000000000" pitchFamily="2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s-ES" sz="1600" dirty="0">
                <a:latin typeface="Montserrat SemiBold" panose="00000700000000000000" pitchFamily="2" charset="0"/>
              </a:rPr>
              <a:t>DEMO</a:t>
            </a:r>
          </a:p>
          <a:p>
            <a:pPr marL="1257300" lvl="2" indent="-342900">
              <a:buFont typeface="+mj-lt"/>
              <a:buAutoNum type="arabicPeriod"/>
            </a:pPr>
            <a:endParaRPr lang="es-ES" sz="14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03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30D9C47-C0B8-5576-6621-2E91145DC431}"/>
              </a:ext>
            </a:extLst>
          </p:cNvPr>
          <p:cNvSpPr txBox="1"/>
          <p:nvPr/>
        </p:nvSpPr>
        <p:spPr>
          <a:xfrm>
            <a:off x="2483768" y="2537901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GOBERNANZA</a:t>
            </a:r>
          </a:p>
        </p:txBody>
      </p:sp>
    </p:spTree>
    <p:extLst>
      <p:ext uri="{BB962C8B-B14F-4D97-AF65-F5344CB8AC3E}">
        <p14:creationId xmlns:p14="http://schemas.microsoft.com/office/powerpoint/2010/main" val="4121299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17876-4C6A-7FD3-421D-5E5CBC245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Arco de bloque 43">
            <a:extLst>
              <a:ext uri="{FF2B5EF4-FFF2-40B4-BE49-F238E27FC236}">
                <a16:creationId xmlns:a16="http://schemas.microsoft.com/office/drawing/2014/main" id="{8B17E040-1ED0-3B13-BD9C-729D973FBE00}"/>
              </a:ext>
            </a:extLst>
          </p:cNvPr>
          <p:cNvSpPr/>
          <p:nvPr/>
        </p:nvSpPr>
        <p:spPr>
          <a:xfrm>
            <a:off x="2002002" y="1562734"/>
            <a:ext cx="4405155" cy="4405155"/>
          </a:xfrm>
          <a:prstGeom prst="blockArc">
            <a:avLst>
              <a:gd name="adj1" fmla="val 10800000"/>
              <a:gd name="adj2" fmla="val 16099579"/>
              <a:gd name="adj3" fmla="val 23486"/>
            </a:avLst>
          </a:prstGeom>
          <a:gradFill flip="none" rotWithShape="1">
            <a:gsLst>
              <a:gs pos="0">
                <a:srgbClr val="9E89AD">
                  <a:tint val="66000"/>
                  <a:satMod val="160000"/>
                </a:srgbClr>
              </a:gs>
              <a:gs pos="50000">
                <a:srgbClr val="9E89AD">
                  <a:tint val="44500"/>
                  <a:satMod val="160000"/>
                </a:srgbClr>
              </a:gs>
              <a:gs pos="100000">
                <a:srgbClr val="9E89AD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45" name="Arco de bloque 44">
            <a:extLst>
              <a:ext uri="{FF2B5EF4-FFF2-40B4-BE49-F238E27FC236}">
                <a16:creationId xmlns:a16="http://schemas.microsoft.com/office/drawing/2014/main" id="{30EB41EB-9038-5035-5739-D0A590A0B6A1}"/>
              </a:ext>
            </a:extLst>
          </p:cNvPr>
          <p:cNvSpPr/>
          <p:nvPr/>
        </p:nvSpPr>
        <p:spPr>
          <a:xfrm rot="10800000">
            <a:off x="2018240" y="1565732"/>
            <a:ext cx="4405155" cy="4405155"/>
          </a:xfrm>
          <a:prstGeom prst="blockArc">
            <a:avLst>
              <a:gd name="adj1" fmla="val 16176085"/>
              <a:gd name="adj2" fmla="val 21576799"/>
              <a:gd name="adj3" fmla="val 23022"/>
            </a:avLst>
          </a:prstGeom>
          <a:gradFill flip="none" rotWithShape="1">
            <a:gsLst>
              <a:gs pos="0">
                <a:srgbClr val="C87676">
                  <a:tint val="66000"/>
                  <a:satMod val="160000"/>
                </a:srgbClr>
              </a:gs>
              <a:gs pos="50000">
                <a:srgbClr val="C87676">
                  <a:tint val="44500"/>
                  <a:satMod val="160000"/>
                </a:srgbClr>
              </a:gs>
              <a:gs pos="100000">
                <a:srgbClr val="C87676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rgbClr val="A743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46" name="Arco de bloque 45">
            <a:extLst>
              <a:ext uri="{FF2B5EF4-FFF2-40B4-BE49-F238E27FC236}">
                <a16:creationId xmlns:a16="http://schemas.microsoft.com/office/drawing/2014/main" id="{7DF110E5-7A5C-59B0-C7DC-972058EC4290}"/>
              </a:ext>
            </a:extLst>
          </p:cNvPr>
          <p:cNvSpPr/>
          <p:nvPr/>
        </p:nvSpPr>
        <p:spPr>
          <a:xfrm rot="10800000">
            <a:off x="1996123" y="1562733"/>
            <a:ext cx="4405155" cy="4405155"/>
          </a:xfrm>
          <a:prstGeom prst="blockArc">
            <a:avLst>
              <a:gd name="adj1" fmla="val 10791155"/>
              <a:gd name="adj2" fmla="val 16112166"/>
              <a:gd name="adj3" fmla="val 23272"/>
            </a:avLst>
          </a:prstGeom>
          <a:gradFill flip="none" rotWithShape="1">
            <a:gsLst>
              <a:gs pos="0">
                <a:srgbClr val="B9D9A3">
                  <a:tint val="66000"/>
                  <a:satMod val="160000"/>
                </a:srgbClr>
              </a:gs>
              <a:gs pos="50000">
                <a:srgbClr val="B9D9A3">
                  <a:tint val="44500"/>
                  <a:satMod val="160000"/>
                </a:srgbClr>
              </a:gs>
              <a:gs pos="100000">
                <a:srgbClr val="B9D9A3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" name="Arco de bloque 1">
            <a:extLst>
              <a:ext uri="{FF2B5EF4-FFF2-40B4-BE49-F238E27FC236}">
                <a16:creationId xmlns:a16="http://schemas.microsoft.com/office/drawing/2014/main" id="{296B6CDC-15D9-90C8-4FDD-B76DDAB95455}"/>
              </a:ext>
            </a:extLst>
          </p:cNvPr>
          <p:cNvSpPr/>
          <p:nvPr/>
        </p:nvSpPr>
        <p:spPr>
          <a:xfrm>
            <a:off x="1990243" y="1562734"/>
            <a:ext cx="4405155" cy="4405155"/>
          </a:xfrm>
          <a:prstGeom prst="blockArc">
            <a:avLst>
              <a:gd name="adj1" fmla="val 16098041"/>
              <a:gd name="adj2" fmla="val 43016"/>
              <a:gd name="adj3" fmla="val 23078"/>
            </a:avLst>
          </a:prstGeom>
          <a:gradFill flip="none" rotWithShape="1">
            <a:gsLst>
              <a:gs pos="0">
                <a:srgbClr val="9B8ED2">
                  <a:tint val="66000"/>
                  <a:satMod val="160000"/>
                </a:srgbClr>
              </a:gs>
              <a:gs pos="50000">
                <a:srgbClr val="9B8ED2">
                  <a:tint val="44500"/>
                  <a:satMod val="160000"/>
                </a:srgbClr>
              </a:gs>
              <a:gs pos="100000">
                <a:srgbClr val="9B8ED2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DBD668-F43F-07E4-75CB-232C3F6BDF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9185" y="1016227"/>
            <a:ext cx="8568952" cy="7920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000" b="1" dirty="0">
                <a:latin typeface="Montserrat" panose="00000500000000000000" pitchFamily="2" charset="0"/>
              </a:rPr>
              <a:t>Gobernanza de datos</a:t>
            </a:r>
            <a:r>
              <a:rPr lang="es-ES" sz="1000" dirty="0">
                <a:latin typeface="Montserrat" panose="00000500000000000000" pitchFamily="2" charset="0"/>
              </a:rPr>
              <a:t> = políticas + procesos + responsabilidades + herramientas para que los datos sean:</a:t>
            </a:r>
          </a:p>
        </p:txBody>
      </p:sp>
      <p:sp>
        <p:nvSpPr>
          <p:cNvPr id="5" name="Google Shape;303;g35ee5cc475b_0_63">
            <a:extLst>
              <a:ext uri="{FF2B5EF4-FFF2-40B4-BE49-F238E27FC236}">
                <a16:creationId xmlns:a16="http://schemas.microsoft.com/office/drawing/2014/main" id="{7D4CECEB-5821-63C6-C56A-33FFEFB245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2 Introducción a UC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¿Qué es Gobernanza?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grpSp>
        <p:nvGrpSpPr>
          <p:cNvPr id="33" name="SEGUROS">
            <a:extLst>
              <a:ext uri="{FF2B5EF4-FFF2-40B4-BE49-F238E27FC236}">
                <a16:creationId xmlns:a16="http://schemas.microsoft.com/office/drawing/2014/main" id="{AE732A95-3775-07F4-A62B-0237E6D21F65}"/>
              </a:ext>
            </a:extLst>
          </p:cNvPr>
          <p:cNvGrpSpPr/>
          <p:nvPr/>
        </p:nvGrpSpPr>
        <p:grpSpPr>
          <a:xfrm>
            <a:off x="1811814" y="3182757"/>
            <a:ext cx="1213979" cy="1213979"/>
            <a:chOff x="2195736" y="4125844"/>
            <a:chExt cx="1322432" cy="1322432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7BBD1100-2D0F-D87F-A52E-E51CAA89E048}"/>
                </a:ext>
              </a:extLst>
            </p:cNvPr>
            <p:cNvSpPr/>
            <p:nvPr/>
          </p:nvSpPr>
          <p:spPr>
            <a:xfrm>
              <a:off x="2195736" y="4125844"/>
              <a:ext cx="1322432" cy="1322432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B347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ln>
                  <a:solidFill>
                    <a:schemeClr val="bg1"/>
                  </a:solidFill>
                </a:ln>
              </a:endParaRPr>
            </a:p>
            <a:p>
              <a:pPr algn="ctr"/>
              <a:endParaRPr lang="es-ES" sz="1600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EE2C0D3B-2916-42D2-0154-24897F05304F}"/>
                </a:ext>
              </a:extLst>
            </p:cNvPr>
            <p:cNvSpPr txBox="1"/>
            <p:nvPr/>
          </p:nvSpPr>
          <p:spPr>
            <a:xfrm>
              <a:off x="2344424" y="4908555"/>
              <a:ext cx="1032805" cy="297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00" dirty="0">
                  <a:latin typeface="Montserrat" panose="00000500000000000000" pitchFamily="2" charset="0"/>
                </a:rPr>
                <a:t>SEGUROS</a:t>
              </a:r>
            </a:p>
          </p:txBody>
        </p:sp>
        <p:pic>
          <p:nvPicPr>
            <p:cNvPr id="20" name="Gráfico 19" descr="Escudo contorno">
              <a:extLst>
                <a:ext uri="{FF2B5EF4-FFF2-40B4-BE49-F238E27FC236}">
                  <a16:creationId xmlns:a16="http://schemas.microsoft.com/office/drawing/2014/main" id="{2AC7B37C-648C-0768-C15E-52142C3B6F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476161" y="4179183"/>
              <a:ext cx="720067" cy="720067"/>
            </a:xfrm>
            <a:prstGeom prst="rect">
              <a:avLst/>
            </a:prstGeom>
          </p:spPr>
        </p:pic>
        <p:pic>
          <p:nvPicPr>
            <p:cNvPr id="22" name="Gráfico 21" descr="Marca de verificación contorno">
              <a:extLst>
                <a:ext uri="{FF2B5EF4-FFF2-40B4-BE49-F238E27FC236}">
                  <a16:creationId xmlns:a16="http://schemas.microsoft.com/office/drawing/2014/main" id="{8B9A5290-D7A7-560C-E130-FD540665D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715032" y="4326989"/>
              <a:ext cx="276999" cy="276999"/>
            </a:xfrm>
            <a:prstGeom prst="rect">
              <a:avLst/>
            </a:prstGeom>
          </p:spPr>
        </p:pic>
      </p:grpSp>
      <p:grpSp>
        <p:nvGrpSpPr>
          <p:cNvPr id="32" name="ACCESIBLES">
            <a:extLst>
              <a:ext uri="{FF2B5EF4-FFF2-40B4-BE49-F238E27FC236}">
                <a16:creationId xmlns:a16="http://schemas.microsoft.com/office/drawing/2014/main" id="{0B37D8B1-3BFA-EA41-7DFB-B046C9E92E6B}"/>
              </a:ext>
            </a:extLst>
          </p:cNvPr>
          <p:cNvGrpSpPr/>
          <p:nvPr/>
        </p:nvGrpSpPr>
        <p:grpSpPr>
          <a:xfrm>
            <a:off x="3585830" y="1358190"/>
            <a:ext cx="1213979" cy="1213979"/>
            <a:chOff x="3491880" y="1769393"/>
            <a:chExt cx="1322432" cy="1322432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9ABB0A11-3094-17E4-D960-E6DAC7688664}"/>
                </a:ext>
              </a:extLst>
            </p:cNvPr>
            <p:cNvSpPr/>
            <p:nvPr/>
          </p:nvSpPr>
          <p:spPr>
            <a:xfrm>
              <a:off x="3491880" y="1769393"/>
              <a:ext cx="1322432" cy="1322432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5E4B6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  <a:p>
              <a:pPr algn="ctr"/>
              <a:endParaRPr lang="es-ES" sz="1600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867B9CFD-3B88-D5FD-5432-4BDCBA2061AC}"/>
                </a:ext>
              </a:extLst>
            </p:cNvPr>
            <p:cNvSpPr txBox="1"/>
            <p:nvPr/>
          </p:nvSpPr>
          <p:spPr>
            <a:xfrm>
              <a:off x="3537962" y="2517696"/>
              <a:ext cx="1228328" cy="297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00" dirty="0">
                  <a:latin typeface="Montserrat" panose="00000500000000000000" pitchFamily="2" charset="0"/>
                </a:rPr>
                <a:t>ACCESIBLES</a:t>
              </a:r>
            </a:p>
          </p:txBody>
        </p:sp>
        <p:pic>
          <p:nvPicPr>
            <p:cNvPr id="24" name="Gráfico 23" descr="Filtro contorno">
              <a:extLst>
                <a:ext uri="{FF2B5EF4-FFF2-40B4-BE49-F238E27FC236}">
                  <a16:creationId xmlns:a16="http://schemas.microsoft.com/office/drawing/2014/main" id="{E8D5C5DE-7F48-F947-E6A5-286720B1A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827120" y="1867684"/>
              <a:ext cx="650012" cy="650012"/>
            </a:xfrm>
            <a:prstGeom prst="rect">
              <a:avLst/>
            </a:prstGeom>
          </p:spPr>
        </p:pic>
      </p:grpSp>
      <p:grpSp>
        <p:nvGrpSpPr>
          <p:cNvPr id="29" name="CONFIABLES">
            <a:extLst>
              <a:ext uri="{FF2B5EF4-FFF2-40B4-BE49-F238E27FC236}">
                <a16:creationId xmlns:a16="http://schemas.microsoft.com/office/drawing/2014/main" id="{0BE2B750-16D3-4EDD-7C1E-B90B7BA1963D}"/>
              </a:ext>
            </a:extLst>
          </p:cNvPr>
          <p:cNvGrpSpPr/>
          <p:nvPr/>
        </p:nvGrpSpPr>
        <p:grpSpPr>
          <a:xfrm>
            <a:off x="5407195" y="3151126"/>
            <a:ext cx="1228975" cy="1213979"/>
            <a:chOff x="4914917" y="4089419"/>
            <a:chExt cx="1338767" cy="1322431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B4AA6AAC-C15E-2FC0-0340-59599EAD7E21}"/>
                </a:ext>
              </a:extLst>
            </p:cNvPr>
            <p:cNvSpPr/>
            <p:nvPr/>
          </p:nvSpPr>
          <p:spPr>
            <a:xfrm>
              <a:off x="4914917" y="4089419"/>
              <a:ext cx="1322431" cy="1322431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8676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56E61482-49FC-FDBB-A767-04EAF55CB050}"/>
                </a:ext>
              </a:extLst>
            </p:cNvPr>
            <p:cNvSpPr txBox="1"/>
            <p:nvPr/>
          </p:nvSpPr>
          <p:spPr>
            <a:xfrm>
              <a:off x="4965925" y="4851024"/>
              <a:ext cx="1287759" cy="297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00" dirty="0">
                  <a:latin typeface="Montserrat" panose="00000500000000000000" pitchFamily="2" charset="0"/>
                </a:rPr>
                <a:t>CONFIABLES</a:t>
              </a:r>
            </a:p>
          </p:txBody>
        </p:sp>
        <p:pic>
          <p:nvPicPr>
            <p:cNvPr id="28" name="Gráfico 27" descr="Bombilla contorno">
              <a:extLst>
                <a:ext uri="{FF2B5EF4-FFF2-40B4-BE49-F238E27FC236}">
                  <a16:creationId xmlns:a16="http://schemas.microsoft.com/office/drawing/2014/main" id="{AA4BC7BE-3501-90F4-B203-65FBE0F349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237467" y="4168190"/>
              <a:ext cx="687003" cy="687003"/>
            </a:xfrm>
            <a:prstGeom prst="rect">
              <a:avLst/>
            </a:prstGeom>
          </p:spPr>
        </p:pic>
      </p:grpSp>
      <p:grpSp>
        <p:nvGrpSpPr>
          <p:cNvPr id="42" name="CONECTADOS">
            <a:extLst>
              <a:ext uri="{FF2B5EF4-FFF2-40B4-BE49-F238E27FC236}">
                <a16:creationId xmlns:a16="http://schemas.microsoft.com/office/drawing/2014/main" id="{FE4F8573-72EE-E935-A091-47DE9E99F407}"/>
              </a:ext>
            </a:extLst>
          </p:cNvPr>
          <p:cNvGrpSpPr/>
          <p:nvPr/>
        </p:nvGrpSpPr>
        <p:grpSpPr>
          <a:xfrm>
            <a:off x="3601017" y="4968474"/>
            <a:ext cx="1284108" cy="1213979"/>
            <a:chOff x="3536226" y="4681520"/>
            <a:chExt cx="1398826" cy="1322432"/>
          </a:xfrm>
        </p:grpSpPr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F8ABF363-01BA-2099-143E-A6C70D3241F4}"/>
                </a:ext>
              </a:extLst>
            </p:cNvPr>
            <p:cNvSpPr/>
            <p:nvPr/>
          </p:nvSpPr>
          <p:spPr>
            <a:xfrm>
              <a:off x="3547462" y="4681520"/>
              <a:ext cx="1322432" cy="1322432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pic>
          <p:nvPicPr>
            <p:cNvPr id="40" name="Gráfico 39" descr="Rompecabezas contorno">
              <a:extLst>
                <a:ext uri="{FF2B5EF4-FFF2-40B4-BE49-F238E27FC236}">
                  <a16:creationId xmlns:a16="http://schemas.microsoft.com/office/drawing/2014/main" id="{4BAD84FB-C16B-D16B-D36E-F1B0D118C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883064" y="4820676"/>
              <a:ext cx="624548" cy="624548"/>
            </a:xfrm>
            <a:prstGeom prst="rect">
              <a:avLst/>
            </a:prstGeom>
          </p:spPr>
        </p:pic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06FB35BC-A75A-46E5-99D1-884C4830D696}"/>
                </a:ext>
              </a:extLst>
            </p:cNvPr>
            <p:cNvSpPr txBox="1"/>
            <p:nvPr/>
          </p:nvSpPr>
          <p:spPr>
            <a:xfrm>
              <a:off x="3536226" y="5432621"/>
              <a:ext cx="1398826" cy="297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00" dirty="0">
                  <a:latin typeface="Montserrat" panose="00000500000000000000" pitchFamily="2" charset="0"/>
                </a:rPr>
                <a:t>CONECTADOS</a:t>
              </a: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28D3E3D7-C208-B1D4-DE31-E3A1FF824FFC}"/>
              </a:ext>
            </a:extLst>
          </p:cNvPr>
          <p:cNvSpPr txBox="1"/>
          <p:nvPr/>
        </p:nvSpPr>
        <p:spPr>
          <a:xfrm>
            <a:off x="2574166" y="2140865"/>
            <a:ext cx="936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i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Control </a:t>
            </a:r>
          </a:p>
          <a:p>
            <a:pPr algn="ctr"/>
            <a:r>
              <a:rPr lang="es-ES" sz="800" b="1" i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de acceso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8945925-7838-5D4E-2BA4-9A62C449E42B}"/>
              </a:ext>
            </a:extLst>
          </p:cNvPr>
          <p:cNvSpPr txBox="1"/>
          <p:nvPr/>
        </p:nvSpPr>
        <p:spPr>
          <a:xfrm>
            <a:off x="2287306" y="4426556"/>
            <a:ext cx="1092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i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Seguridad y Cumplimiento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D8E4E92-C550-444E-1CC1-C0A874B8AE7E}"/>
              </a:ext>
            </a:extLst>
          </p:cNvPr>
          <p:cNvSpPr txBox="1"/>
          <p:nvPr/>
        </p:nvSpPr>
        <p:spPr>
          <a:xfrm>
            <a:off x="4725831" y="5028327"/>
            <a:ext cx="1092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i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Calidad y Trazabilidad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E6BDDCC-B4DC-E77C-6301-19C0C49F05D0}"/>
              </a:ext>
            </a:extLst>
          </p:cNvPr>
          <p:cNvSpPr txBox="1"/>
          <p:nvPr/>
        </p:nvSpPr>
        <p:spPr>
          <a:xfrm>
            <a:off x="5055423" y="2645995"/>
            <a:ext cx="12070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i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Catalogación y descubrimiento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C100397-7711-CA24-A2CA-7E9DDB16BBCE}"/>
              </a:ext>
            </a:extLst>
          </p:cNvPr>
          <p:cNvSpPr txBox="1"/>
          <p:nvPr/>
        </p:nvSpPr>
        <p:spPr>
          <a:xfrm>
            <a:off x="4431328" y="2140865"/>
            <a:ext cx="1595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i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Silos de datos Consistencia en definiciones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AEA5075-9E62-2ADF-F4B3-AAEA6EEC03D2}"/>
              </a:ext>
            </a:extLst>
          </p:cNvPr>
          <p:cNvSpPr txBox="1"/>
          <p:nvPr/>
        </p:nvSpPr>
        <p:spPr>
          <a:xfrm>
            <a:off x="2508113" y="5028327"/>
            <a:ext cx="1092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i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Entornos</a:t>
            </a:r>
          </a:p>
          <a:p>
            <a:pPr algn="ctr"/>
            <a:r>
              <a:rPr lang="es-ES" sz="800" b="1" i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distribuidos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DF129D4-AB88-6C12-DEEA-2E8C645F6F9B}"/>
              </a:ext>
            </a:extLst>
          </p:cNvPr>
          <p:cNvSpPr txBox="1"/>
          <p:nvPr/>
        </p:nvSpPr>
        <p:spPr>
          <a:xfrm>
            <a:off x="5006217" y="4394267"/>
            <a:ext cx="1325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i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Versionado y</a:t>
            </a:r>
          </a:p>
          <a:p>
            <a:pPr algn="ctr"/>
            <a:r>
              <a:rPr lang="es-ES" sz="800" b="1" i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Trazabilidad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76E667A-4AED-4A1C-1834-BF0DBCB36305}"/>
              </a:ext>
            </a:extLst>
          </p:cNvPr>
          <p:cNvSpPr txBox="1"/>
          <p:nvPr/>
        </p:nvSpPr>
        <p:spPr>
          <a:xfrm>
            <a:off x="2165301" y="2690930"/>
            <a:ext cx="11827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i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Clasificación</a:t>
            </a:r>
          </a:p>
          <a:p>
            <a:pPr algn="ctr"/>
            <a:r>
              <a:rPr lang="es-ES" sz="800" b="1" i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Datos Sensibles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8BBA1025-107A-9B1F-3201-CECF2EADC538}"/>
              </a:ext>
            </a:extLst>
          </p:cNvPr>
          <p:cNvSpPr/>
          <p:nvPr/>
        </p:nvSpPr>
        <p:spPr>
          <a:xfrm>
            <a:off x="7020272" y="5092728"/>
            <a:ext cx="1910203" cy="79208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  <a:latin typeface="Montserrat" panose="00000500000000000000" pitchFamily="2" charset="0"/>
              </a:rPr>
              <a:t>Gobernar datos no es solo protegerlos, es también hacerlos utilizables con confianza.</a:t>
            </a:r>
          </a:p>
        </p:txBody>
      </p:sp>
    </p:spTree>
    <p:extLst>
      <p:ext uri="{BB962C8B-B14F-4D97-AF65-F5344CB8AC3E}">
        <p14:creationId xmlns:p14="http://schemas.microsoft.com/office/powerpoint/2010/main" val="234675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3" name="Grupo 1072">
            <a:extLst>
              <a:ext uri="{FF2B5EF4-FFF2-40B4-BE49-F238E27FC236}">
                <a16:creationId xmlns:a16="http://schemas.microsoft.com/office/drawing/2014/main" id="{42257D88-1940-E2B9-2937-6ED945CDE4A3}"/>
              </a:ext>
            </a:extLst>
          </p:cNvPr>
          <p:cNvGrpSpPr/>
          <p:nvPr/>
        </p:nvGrpSpPr>
        <p:grpSpPr>
          <a:xfrm>
            <a:off x="911240" y="3008977"/>
            <a:ext cx="6922684" cy="318585"/>
            <a:chOff x="1187624" y="4797137"/>
            <a:chExt cx="5721226" cy="289623"/>
          </a:xfrm>
        </p:grpSpPr>
        <p:grpSp>
          <p:nvGrpSpPr>
            <p:cNvPr id="1064" name="Grupo 1063">
              <a:extLst>
                <a:ext uri="{FF2B5EF4-FFF2-40B4-BE49-F238E27FC236}">
                  <a16:creationId xmlns:a16="http://schemas.microsoft.com/office/drawing/2014/main" id="{D1F08354-F90A-D263-2DE8-B8CCD01F11F6}"/>
                </a:ext>
              </a:extLst>
            </p:cNvPr>
            <p:cNvGrpSpPr/>
            <p:nvPr/>
          </p:nvGrpSpPr>
          <p:grpSpPr>
            <a:xfrm>
              <a:off x="5393705" y="4803110"/>
              <a:ext cx="1515145" cy="283650"/>
              <a:chOff x="1555907" y="4801471"/>
              <a:chExt cx="1515145" cy="283650"/>
            </a:xfrm>
          </p:grpSpPr>
          <p:grpSp>
            <p:nvGrpSpPr>
              <p:cNvPr id="1065" name="Grupo 1064">
                <a:extLst>
                  <a:ext uri="{FF2B5EF4-FFF2-40B4-BE49-F238E27FC236}">
                    <a16:creationId xmlns:a16="http://schemas.microsoft.com/office/drawing/2014/main" id="{58DBF9EF-EF00-B462-78BA-40AAD7F1DFB9}"/>
                  </a:ext>
                </a:extLst>
              </p:cNvPr>
              <p:cNvGrpSpPr/>
              <p:nvPr/>
            </p:nvGrpSpPr>
            <p:grpSpPr>
              <a:xfrm>
                <a:off x="1555908" y="4949270"/>
                <a:ext cx="1515143" cy="135851"/>
                <a:chOff x="1555908" y="4949270"/>
                <a:chExt cx="1515143" cy="135851"/>
              </a:xfrm>
            </p:grpSpPr>
            <p:sp>
              <p:nvSpPr>
                <p:cNvPr id="1070" name="Rectángulo 1069">
                  <a:extLst>
                    <a:ext uri="{FF2B5EF4-FFF2-40B4-BE49-F238E27FC236}">
                      <a16:creationId xmlns:a16="http://schemas.microsoft.com/office/drawing/2014/main" id="{ACF360B3-A3DA-7F2C-538D-8407EB51EB64}"/>
                    </a:ext>
                  </a:extLst>
                </p:cNvPr>
                <p:cNvSpPr/>
                <p:nvPr/>
              </p:nvSpPr>
              <p:spPr>
                <a:xfrm>
                  <a:off x="1555910" y="4949290"/>
                  <a:ext cx="1377596" cy="135831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071" name="Triángulo rectángulo 1070">
                  <a:extLst>
                    <a:ext uri="{FF2B5EF4-FFF2-40B4-BE49-F238E27FC236}">
                      <a16:creationId xmlns:a16="http://schemas.microsoft.com/office/drawing/2014/main" id="{982ADDC5-72E7-103F-779C-E38A956F57AA}"/>
                    </a:ext>
                  </a:extLst>
                </p:cNvPr>
                <p:cNvSpPr/>
                <p:nvPr/>
              </p:nvSpPr>
              <p:spPr>
                <a:xfrm rot="5400000">
                  <a:off x="1553255" y="4951923"/>
                  <a:ext cx="135839" cy="130533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072" name="Triángulo rectángulo 1071">
                  <a:extLst>
                    <a:ext uri="{FF2B5EF4-FFF2-40B4-BE49-F238E27FC236}">
                      <a16:creationId xmlns:a16="http://schemas.microsoft.com/office/drawing/2014/main" id="{365E6C03-38F1-C84C-FC0D-D98AEB5EB35C}"/>
                    </a:ext>
                  </a:extLst>
                </p:cNvPr>
                <p:cNvSpPr/>
                <p:nvPr/>
              </p:nvSpPr>
              <p:spPr>
                <a:xfrm rot="5400000">
                  <a:off x="2931496" y="4945544"/>
                  <a:ext cx="135830" cy="143281"/>
                </a:xfrm>
                <a:prstGeom prst="rtTriangle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1066" name="Grupo 1065">
                <a:extLst>
                  <a:ext uri="{FF2B5EF4-FFF2-40B4-BE49-F238E27FC236}">
                    <a16:creationId xmlns:a16="http://schemas.microsoft.com/office/drawing/2014/main" id="{61925EC3-5EE0-1E93-178D-82A5D02F1EA8}"/>
                  </a:ext>
                </a:extLst>
              </p:cNvPr>
              <p:cNvGrpSpPr/>
              <p:nvPr/>
            </p:nvGrpSpPr>
            <p:grpSpPr>
              <a:xfrm>
                <a:off x="1555907" y="4801471"/>
                <a:ext cx="1515145" cy="135853"/>
                <a:chOff x="2902201" y="5511801"/>
                <a:chExt cx="1138351" cy="119219"/>
              </a:xfrm>
              <a:solidFill>
                <a:schemeClr val="accent6"/>
              </a:solidFill>
            </p:grpSpPr>
            <p:sp>
              <p:nvSpPr>
                <p:cNvPr id="1067" name="Triángulo rectángulo 1066">
                  <a:extLst>
                    <a:ext uri="{FF2B5EF4-FFF2-40B4-BE49-F238E27FC236}">
                      <a16:creationId xmlns:a16="http://schemas.microsoft.com/office/drawing/2014/main" id="{C728D5D9-1FFC-5124-3C38-95D8EF355563}"/>
                    </a:ext>
                  </a:extLst>
                </p:cNvPr>
                <p:cNvSpPr/>
                <p:nvPr/>
              </p:nvSpPr>
              <p:spPr>
                <a:xfrm>
                  <a:off x="3937211" y="5511801"/>
                  <a:ext cx="103341" cy="119209"/>
                </a:xfrm>
                <a:prstGeom prst="rtTriangle">
                  <a:avLst/>
                </a:prstGeom>
                <a:solidFill>
                  <a:srgbClr val="BA622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068" name="Rectángulo 1067">
                  <a:extLst>
                    <a:ext uri="{FF2B5EF4-FFF2-40B4-BE49-F238E27FC236}">
                      <a16:creationId xmlns:a16="http://schemas.microsoft.com/office/drawing/2014/main" id="{DC769420-B49C-5866-7077-80AFE20ADC58}"/>
                    </a:ext>
                  </a:extLst>
                </p:cNvPr>
                <p:cNvSpPr/>
                <p:nvPr/>
              </p:nvSpPr>
              <p:spPr>
                <a:xfrm>
                  <a:off x="2902201" y="5511810"/>
                  <a:ext cx="1041199" cy="119209"/>
                </a:xfrm>
                <a:prstGeom prst="rect">
                  <a:avLst/>
                </a:prstGeom>
                <a:solidFill>
                  <a:srgbClr val="BA622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069" name="Triángulo rectángulo 1068">
                  <a:extLst>
                    <a:ext uri="{FF2B5EF4-FFF2-40B4-BE49-F238E27FC236}">
                      <a16:creationId xmlns:a16="http://schemas.microsoft.com/office/drawing/2014/main" id="{86668DDF-E351-0B10-EB5F-9724D231E350}"/>
                    </a:ext>
                  </a:extLst>
                </p:cNvPr>
                <p:cNvSpPr/>
                <p:nvPr/>
              </p:nvSpPr>
              <p:spPr>
                <a:xfrm>
                  <a:off x="2902201" y="5511813"/>
                  <a:ext cx="103341" cy="119207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1055" name="Grupo 1054">
              <a:extLst>
                <a:ext uri="{FF2B5EF4-FFF2-40B4-BE49-F238E27FC236}">
                  <a16:creationId xmlns:a16="http://schemas.microsoft.com/office/drawing/2014/main" id="{0D3650E4-C648-AF07-0752-35599B9A4A6B}"/>
                </a:ext>
              </a:extLst>
            </p:cNvPr>
            <p:cNvGrpSpPr/>
            <p:nvPr/>
          </p:nvGrpSpPr>
          <p:grpSpPr>
            <a:xfrm>
              <a:off x="3984709" y="4803110"/>
              <a:ext cx="1515145" cy="283650"/>
              <a:chOff x="1555907" y="4801471"/>
              <a:chExt cx="1515145" cy="283650"/>
            </a:xfrm>
          </p:grpSpPr>
          <p:grpSp>
            <p:nvGrpSpPr>
              <p:cNvPr id="1056" name="Grupo 1055">
                <a:extLst>
                  <a:ext uri="{FF2B5EF4-FFF2-40B4-BE49-F238E27FC236}">
                    <a16:creationId xmlns:a16="http://schemas.microsoft.com/office/drawing/2014/main" id="{7C647619-DC59-8E8F-D3F3-69C7FA7C4E6B}"/>
                  </a:ext>
                </a:extLst>
              </p:cNvPr>
              <p:cNvGrpSpPr/>
              <p:nvPr/>
            </p:nvGrpSpPr>
            <p:grpSpPr>
              <a:xfrm>
                <a:off x="1555908" y="4949270"/>
                <a:ext cx="1515143" cy="135851"/>
                <a:chOff x="1555908" y="4949270"/>
                <a:chExt cx="1515143" cy="135851"/>
              </a:xfrm>
            </p:grpSpPr>
            <p:sp>
              <p:nvSpPr>
                <p:cNvPr id="1061" name="Rectángulo 1060">
                  <a:extLst>
                    <a:ext uri="{FF2B5EF4-FFF2-40B4-BE49-F238E27FC236}">
                      <a16:creationId xmlns:a16="http://schemas.microsoft.com/office/drawing/2014/main" id="{E1332B3D-5C3F-8FDA-91C1-33CF309815F7}"/>
                    </a:ext>
                  </a:extLst>
                </p:cNvPr>
                <p:cNvSpPr/>
                <p:nvPr/>
              </p:nvSpPr>
              <p:spPr>
                <a:xfrm>
                  <a:off x="1555910" y="4949290"/>
                  <a:ext cx="1377596" cy="135831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062" name="Triángulo rectángulo 1061">
                  <a:extLst>
                    <a:ext uri="{FF2B5EF4-FFF2-40B4-BE49-F238E27FC236}">
                      <a16:creationId xmlns:a16="http://schemas.microsoft.com/office/drawing/2014/main" id="{56EDF007-4D17-EA9F-758C-F467772B38EA}"/>
                    </a:ext>
                  </a:extLst>
                </p:cNvPr>
                <p:cNvSpPr/>
                <p:nvPr/>
              </p:nvSpPr>
              <p:spPr>
                <a:xfrm rot="5400000">
                  <a:off x="1553255" y="4951923"/>
                  <a:ext cx="135839" cy="130533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063" name="Triángulo rectángulo 1062">
                  <a:extLst>
                    <a:ext uri="{FF2B5EF4-FFF2-40B4-BE49-F238E27FC236}">
                      <a16:creationId xmlns:a16="http://schemas.microsoft.com/office/drawing/2014/main" id="{22957683-1D42-7137-9887-0C3F4E111949}"/>
                    </a:ext>
                  </a:extLst>
                </p:cNvPr>
                <p:cNvSpPr/>
                <p:nvPr/>
              </p:nvSpPr>
              <p:spPr>
                <a:xfrm rot="5400000">
                  <a:off x="2931496" y="4945544"/>
                  <a:ext cx="135830" cy="143281"/>
                </a:xfrm>
                <a:prstGeom prst="rtTriangle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1057" name="Grupo 1056">
                <a:extLst>
                  <a:ext uri="{FF2B5EF4-FFF2-40B4-BE49-F238E27FC236}">
                    <a16:creationId xmlns:a16="http://schemas.microsoft.com/office/drawing/2014/main" id="{FE13DED3-8EED-B7AC-6A61-DAF492CD9C43}"/>
                  </a:ext>
                </a:extLst>
              </p:cNvPr>
              <p:cNvGrpSpPr/>
              <p:nvPr/>
            </p:nvGrpSpPr>
            <p:grpSpPr>
              <a:xfrm>
                <a:off x="1555907" y="4801471"/>
                <a:ext cx="1515145" cy="135853"/>
                <a:chOff x="2902201" y="5511801"/>
                <a:chExt cx="1138351" cy="119219"/>
              </a:xfrm>
              <a:solidFill>
                <a:schemeClr val="accent6"/>
              </a:solidFill>
            </p:grpSpPr>
            <p:sp>
              <p:nvSpPr>
                <p:cNvPr id="1058" name="Triángulo rectángulo 1057">
                  <a:extLst>
                    <a:ext uri="{FF2B5EF4-FFF2-40B4-BE49-F238E27FC236}">
                      <a16:creationId xmlns:a16="http://schemas.microsoft.com/office/drawing/2014/main" id="{AA1160F1-C589-234E-E26D-BF52F805F387}"/>
                    </a:ext>
                  </a:extLst>
                </p:cNvPr>
                <p:cNvSpPr/>
                <p:nvPr/>
              </p:nvSpPr>
              <p:spPr>
                <a:xfrm>
                  <a:off x="3937211" y="5511801"/>
                  <a:ext cx="103341" cy="119209"/>
                </a:xfrm>
                <a:prstGeom prst="rtTriangle">
                  <a:avLst/>
                </a:prstGeom>
                <a:solidFill>
                  <a:srgbClr val="BA622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059" name="Rectángulo 1058">
                  <a:extLst>
                    <a:ext uri="{FF2B5EF4-FFF2-40B4-BE49-F238E27FC236}">
                      <a16:creationId xmlns:a16="http://schemas.microsoft.com/office/drawing/2014/main" id="{CF7024BD-B49D-6A52-B6DA-8C73B7AF2E7A}"/>
                    </a:ext>
                  </a:extLst>
                </p:cNvPr>
                <p:cNvSpPr/>
                <p:nvPr/>
              </p:nvSpPr>
              <p:spPr>
                <a:xfrm>
                  <a:off x="2902201" y="5511810"/>
                  <a:ext cx="1041199" cy="119209"/>
                </a:xfrm>
                <a:prstGeom prst="rect">
                  <a:avLst/>
                </a:prstGeom>
                <a:solidFill>
                  <a:srgbClr val="BA622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060" name="Triángulo rectángulo 1059">
                  <a:extLst>
                    <a:ext uri="{FF2B5EF4-FFF2-40B4-BE49-F238E27FC236}">
                      <a16:creationId xmlns:a16="http://schemas.microsoft.com/office/drawing/2014/main" id="{8B801CCE-D123-83B9-085C-F66C1B4B573C}"/>
                    </a:ext>
                  </a:extLst>
                </p:cNvPr>
                <p:cNvSpPr/>
                <p:nvPr/>
              </p:nvSpPr>
              <p:spPr>
                <a:xfrm>
                  <a:off x="2902201" y="5511813"/>
                  <a:ext cx="103341" cy="119207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1046" name="Grupo 1045">
              <a:extLst>
                <a:ext uri="{FF2B5EF4-FFF2-40B4-BE49-F238E27FC236}">
                  <a16:creationId xmlns:a16="http://schemas.microsoft.com/office/drawing/2014/main" id="{1A78C8D9-6B8C-DBAE-F95B-CD33929E3FBC}"/>
                </a:ext>
              </a:extLst>
            </p:cNvPr>
            <p:cNvGrpSpPr/>
            <p:nvPr/>
          </p:nvGrpSpPr>
          <p:grpSpPr>
            <a:xfrm>
              <a:off x="2583826" y="4803110"/>
              <a:ext cx="1515145" cy="283650"/>
              <a:chOff x="1555907" y="4801471"/>
              <a:chExt cx="1515145" cy="283650"/>
            </a:xfrm>
          </p:grpSpPr>
          <p:grpSp>
            <p:nvGrpSpPr>
              <p:cNvPr id="1047" name="Grupo 1046">
                <a:extLst>
                  <a:ext uri="{FF2B5EF4-FFF2-40B4-BE49-F238E27FC236}">
                    <a16:creationId xmlns:a16="http://schemas.microsoft.com/office/drawing/2014/main" id="{D8C08813-8965-054D-20CE-135872F29555}"/>
                  </a:ext>
                </a:extLst>
              </p:cNvPr>
              <p:cNvGrpSpPr/>
              <p:nvPr/>
            </p:nvGrpSpPr>
            <p:grpSpPr>
              <a:xfrm>
                <a:off x="1555908" y="4949270"/>
                <a:ext cx="1515143" cy="135851"/>
                <a:chOff x="1555908" y="4949270"/>
                <a:chExt cx="1515143" cy="135851"/>
              </a:xfrm>
            </p:grpSpPr>
            <p:sp>
              <p:nvSpPr>
                <p:cNvPr id="1052" name="Rectángulo 1051">
                  <a:extLst>
                    <a:ext uri="{FF2B5EF4-FFF2-40B4-BE49-F238E27FC236}">
                      <a16:creationId xmlns:a16="http://schemas.microsoft.com/office/drawing/2014/main" id="{0E89AFEE-16CE-6521-E6E3-C6F901671B07}"/>
                    </a:ext>
                  </a:extLst>
                </p:cNvPr>
                <p:cNvSpPr/>
                <p:nvPr/>
              </p:nvSpPr>
              <p:spPr>
                <a:xfrm>
                  <a:off x="1555910" y="4949290"/>
                  <a:ext cx="1377596" cy="135831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053" name="Triángulo rectángulo 1052">
                  <a:extLst>
                    <a:ext uri="{FF2B5EF4-FFF2-40B4-BE49-F238E27FC236}">
                      <a16:creationId xmlns:a16="http://schemas.microsoft.com/office/drawing/2014/main" id="{368A4D40-D386-7599-E21E-BE0B7A07A00F}"/>
                    </a:ext>
                  </a:extLst>
                </p:cNvPr>
                <p:cNvSpPr/>
                <p:nvPr/>
              </p:nvSpPr>
              <p:spPr>
                <a:xfrm rot="5400000">
                  <a:off x="1553255" y="4951923"/>
                  <a:ext cx="135839" cy="130533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054" name="Triángulo rectángulo 1053">
                  <a:extLst>
                    <a:ext uri="{FF2B5EF4-FFF2-40B4-BE49-F238E27FC236}">
                      <a16:creationId xmlns:a16="http://schemas.microsoft.com/office/drawing/2014/main" id="{254E6FFF-88B8-0CC8-F66E-65B3E14A094F}"/>
                    </a:ext>
                  </a:extLst>
                </p:cNvPr>
                <p:cNvSpPr/>
                <p:nvPr/>
              </p:nvSpPr>
              <p:spPr>
                <a:xfrm rot="5400000">
                  <a:off x="2931496" y="4945544"/>
                  <a:ext cx="135830" cy="143281"/>
                </a:xfrm>
                <a:prstGeom prst="rtTriangle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1048" name="Grupo 1047">
                <a:extLst>
                  <a:ext uri="{FF2B5EF4-FFF2-40B4-BE49-F238E27FC236}">
                    <a16:creationId xmlns:a16="http://schemas.microsoft.com/office/drawing/2014/main" id="{DBE592C9-2F7F-5020-8737-ADD9FB52986B}"/>
                  </a:ext>
                </a:extLst>
              </p:cNvPr>
              <p:cNvGrpSpPr/>
              <p:nvPr/>
            </p:nvGrpSpPr>
            <p:grpSpPr>
              <a:xfrm>
                <a:off x="1555907" y="4801471"/>
                <a:ext cx="1515145" cy="135853"/>
                <a:chOff x="2902201" y="5511801"/>
                <a:chExt cx="1138351" cy="119219"/>
              </a:xfrm>
              <a:solidFill>
                <a:schemeClr val="accent6"/>
              </a:solidFill>
            </p:grpSpPr>
            <p:sp>
              <p:nvSpPr>
                <p:cNvPr id="1049" name="Triángulo rectángulo 1048">
                  <a:extLst>
                    <a:ext uri="{FF2B5EF4-FFF2-40B4-BE49-F238E27FC236}">
                      <a16:creationId xmlns:a16="http://schemas.microsoft.com/office/drawing/2014/main" id="{F7371293-B9AA-FC85-AD04-188E4E280187}"/>
                    </a:ext>
                  </a:extLst>
                </p:cNvPr>
                <p:cNvSpPr/>
                <p:nvPr/>
              </p:nvSpPr>
              <p:spPr>
                <a:xfrm>
                  <a:off x="3937211" y="5511801"/>
                  <a:ext cx="103341" cy="119209"/>
                </a:xfrm>
                <a:prstGeom prst="rtTriangle">
                  <a:avLst/>
                </a:prstGeom>
                <a:solidFill>
                  <a:srgbClr val="BA622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050" name="Rectángulo 1049">
                  <a:extLst>
                    <a:ext uri="{FF2B5EF4-FFF2-40B4-BE49-F238E27FC236}">
                      <a16:creationId xmlns:a16="http://schemas.microsoft.com/office/drawing/2014/main" id="{3FCD0D2E-302D-0B51-9393-90FF0E3AE942}"/>
                    </a:ext>
                  </a:extLst>
                </p:cNvPr>
                <p:cNvSpPr/>
                <p:nvPr/>
              </p:nvSpPr>
              <p:spPr>
                <a:xfrm>
                  <a:off x="2902201" y="5511810"/>
                  <a:ext cx="1041199" cy="119209"/>
                </a:xfrm>
                <a:prstGeom prst="rect">
                  <a:avLst/>
                </a:prstGeom>
                <a:solidFill>
                  <a:srgbClr val="BA622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051" name="Triángulo rectángulo 1050">
                  <a:extLst>
                    <a:ext uri="{FF2B5EF4-FFF2-40B4-BE49-F238E27FC236}">
                      <a16:creationId xmlns:a16="http://schemas.microsoft.com/office/drawing/2014/main" id="{3265A6A0-19EA-6D58-6D8C-0A953E42E295}"/>
                    </a:ext>
                  </a:extLst>
                </p:cNvPr>
                <p:cNvSpPr/>
                <p:nvPr/>
              </p:nvSpPr>
              <p:spPr>
                <a:xfrm>
                  <a:off x="2902201" y="5511813"/>
                  <a:ext cx="103341" cy="119207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1027" name="Grupo 1026">
              <a:extLst>
                <a:ext uri="{FF2B5EF4-FFF2-40B4-BE49-F238E27FC236}">
                  <a16:creationId xmlns:a16="http://schemas.microsoft.com/office/drawing/2014/main" id="{9773D946-8EB9-9097-8950-F01D4F5D1888}"/>
                </a:ext>
              </a:extLst>
            </p:cNvPr>
            <p:cNvGrpSpPr/>
            <p:nvPr/>
          </p:nvGrpSpPr>
          <p:grpSpPr>
            <a:xfrm>
              <a:off x="1187624" y="4797137"/>
              <a:ext cx="1515145" cy="283650"/>
              <a:chOff x="1555907" y="4801471"/>
              <a:chExt cx="1515145" cy="283650"/>
            </a:xfrm>
          </p:grpSpPr>
          <p:grpSp>
            <p:nvGrpSpPr>
              <p:cNvPr id="1025" name="Grupo 1024">
                <a:extLst>
                  <a:ext uri="{FF2B5EF4-FFF2-40B4-BE49-F238E27FC236}">
                    <a16:creationId xmlns:a16="http://schemas.microsoft.com/office/drawing/2014/main" id="{038294BA-5D89-2067-AB44-904578ED1816}"/>
                  </a:ext>
                </a:extLst>
              </p:cNvPr>
              <p:cNvGrpSpPr/>
              <p:nvPr/>
            </p:nvGrpSpPr>
            <p:grpSpPr>
              <a:xfrm>
                <a:off x="1555908" y="4949270"/>
                <a:ext cx="1515143" cy="135851"/>
                <a:chOff x="1555908" y="4949270"/>
                <a:chExt cx="1515143" cy="135851"/>
              </a:xfrm>
            </p:grpSpPr>
            <p:sp>
              <p:nvSpPr>
                <p:cNvPr id="53" name="Rectángulo 52">
                  <a:extLst>
                    <a:ext uri="{FF2B5EF4-FFF2-40B4-BE49-F238E27FC236}">
                      <a16:creationId xmlns:a16="http://schemas.microsoft.com/office/drawing/2014/main" id="{1B4EE9A3-D880-4606-66DA-53BDA64CD839}"/>
                    </a:ext>
                  </a:extLst>
                </p:cNvPr>
                <p:cNvSpPr/>
                <p:nvPr/>
              </p:nvSpPr>
              <p:spPr>
                <a:xfrm>
                  <a:off x="1555910" y="4949290"/>
                  <a:ext cx="1377596" cy="135831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54" name="Triángulo rectángulo 53">
                  <a:extLst>
                    <a:ext uri="{FF2B5EF4-FFF2-40B4-BE49-F238E27FC236}">
                      <a16:creationId xmlns:a16="http://schemas.microsoft.com/office/drawing/2014/main" id="{94D83BE0-F392-1CF0-D062-B250FA23AB59}"/>
                    </a:ext>
                  </a:extLst>
                </p:cNvPr>
                <p:cNvSpPr/>
                <p:nvPr/>
              </p:nvSpPr>
              <p:spPr>
                <a:xfrm rot="5400000">
                  <a:off x="1553255" y="4951923"/>
                  <a:ext cx="135839" cy="130533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56" name="Triángulo rectángulo 55">
                  <a:extLst>
                    <a:ext uri="{FF2B5EF4-FFF2-40B4-BE49-F238E27FC236}">
                      <a16:creationId xmlns:a16="http://schemas.microsoft.com/office/drawing/2014/main" id="{0D88D665-9C63-F705-F90D-898E5BF6DD8B}"/>
                    </a:ext>
                  </a:extLst>
                </p:cNvPr>
                <p:cNvSpPr/>
                <p:nvPr/>
              </p:nvSpPr>
              <p:spPr>
                <a:xfrm rot="5400000">
                  <a:off x="2931496" y="4945544"/>
                  <a:ext cx="135830" cy="143281"/>
                </a:xfrm>
                <a:prstGeom prst="rtTriangl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12" name="Grupo 11">
                <a:extLst>
                  <a:ext uri="{FF2B5EF4-FFF2-40B4-BE49-F238E27FC236}">
                    <a16:creationId xmlns:a16="http://schemas.microsoft.com/office/drawing/2014/main" id="{BD1826C1-14D7-1627-E92E-26AB8A8263B5}"/>
                  </a:ext>
                </a:extLst>
              </p:cNvPr>
              <p:cNvGrpSpPr/>
              <p:nvPr/>
            </p:nvGrpSpPr>
            <p:grpSpPr>
              <a:xfrm>
                <a:off x="1555907" y="4801471"/>
                <a:ext cx="1515145" cy="135853"/>
                <a:chOff x="2902201" y="5511801"/>
                <a:chExt cx="1138351" cy="119219"/>
              </a:xfrm>
              <a:solidFill>
                <a:schemeClr val="accent6"/>
              </a:solidFill>
            </p:grpSpPr>
            <p:sp>
              <p:nvSpPr>
                <p:cNvPr id="9" name="Triángulo rectángulo 8">
                  <a:extLst>
                    <a:ext uri="{FF2B5EF4-FFF2-40B4-BE49-F238E27FC236}">
                      <a16:creationId xmlns:a16="http://schemas.microsoft.com/office/drawing/2014/main" id="{ECF59EF0-F09F-F26F-7FB1-4852744E7801}"/>
                    </a:ext>
                  </a:extLst>
                </p:cNvPr>
                <p:cNvSpPr/>
                <p:nvPr/>
              </p:nvSpPr>
              <p:spPr>
                <a:xfrm>
                  <a:off x="3937211" y="5511801"/>
                  <a:ext cx="103341" cy="119209"/>
                </a:xfrm>
                <a:prstGeom prst="rtTriangle">
                  <a:avLst/>
                </a:prstGeom>
                <a:solidFill>
                  <a:srgbClr val="BA622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0" name="Rectángulo 9">
                  <a:extLst>
                    <a:ext uri="{FF2B5EF4-FFF2-40B4-BE49-F238E27FC236}">
                      <a16:creationId xmlns:a16="http://schemas.microsoft.com/office/drawing/2014/main" id="{A83E334E-E458-FB32-4AF0-578838DF0FD5}"/>
                    </a:ext>
                  </a:extLst>
                </p:cNvPr>
                <p:cNvSpPr/>
                <p:nvPr/>
              </p:nvSpPr>
              <p:spPr>
                <a:xfrm>
                  <a:off x="2902201" y="5511810"/>
                  <a:ext cx="1041199" cy="119209"/>
                </a:xfrm>
                <a:prstGeom prst="rect">
                  <a:avLst/>
                </a:prstGeom>
                <a:solidFill>
                  <a:srgbClr val="BA622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1" name="Triángulo rectángulo 10">
                  <a:extLst>
                    <a:ext uri="{FF2B5EF4-FFF2-40B4-BE49-F238E27FC236}">
                      <a16:creationId xmlns:a16="http://schemas.microsoft.com/office/drawing/2014/main" id="{6233F802-572B-8146-A15B-6BB534B22F1A}"/>
                    </a:ext>
                  </a:extLst>
                </p:cNvPr>
                <p:cNvSpPr/>
                <p:nvPr/>
              </p:nvSpPr>
              <p:spPr>
                <a:xfrm>
                  <a:off x="2902201" y="5511813"/>
                  <a:ext cx="103341" cy="119207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</p:grpSp>
      <p:sp>
        <p:nvSpPr>
          <p:cNvPr id="1074" name="CuadroTexto 1073">
            <a:extLst>
              <a:ext uri="{FF2B5EF4-FFF2-40B4-BE49-F238E27FC236}">
                <a16:creationId xmlns:a16="http://schemas.microsoft.com/office/drawing/2014/main" id="{EAB50B3A-0EF4-2B8D-A09C-C794CC3E27C6}"/>
              </a:ext>
            </a:extLst>
          </p:cNvPr>
          <p:cNvSpPr txBox="1"/>
          <p:nvPr/>
        </p:nvSpPr>
        <p:spPr>
          <a:xfrm>
            <a:off x="1115616" y="3368025"/>
            <a:ext cx="1195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Montserrat SemiBold" panose="00000700000000000000" pitchFamily="2" charset="0"/>
              </a:rPr>
              <a:t>Centralizado</a:t>
            </a:r>
          </a:p>
        </p:txBody>
      </p:sp>
      <p:sp>
        <p:nvSpPr>
          <p:cNvPr id="1075" name="CuadroTexto 1074">
            <a:extLst>
              <a:ext uri="{FF2B5EF4-FFF2-40B4-BE49-F238E27FC236}">
                <a16:creationId xmlns:a16="http://schemas.microsoft.com/office/drawing/2014/main" id="{4733AE14-C6D1-1F79-E475-329C9FB06AD2}"/>
              </a:ext>
            </a:extLst>
          </p:cNvPr>
          <p:cNvSpPr txBox="1"/>
          <p:nvPr/>
        </p:nvSpPr>
        <p:spPr>
          <a:xfrm>
            <a:off x="6545104" y="2708920"/>
            <a:ext cx="1195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Montserrat SemiBold" panose="00000700000000000000" pitchFamily="2" charset="0"/>
              </a:rPr>
              <a:t>Distribuido</a:t>
            </a:r>
          </a:p>
        </p:txBody>
      </p:sp>
      <p:sp>
        <p:nvSpPr>
          <p:cNvPr id="1076" name="CuadroTexto 1075">
            <a:extLst>
              <a:ext uri="{FF2B5EF4-FFF2-40B4-BE49-F238E27FC236}">
                <a16:creationId xmlns:a16="http://schemas.microsoft.com/office/drawing/2014/main" id="{8DAC0153-9F92-B94F-6BC8-0C7AFF653443}"/>
              </a:ext>
            </a:extLst>
          </p:cNvPr>
          <p:cNvSpPr txBox="1"/>
          <p:nvPr/>
        </p:nvSpPr>
        <p:spPr>
          <a:xfrm>
            <a:off x="683568" y="1713876"/>
            <a:ext cx="2480425" cy="372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>
                <a:latin typeface="Montserrat" panose="00000500000000000000" pitchFamily="2" charset="0"/>
              </a:rPr>
              <a:t>Producción de artefactos de datos manejados por un equipo central</a:t>
            </a:r>
          </a:p>
        </p:txBody>
      </p:sp>
      <p:cxnSp>
        <p:nvCxnSpPr>
          <p:cNvPr id="1078" name="Conector recto 1077">
            <a:extLst>
              <a:ext uri="{FF2B5EF4-FFF2-40B4-BE49-F238E27FC236}">
                <a16:creationId xmlns:a16="http://schemas.microsoft.com/office/drawing/2014/main" id="{2127515C-7562-B1B4-97F9-D18E3060CA1B}"/>
              </a:ext>
            </a:extLst>
          </p:cNvPr>
          <p:cNvCxnSpPr>
            <a:cxnSpLocks/>
          </p:cNvCxnSpPr>
          <p:nvPr/>
        </p:nvCxnSpPr>
        <p:spPr>
          <a:xfrm>
            <a:off x="1547476" y="2157611"/>
            <a:ext cx="911812" cy="84524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9" name="CuadroTexto 1078">
            <a:extLst>
              <a:ext uri="{FF2B5EF4-FFF2-40B4-BE49-F238E27FC236}">
                <a16:creationId xmlns:a16="http://schemas.microsoft.com/office/drawing/2014/main" id="{51858926-A8AE-FDA5-B81F-C3A005C64126}"/>
              </a:ext>
            </a:extLst>
          </p:cNvPr>
          <p:cNvSpPr txBox="1"/>
          <p:nvPr/>
        </p:nvSpPr>
        <p:spPr>
          <a:xfrm>
            <a:off x="1822431" y="4402785"/>
            <a:ext cx="1749257" cy="507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 err="1">
                <a:latin typeface="Montserrat" panose="00000500000000000000" pitchFamily="2" charset="0"/>
              </a:rPr>
              <a:t>Politicas</a:t>
            </a:r>
            <a:r>
              <a:rPr lang="es-ES" sz="900" dirty="0">
                <a:latin typeface="Montserrat" panose="00000500000000000000" pitchFamily="2" charset="0"/>
              </a:rPr>
              <a:t> de gobernanza aplicadas y forzadas por un equipo central</a:t>
            </a:r>
          </a:p>
        </p:txBody>
      </p:sp>
      <p:cxnSp>
        <p:nvCxnSpPr>
          <p:cNvPr id="1080" name="Conector recto 1079">
            <a:extLst>
              <a:ext uri="{FF2B5EF4-FFF2-40B4-BE49-F238E27FC236}">
                <a16:creationId xmlns:a16="http://schemas.microsoft.com/office/drawing/2014/main" id="{13335B42-93C1-7315-6022-1BC84EA9504E}"/>
              </a:ext>
            </a:extLst>
          </p:cNvPr>
          <p:cNvCxnSpPr>
            <a:cxnSpLocks/>
          </p:cNvCxnSpPr>
          <p:nvPr/>
        </p:nvCxnSpPr>
        <p:spPr>
          <a:xfrm flipV="1">
            <a:off x="2644866" y="3473764"/>
            <a:ext cx="654882" cy="81932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3" name="CuadroTexto 1082">
            <a:extLst>
              <a:ext uri="{FF2B5EF4-FFF2-40B4-BE49-F238E27FC236}">
                <a16:creationId xmlns:a16="http://schemas.microsoft.com/office/drawing/2014/main" id="{6BDA3B09-E6A4-AEB7-0A8F-132CD953E961}"/>
              </a:ext>
            </a:extLst>
          </p:cNvPr>
          <p:cNvSpPr txBox="1"/>
          <p:nvPr/>
        </p:nvSpPr>
        <p:spPr>
          <a:xfrm>
            <a:off x="5972575" y="1682500"/>
            <a:ext cx="2480425" cy="372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>
                <a:latin typeface="Montserrat" panose="00000500000000000000" pitchFamily="2" charset="0"/>
              </a:rPr>
              <a:t>Producción de artefactos de datos impulsada por el dominio</a:t>
            </a:r>
          </a:p>
        </p:txBody>
      </p:sp>
      <p:cxnSp>
        <p:nvCxnSpPr>
          <p:cNvPr id="1084" name="Conector recto 1083">
            <a:extLst>
              <a:ext uri="{FF2B5EF4-FFF2-40B4-BE49-F238E27FC236}">
                <a16:creationId xmlns:a16="http://schemas.microsoft.com/office/drawing/2014/main" id="{046AE3E4-2380-A15E-B85D-CDE6359F4825}"/>
              </a:ext>
            </a:extLst>
          </p:cNvPr>
          <p:cNvCxnSpPr>
            <a:cxnSpLocks/>
          </p:cNvCxnSpPr>
          <p:nvPr/>
        </p:nvCxnSpPr>
        <p:spPr>
          <a:xfrm flipH="1">
            <a:off x="6238681" y="2156504"/>
            <a:ext cx="543259" cy="79920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7" name="CuadroTexto 1086">
            <a:extLst>
              <a:ext uri="{FF2B5EF4-FFF2-40B4-BE49-F238E27FC236}">
                <a16:creationId xmlns:a16="http://schemas.microsoft.com/office/drawing/2014/main" id="{F4AA6F1F-F222-5A6E-8422-B4DA6F07A9E8}"/>
              </a:ext>
            </a:extLst>
          </p:cNvPr>
          <p:cNvSpPr txBox="1"/>
          <p:nvPr/>
        </p:nvSpPr>
        <p:spPr>
          <a:xfrm>
            <a:off x="5115910" y="4401378"/>
            <a:ext cx="2480425" cy="372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>
                <a:latin typeface="Montserrat" panose="00000500000000000000" pitchFamily="2" charset="0"/>
              </a:rPr>
              <a:t>derechos sobre los datos propiedad de los equipos de dominio</a:t>
            </a:r>
          </a:p>
        </p:txBody>
      </p:sp>
      <p:cxnSp>
        <p:nvCxnSpPr>
          <p:cNvPr id="1088" name="Conector recto 1087">
            <a:extLst>
              <a:ext uri="{FF2B5EF4-FFF2-40B4-BE49-F238E27FC236}">
                <a16:creationId xmlns:a16="http://schemas.microsoft.com/office/drawing/2014/main" id="{76B29CCE-33F0-0245-09E6-F6B8311CDD62}"/>
              </a:ext>
            </a:extLst>
          </p:cNvPr>
          <p:cNvCxnSpPr>
            <a:cxnSpLocks/>
          </p:cNvCxnSpPr>
          <p:nvPr/>
        </p:nvCxnSpPr>
        <p:spPr>
          <a:xfrm flipH="1" flipV="1">
            <a:off x="5382681" y="3479127"/>
            <a:ext cx="816546" cy="90656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1" name="Elipse 1090">
            <a:extLst>
              <a:ext uri="{FF2B5EF4-FFF2-40B4-BE49-F238E27FC236}">
                <a16:creationId xmlns:a16="http://schemas.microsoft.com/office/drawing/2014/main" id="{F0CC7DBB-CE0F-C2C6-C79F-C7744A32E425}"/>
              </a:ext>
            </a:extLst>
          </p:cNvPr>
          <p:cNvSpPr/>
          <p:nvPr/>
        </p:nvSpPr>
        <p:spPr>
          <a:xfrm>
            <a:off x="3571688" y="2489815"/>
            <a:ext cx="1406169" cy="1406169"/>
          </a:xfrm>
          <a:prstGeom prst="ellipse">
            <a:avLst/>
          </a:prstGeom>
          <a:solidFill>
            <a:schemeClr val="bg1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92" name="Google Shape;303;g35ee5cc475b_0_63">
            <a:extLst>
              <a:ext uri="{FF2B5EF4-FFF2-40B4-BE49-F238E27FC236}">
                <a16:creationId xmlns:a16="http://schemas.microsoft.com/office/drawing/2014/main" id="{BA55E5FA-9FC1-124E-5E8E-C8755F81FA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7369" y="233041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2 Introducción a UC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Espectro de Gobernanza en las empresas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191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D86598-4255-C9CC-3FE5-BABE90DDA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E07481A-2319-18C3-8D6A-DA4E9400B77E}"/>
              </a:ext>
            </a:extLst>
          </p:cNvPr>
          <p:cNvSpPr txBox="1"/>
          <p:nvPr/>
        </p:nvSpPr>
        <p:spPr>
          <a:xfrm>
            <a:off x="2483768" y="2537901"/>
            <a:ext cx="41764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UNITY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CATALOG</a:t>
            </a:r>
          </a:p>
        </p:txBody>
      </p:sp>
    </p:spTree>
    <p:extLst>
      <p:ext uri="{BB962C8B-B14F-4D97-AF65-F5344CB8AC3E}">
        <p14:creationId xmlns:p14="http://schemas.microsoft.com/office/powerpoint/2010/main" val="4112078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upo 41">
            <a:extLst>
              <a:ext uri="{FF2B5EF4-FFF2-40B4-BE49-F238E27FC236}">
                <a16:creationId xmlns:a16="http://schemas.microsoft.com/office/drawing/2014/main" id="{48E6F61C-6EBA-6A95-52D6-FC84EE2B6427}"/>
              </a:ext>
            </a:extLst>
          </p:cNvPr>
          <p:cNvGrpSpPr/>
          <p:nvPr/>
        </p:nvGrpSpPr>
        <p:grpSpPr>
          <a:xfrm>
            <a:off x="419378" y="1124744"/>
            <a:ext cx="8373386" cy="3168352"/>
            <a:chOff x="419378" y="1124744"/>
            <a:chExt cx="8373386" cy="3168352"/>
          </a:xfrm>
        </p:grpSpPr>
        <p:sp>
          <p:nvSpPr>
            <p:cNvPr id="6" name="Trapecio 5">
              <a:extLst>
                <a:ext uri="{FF2B5EF4-FFF2-40B4-BE49-F238E27FC236}">
                  <a16:creationId xmlns:a16="http://schemas.microsoft.com/office/drawing/2014/main" id="{67BA6D96-C62B-BEBB-AAFD-6638BBF55B9A}"/>
                </a:ext>
              </a:extLst>
            </p:cNvPr>
            <p:cNvSpPr/>
            <p:nvPr/>
          </p:nvSpPr>
          <p:spPr>
            <a:xfrm rot="5400000">
              <a:off x="1247470" y="1052736"/>
              <a:ext cx="2808312" cy="3384376"/>
            </a:xfrm>
            <a:prstGeom prst="trapezoid">
              <a:avLst/>
            </a:prstGeom>
            <a:gradFill flip="none" rotWithShape="1">
              <a:gsLst>
                <a:gs pos="0">
                  <a:schemeClr val="accent1">
                    <a:lumMod val="50000"/>
                    <a:tint val="66000"/>
                    <a:satMod val="160000"/>
                  </a:schemeClr>
                </a:gs>
                <a:gs pos="50000">
                  <a:schemeClr val="accent1">
                    <a:lumMod val="50000"/>
                    <a:tint val="44500"/>
                    <a:satMod val="160000"/>
                  </a:schemeClr>
                </a:gs>
                <a:gs pos="100000">
                  <a:schemeClr val="accent1">
                    <a:lumMod val="50000"/>
                    <a:tint val="23500"/>
                    <a:satMod val="1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A69F5C17-5CB4-1030-CE93-9F9D1C12A546}"/>
                </a:ext>
              </a:extLst>
            </p:cNvPr>
            <p:cNvSpPr/>
            <p:nvPr/>
          </p:nvSpPr>
          <p:spPr>
            <a:xfrm>
              <a:off x="419378" y="1124744"/>
              <a:ext cx="1368152" cy="316835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" name="Trapecio 6">
              <a:extLst>
                <a:ext uri="{FF2B5EF4-FFF2-40B4-BE49-F238E27FC236}">
                  <a16:creationId xmlns:a16="http://schemas.microsoft.com/office/drawing/2014/main" id="{EDA760EA-4913-77A5-8736-64C4B30612B4}"/>
                </a:ext>
              </a:extLst>
            </p:cNvPr>
            <p:cNvSpPr/>
            <p:nvPr/>
          </p:nvSpPr>
          <p:spPr>
            <a:xfrm rot="16200000">
              <a:off x="4631846" y="1052736"/>
              <a:ext cx="2808312" cy="3384376"/>
            </a:xfrm>
            <a:prstGeom prst="trapezoid">
              <a:avLst/>
            </a:prstGeom>
            <a:gradFill flip="none" rotWithShape="1">
              <a:gsLst>
                <a:gs pos="0">
                  <a:schemeClr val="accent1">
                    <a:lumMod val="50000"/>
                    <a:tint val="66000"/>
                    <a:satMod val="160000"/>
                  </a:schemeClr>
                </a:gs>
                <a:gs pos="50000">
                  <a:schemeClr val="accent1">
                    <a:lumMod val="50000"/>
                    <a:tint val="44500"/>
                    <a:satMod val="160000"/>
                  </a:schemeClr>
                </a:gs>
                <a:gs pos="100000">
                  <a:schemeClr val="accent1">
                    <a:lumMod val="50000"/>
                    <a:tint val="23500"/>
                    <a:satMod val="1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914BD114-6878-E17B-2AD3-9D227B4785B8}"/>
                </a:ext>
              </a:extLst>
            </p:cNvPr>
            <p:cNvSpPr/>
            <p:nvPr/>
          </p:nvSpPr>
          <p:spPr>
            <a:xfrm>
              <a:off x="2759638" y="1628800"/>
              <a:ext cx="3312368" cy="2340260"/>
            </a:xfrm>
            <a:prstGeom prst="roundRect">
              <a:avLst>
                <a:gd name="adj" fmla="val 13247"/>
              </a:avLst>
            </a:prstGeom>
            <a:solidFill>
              <a:schemeClr val="bg2"/>
            </a:solidFill>
            <a:ln>
              <a:noFill/>
            </a:ln>
            <a:effectLst>
              <a:outerShdw blurRad="63500" sx="102000" sy="102000" algn="ct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UNITY CATALOG</a:t>
              </a:r>
            </a:p>
          </p:txBody>
        </p:sp>
        <p:pic>
          <p:nvPicPr>
            <p:cNvPr id="10" name="Gráfico 9" descr="Usuario con relleno sólido">
              <a:extLst>
                <a:ext uri="{FF2B5EF4-FFF2-40B4-BE49-F238E27FC236}">
                  <a16:creationId xmlns:a16="http://schemas.microsoft.com/office/drawing/2014/main" id="{7F0BE224-DAAD-9060-8339-BDEFBF342E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52164" y="1196752"/>
              <a:ext cx="628748" cy="628748"/>
            </a:xfrm>
            <a:prstGeom prst="rect">
              <a:avLst/>
            </a:prstGeom>
          </p:spPr>
        </p:pic>
        <p:pic>
          <p:nvPicPr>
            <p:cNvPr id="11" name="Gráfico 10" descr="Usuario con relleno sólido">
              <a:extLst>
                <a:ext uri="{FF2B5EF4-FFF2-40B4-BE49-F238E27FC236}">
                  <a16:creationId xmlns:a16="http://schemas.microsoft.com/office/drawing/2014/main" id="{A995CC66-85DD-0E45-6574-00DC00DAE8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52164" y="2132856"/>
              <a:ext cx="628748" cy="628748"/>
            </a:xfrm>
            <a:prstGeom prst="rect">
              <a:avLst/>
            </a:prstGeom>
          </p:spPr>
        </p:pic>
        <p:pic>
          <p:nvPicPr>
            <p:cNvPr id="12" name="Gráfico 11" descr="Usuario con relleno sólido">
              <a:extLst>
                <a:ext uri="{FF2B5EF4-FFF2-40B4-BE49-F238E27FC236}">
                  <a16:creationId xmlns:a16="http://schemas.microsoft.com/office/drawing/2014/main" id="{2D2F9EA7-5B02-2112-FAAC-6FCB5ACC73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52164" y="3191095"/>
              <a:ext cx="628748" cy="628748"/>
            </a:xfrm>
            <a:prstGeom prst="rect">
              <a:avLst/>
            </a:prstGeom>
          </p:spPr>
        </p:pic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BD215386-F474-FA1F-AB86-88477331ABAA}"/>
                </a:ext>
              </a:extLst>
            </p:cNvPr>
            <p:cNvSpPr/>
            <p:nvPr/>
          </p:nvSpPr>
          <p:spPr>
            <a:xfrm>
              <a:off x="7164288" y="1124744"/>
              <a:ext cx="1368152" cy="316835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3ADC6D66-90CD-FB16-9CB5-9DDB06FA3B0C}"/>
                </a:ext>
              </a:extLst>
            </p:cNvPr>
            <p:cNvSpPr txBox="1"/>
            <p:nvPr/>
          </p:nvSpPr>
          <p:spPr>
            <a:xfrm>
              <a:off x="7458923" y="1509530"/>
              <a:ext cx="128648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Data Lake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B4620D1A-A4E0-C9A6-3D76-5E3931FE91B8}"/>
                </a:ext>
              </a:extLst>
            </p:cNvPr>
            <p:cNvSpPr txBox="1"/>
            <p:nvPr/>
          </p:nvSpPr>
          <p:spPr>
            <a:xfrm>
              <a:off x="567583" y="2717842"/>
              <a:ext cx="136815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Data Engineer</a:t>
              </a: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3991B9D4-757A-DDC5-59A8-B89E30640293}"/>
                </a:ext>
              </a:extLst>
            </p:cNvPr>
            <p:cNvSpPr txBox="1"/>
            <p:nvPr/>
          </p:nvSpPr>
          <p:spPr>
            <a:xfrm>
              <a:off x="529499" y="3794859"/>
              <a:ext cx="136815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Data </a:t>
              </a:r>
              <a:r>
                <a:rPr lang="es-ES" sz="90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Scientist</a:t>
              </a:r>
              <a:endParaRPr lang="es-ES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pic>
          <p:nvPicPr>
            <p:cNvPr id="18" name="Imagen 17" descr="Imagen en blanco y negro&#10;&#10;El contenido generado por IA puede ser incorrecto.">
              <a:extLst>
                <a:ext uri="{FF2B5EF4-FFF2-40B4-BE49-F238E27FC236}">
                  <a16:creationId xmlns:a16="http://schemas.microsoft.com/office/drawing/2014/main" id="{669D84B6-F6A6-D4CB-99BD-9F1E1E859A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025" y="1981272"/>
              <a:ext cx="312442" cy="312442"/>
            </a:xfrm>
            <a:prstGeom prst="rect">
              <a:avLst/>
            </a:prstGeom>
          </p:spPr>
        </p:pic>
        <p:pic>
          <p:nvPicPr>
            <p:cNvPr id="20" name="Imagen 19" descr="Imagen que contiene muebles&#10;&#10;El contenido generado por IA puede ser incorrecto.">
              <a:extLst>
                <a:ext uri="{FF2B5EF4-FFF2-40B4-BE49-F238E27FC236}">
                  <a16:creationId xmlns:a16="http://schemas.microsoft.com/office/drawing/2014/main" id="{594D3727-4F5D-98F1-791B-8D7DA58093B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79535" y="1223265"/>
              <a:ext cx="316228" cy="316228"/>
            </a:xfrm>
            <a:prstGeom prst="rect">
              <a:avLst/>
            </a:prstGeom>
          </p:spPr>
        </p:pic>
        <p:pic>
          <p:nvPicPr>
            <p:cNvPr id="22" name="Imagen 21" descr="Forma&#10;&#10;El contenido generado por IA puede ser incorrecto.">
              <a:extLst>
                <a:ext uri="{FF2B5EF4-FFF2-40B4-BE49-F238E27FC236}">
                  <a16:creationId xmlns:a16="http://schemas.microsoft.com/office/drawing/2014/main" id="{171E5199-E5EF-FE60-32C1-4E368AC49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4728" y="3530987"/>
              <a:ext cx="378430" cy="378430"/>
            </a:xfrm>
            <a:prstGeom prst="rect">
              <a:avLst/>
            </a:prstGeom>
          </p:spPr>
        </p:pic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0FF57925-D1F5-F66E-50F0-30DF1A7D3722}"/>
                </a:ext>
              </a:extLst>
            </p:cNvPr>
            <p:cNvSpPr txBox="1"/>
            <p:nvPr/>
          </p:nvSpPr>
          <p:spPr>
            <a:xfrm>
              <a:off x="611169" y="1786608"/>
              <a:ext cx="128648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Data Analyst</a:t>
              </a: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9171CBC4-0112-EF41-E9DA-0AB68F91455A}"/>
                </a:ext>
              </a:extLst>
            </p:cNvPr>
            <p:cNvSpPr txBox="1"/>
            <p:nvPr/>
          </p:nvSpPr>
          <p:spPr>
            <a:xfrm>
              <a:off x="7303681" y="2255980"/>
              <a:ext cx="128648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Data </a:t>
              </a:r>
              <a:r>
                <a:rPr lang="es-ES" sz="90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Warehouse</a:t>
              </a:r>
              <a:endParaRPr lang="es-ES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D4BBC0E0-F075-10CA-BB8B-CBE00DBFC2D0}"/>
                </a:ext>
              </a:extLst>
            </p:cNvPr>
            <p:cNvSpPr txBox="1"/>
            <p:nvPr/>
          </p:nvSpPr>
          <p:spPr>
            <a:xfrm>
              <a:off x="7506282" y="3114751"/>
              <a:ext cx="128648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Metadata</a:t>
              </a:r>
              <a:endParaRPr lang="es-ES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D2A407C4-5677-C529-EEA9-050C8114A17E}"/>
                </a:ext>
              </a:extLst>
            </p:cNvPr>
            <p:cNvSpPr txBox="1"/>
            <p:nvPr/>
          </p:nvSpPr>
          <p:spPr>
            <a:xfrm>
              <a:off x="7430628" y="3882202"/>
              <a:ext cx="12864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ML </a:t>
              </a:r>
              <a:r>
                <a:rPr lang="es-ES" sz="90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Models</a:t>
              </a:r>
              <a:r>
                <a:rPr lang="es-ES" sz="9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 &amp; </a:t>
              </a:r>
              <a:r>
                <a:rPr lang="es-ES" sz="90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Dashboards</a:t>
              </a:r>
              <a:endParaRPr lang="es-ES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A0B23B3-9A08-E1D2-C284-0FA06653CEA6}"/>
              </a:ext>
            </a:extLst>
          </p:cNvPr>
          <p:cNvSpPr txBox="1"/>
          <p:nvPr/>
        </p:nvSpPr>
        <p:spPr>
          <a:xfrm>
            <a:off x="899592" y="4797152"/>
            <a:ext cx="7416824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1000" dirty="0">
                <a:latin typeface="Montserrat" panose="00000500000000000000" pitchFamily="2" charset="0"/>
              </a:rPr>
              <a:t>Una primera definición de Unity </a:t>
            </a:r>
            <a:r>
              <a:rPr lang="es-ES" sz="1000" dirty="0" err="1">
                <a:latin typeface="Montserrat" panose="00000500000000000000" pitchFamily="2" charset="0"/>
              </a:rPr>
              <a:t>Catalog</a:t>
            </a:r>
            <a:r>
              <a:rPr lang="es-ES" sz="1000" dirty="0">
                <a:latin typeface="Montserrat" panose="00000500000000000000" pitchFamily="2" charset="0"/>
              </a:rPr>
              <a:t> es que es el ecosistema que propone </a:t>
            </a:r>
            <a:r>
              <a:rPr lang="es-ES" sz="1000" dirty="0" err="1">
                <a:latin typeface="Montserrat" panose="00000500000000000000" pitchFamily="2" charset="0"/>
              </a:rPr>
              <a:t>databricks</a:t>
            </a:r>
            <a:r>
              <a:rPr lang="es-ES" sz="1000" dirty="0">
                <a:latin typeface="Montserrat" panose="00000500000000000000" pitchFamily="2" charset="0"/>
              </a:rPr>
              <a:t> para que se comuniquen las distintas personas y objetos que pueden generarse en un </a:t>
            </a:r>
            <a:r>
              <a:rPr lang="es-ES" sz="1000" dirty="0" err="1">
                <a:latin typeface="Montserrat" panose="00000500000000000000" pitchFamily="2" charset="0"/>
              </a:rPr>
              <a:t>entonorno</a:t>
            </a:r>
            <a:r>
              <a:rPr lang="es-ES" sz="1000" dirty="0">
                <a:latin typeface="Montserrat" panose="00000500000000000000" pitchFamily="2" charset="0"/>
              </a:rPr>
              <a:t> de Datos.</a:t>
            </a:r>
          </a:p>
        </p:txBody>
      </p:sp>
      <p:sp>
        <p:nvSpPr>
          <p:cNvPr id="32" name="Google Shape;303;g35ee5cc475b_0_63">
            <a:extLst>
              <a:ext uri="{FF2B5EF4-FFF2-40B4-BE49-F238E27FC236}">
                <a16:creationId xmlns:a16="http://schemas.microsoft.com/office/drawing/2014/main" id="{77310AF8-FC74-CC58-B0CE-D217AAA1D0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2 Introducción a UC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¿Qué es Unity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Catalog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?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E26F16B8-7D68-298C-24AC-540EE944ED5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6237" y="2728623"/>
            <a:ext cx="394235" cy="39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662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upo 34">
            <a:extLst>
              <a:ext uri="{FF2B5EF4-FFF2-40B4-BE49-F238E27FC236}">
                <a16:creationId xmlns:a16="http://schemas.microsoft.com/office/drawing/2014/main" id="{5B2ADFA1-8002-916A-E0B7-C661C550A918}"/>
              </a:ext>
            </a:extLst>
          </p:cNvPr>
          <p:cNvGrpSpPr/>
          <p:nvPr/>
        </p:nvGrpSpPr>
        <p:grpSpPr>
          <a:xfrm>
            <a:off x="395536" y="2780928"/>
            <a:ext cx="8424936" cy="2016224"/>
            <a:chOff x="395536" y="3284984"/>
            <a:chExt cx="8424936" cy="2016224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8761BE6-8E35-5239-2071-B043EE5BF8A7}"/>
                </a:ext>
              </a:extLst>
            </p:cNvPr>
            <p:cNvSpPr/>
            <p:nvPr/>
          </p:nvSpPr>
          <p:spPr>
            <a:xfrm>
              <a:off x="395536" y="3284984"/>
              <a:ext cx="8424936" cy="2016224"/>
            </a:xfrm>
            <a:prstGeom prst="rect">
              <a:avLst/>
            </a:prstGeom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C229099-D1C4-FC32-20A2-67C7BD198F83}"/>
                </a:ext>
              </a:extLst>
            </p:cNvPr>
            <p:cNvSpPr/>
            <p:nvPr/>
          </p:nvSpPr>
          <p:spPr>
            <a:xfrm>
              <a:off x="626448" y="4293096"/>
              <a:ext cx="7949545" cy="79208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Metadata</a:t>
              </a:r>
              <a:r>
                <a:rPr lang="es-ES" sz="1600" dirty="0"/>
                <a:t> Management</a:t>
              </a:r>
            </a:p>
            <a:p>
              <a:pPr algn="ctr"/>
              <a:r>
                <a:rPr lang="es-ES" sz="1600" dirty="0"/>
                <a:t>(Files | Tables | ML </a:t>
              </a:r>
              <a:r>
                <a:rPr lang="es-ES" sz="1600" dirty="0" err="1"/>
                <a:t>Models</a:t>
              </a:r>
              <a:r>
                <a:rPr lang="es-ES" sz="1600" dirty="0"/>
                <a:t> | Notebooks | </a:t>
              </a:r>
              <a:r>
                <a:rPr lang="es-ES" sz="1600" dirty="0" err="1"/>
                <a:t>Dashboards</a:t>
              </a:r>
              <a:r>
                <a:rPr lang="es-ES" sz="1600" dirty="0"/>
                <a:t>)</a:t>
              </a:r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07768FA-AE5B-B194-5781-DF1A44A5AB28}"/>
                </a:ext>
              </a:extLst>
            </p:cNvPr>
            <p:cNvSpPr/>
            <p:nvPr/>
          </p:nvSpPr>
          <p:spPr>
            <a:xfrm>
              <a:off x="634267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/>
                <a:t>Access</a:t>
              </a:r>
            </a:p>
            <a:p>
              <a:pPr algn="ctr"/>
              <a:r>
                <a:rPr lang="es-ES" sz="1600" dirty="0" err="1"/>
                <a:t>Controls</a:t>
              </a:r>
              <a:endParaRPr lang="es-ES" sz="1600" dirty="0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6A2BC39B-DDDC-EB9F-3FEC-7BD701DDE43E}"/>
                </a:ext>
              </a:extLst>
            </p:cNvPr>
            <p:cNvSpPr/>
            <p:nvPr/>
          </p:nvSpPr>
          <p:spPr>
            <a:xfrm>
              <a:off x="1979712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Lineage</a:t>
              </a:r>
              <a:endParaRPr lang="es-ES" sz="1600" dirty="0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4D755E14-37E9-200A-13D2-3891DA797952}"/>
                </a:ext>
              </a:extLst>
            </p:cNvPr>
            <p:cNvSpPr/>
            <p:nvPr/>
          </p:nvSpPr>
          <p:spPr>
            <a:xfrm>
              <a:off x="3328977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/>
                <a:t>Discovery</a:t>
              </a:r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CCC73782-79DD-0543-F048-724F281BA7C8}"/>
                </a:ext>
              </a:extLst>
            </p:cNvPr>
            <p:cNvSpPr/>
            <p:nvPr/>
          </p:nvSpPr>
          <p:spPr>
            <a:xfrm>
              <a:off x="4678242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Monitoring</a:t>
              </a:r>
              <a:endParaRPr lang="es-ES" sz="1600" dirty="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20A01DED-CECF-E81B-A6D1-02F167A1D7C2}"/>
                </a:ext>
              </a:extLst>
            </p:cNvPr>
            <p:cNvSpPr/>
            <p:nvPr/>
          </p:nvSpPr>
          <p:spPr>
            <a:xfrm>
              <a:off x="6027507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Auditing</a:t>
              </a:r>
              <a:endParaRPr lang="es-ES" sz="1600" dirty="0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296940DA-EB7D-029B-23EE-875C06A57881}"/>
                </a:ext>
              </a:extLst>
            </p:cNvPr>
            <p:cNvSpPr/>
            <p:nvPr/>
          </p:nvSpPr>
          <p:spPr>
            <a:xfrm>
              <a:off x="7374564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Sharing</a:t>
              </a:r>
              <a:endParaRPr lang="es-ES" sz="1600" dirty="0"/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66744B4-8C1E-F4CD-567E-1043F9800969}"/>
              </a:ext>
            </a:extLst>
          </p:cNvPr>
          <p:cNvSpPr txBox="1"/>
          <p:nvPr/>
        </p:nvSpPr>
        <p:spPr>
          <a:xfrm>
            <a:off x="1115616" y="1859657"/>
            <a:ext cx="7200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latin typeface="Montserrat" panose="00000500000000000000" pitchFamily="2" charset="0"/>
              </a:rPr>
              <a:t>Unity </a:t>
            </a:r>
            <a:r>
              <a:rPr lang="es-ES" sz="1000" b="1" dirty="0" err="1">
                <a:latin typeface="Montserrat" panose="00000500000000000000" pitchFamily="2" charset="0"/>
              </a:rPr>
              <a:t>Catalog</a:t>
            </a:r>
            <a:r>
              <a:rPr lang="es-ES" sz="1000" dirty="0">
                <a:latin typeface="Montserrat" panose="00000500000000000000" pitchFamily="2" charset="0"/>
              </a:rPr>
              <a:t> es la solución de </a:t>
            </a:r>
            <a:r>
              <a:rPr lang="es-ES" sz="1000" b="1" dirty="0">
                <a:latin typeface="Montserrat" panose="00000500000000000000" pitchFamily="2" charset="0"/>
              </a:rPr>
              <a:t>gobernanza unificada de datos e inteligencia artificial</a:t>
            </a:r>
            <a:r>
              <a:rPr lang="es-ES" sz="1000" dirty="0">
                <a:latin typeface="Montserrat" panose="00000500000000000000" pitchFamily="2" charset="0"/>
              </a:rPr>
              <a:t> en </a:t>
            </a:r>
            <a:r>
              <a:rPr lang="es-ES" sz="1000" dirty="0" err="1">
                <a:latin typeface="Montserrat" panose="00000500000000000000" pitchFamily="2" charset="0"/>
              </a:rPr>
              <a:t>Databricks</a:t>
            </a:r>
            <a:r>
              <a:rPr lang="es-ES" sz="1000" dirty="0">
                <a:latin typeface="Montserrat" panose="00000500000000000000" pitchFamily="2" charset="0"/>
              </a:rPr>
              <a:t>.</a:t>
            </a:r>
          </a:p>
        </p:txBody>
      </p:sp>
      <p:sp>
        <p:nvSpPr>
          <p:cNvPr id="38" name="Google Shape;303;g35ee5cc475b_0_63">
            <a:extLst>
              <a:ext uri="{FF2B5EF4-FFF2-40B4-BE49-F238E27FC236}">
                <a16:creationId xmlns:a16="http://schemas.microsoft.com/office/drawing/2014/main" id="{B55AE80E-A0D7-63A0-9384-04C2ACABF9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528" y="365125"/>
            <a:ext cx="8496944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2 Introducción a UC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Unity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Catalog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desde perspectiva de Gobernanza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100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upo 40">
            <a:extLst>
              <a:ext uri="{FF2B5EF4-FFF2-40B4-BE49-F238E27FC236}">
                <a16:creationId xmlns:a16="http://schemas.microsoft.com/office/drawing/2014/main" id="{298DF9B6-9EB1-FE6F-5E3F-B3DE1A24627A}"/>
              </a:ext>
            </a:extLst>
          </p:cNvPr>
          <p:cNvGrpSpPr/>
          <p:nvPr/>
        </p:nvGrpSpPr>
        <p:grpSpPr>
          <a:xfrm>
            <a:off x="449084" y="1556792"/>
            <a:ext cx="8245832" cy="2995259"/>
            <a:chOff x="241328" y="1905671"/>
            <a:chExt cx="8544056" cy="3222444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5055D5D2-79A5-BCDF-2122-F8700A9CF140}"/>
                </a:ext>
              </a:extLst>
            </p:cNvPr>
            <p:cNvSpPr/>
            <p:nvPr/>
          </p:nvSpPr>
          <p:spPr>
            <a:xfrm>
              <a:off x="539552" y="3078520"/>
              <a:ext cx="7949545" cy="79208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b="1" dirty="0"/>
                <a:t>Unity </a:t>
              </a:r>
              <a:r>
                <a:rPr lang="es-ES" sz="1400" b="1" dirty="0" err="1"/>
                <a:t>Catalog</a:t>
              </a:r>
              <a:endParaRPr lang="es-ES" sz="1400" b="1" dirty="0"/>
            </a:p>
            <a:p>
              <a:pPr algn="ctr"/>
              <a:r>
                <a:rPr lang="es-ES" sz="1400" dirty="0"/>
                <a:t>Un modelo de Gobernanza para datos estructurados y no estructurados + IA</a:t>
              </a:r>
            </a:p>
          </p:txBody>
        </p:sp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85130D38-DEFA-7DB9-9A1B-E20C55A27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71024" y="4118142"/>
              <a:ext cx="3414360" cy="1009973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36726BB7-D2C5-688D-6823-4755EF87D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45964" y="4143915"/>
              <a:ext cx="1427445" cy="958427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E0D91B00-8C06-0A51-D29A-CA3FFF8012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2093" y="4165215"/>
              <a:ext cx="2727336" cy="958427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AA4DC719-41DA-67B7-66B6-EE0AA3E0A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1328" y="1905671"/>
              <a:ext cx="3840970" cy="958427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5906C86C-1A2C-27DE-C7F6-0EF15F621FC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14588" y="1924791"/>
              <a:ext cx="2660708" cy="958427"/>
            </a:xfrm>
            <a:prstGeom prst="rect">
              <a:avLst/>
            </a:prstGeom>
          </p:spPr>
        </p:pic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89D8D5C6-5AE7-4E8A-08B7-6B3DF131D0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22673" y="2780928"/>
              <a:ext cx="1" cy="24386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3B06C496-57FF-7074-6DDB-7110402AFB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3768" y="2780928"/>
              <a:ext cx="0" cy="24386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de flecha 30">
              <a:extLst>
                <a:ext uri="{FF2B5EF4-FFF2-40B4-BE49-F238E27FC236}">
                  <a16:creationId xmlns:a16="http://schemas.microsoft.com/office/drawing/2014/main" id="{A5107DE7-24B2-D239-5540-3FF9654E50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60232" y="2799860"/>
              <a:ext cx="1" cy="24386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de flecha 31">
              <a:extLst>
                <a:ext uri="{FF2B5EF4-FFF2-40B4-BE49-F238E27FC236}">
                  <a16:creationId xmlns:a16="http://schemas.microsoft.com/office/drawing/2014/main" id="{D64C794D-FB7B-78AE-774A-267A5BAC61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1327" y="2799860"/>
              <a:ext cx="0" cy="24386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de flecha 32">
              <a:extLst>
                <a:ext uri="{FF2B5EF4-FFF2-40B4-BE49-F238E27FC236}">
                  <a16:creationId xmlns:a16="http://schemas.microsoft.com/office/drawing/2014/main" id="{9EEF8744-CF49-3954-1B8C-9EB164656E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6609" y="3916264"/>
              <a:ext cx="1" cy="24386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de flecha 33">
              <a:extLst>
                <a:ext uri="{FF2B5EF4-FFF2-40B4-BE49-F238E27FC236}">
                  <a16:creationId xmlns:a16="http://schemas.microsoft.com/office/drawing/2014/main" id="{6F1B3464-7ED6-AFB9-01B1-6226BADA7F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07704" y="3916264"/>
              <a:ext cx="0" cy="24386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de flecha 36">
              <a:extLst>
                <a:ext uri="{FF2B5EF4-FFF2-40B4-BE49-F238E27FC236}">
                  <a16:creationId xmlns:a16="http://schemas.microsoft.com/office/drawing/2014/main" id="{B317FD51-558E-68DE-4CF8-185E9F3055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38897" y="3899332"/>
              <a:ext cx="1" cy="24386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de flecha 37">
              <a:extLst>
                <a:ext uri="{FF2B5EF4-FFF2-40B4-BE49-F238E27FC236}">
                  <a16:creationId xmlns:a16="http://schemas.microsoft.com/office/drawing/2014/main" id="{DA2A08A0-29AD-C5B9-ACA8-E9F9772CBC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9992" y="3899332"/>
              <a:ext cx="0" cy="24386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de flecha 38">
              <a:extLst>
                <a:ext uri="{FF2B5EF4-FFF2-40B4-BE49-F238E27FC236}">
                  <a16:creationId xmlns:a16="http://schemas.microsoft.com/office/drawing/2014/main" id="{DDBBBCEF-4676-D1BA-4B33-64BCA569DC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7331" y="3916264"/>
              <a:ext cx="1" cy="24386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de flecha 39">
              <a:extLst>
                <a:ext uri="{FF2B5EF4-FFF2-40B4-BE49-F238E27FC236}">
                  <a16:creationId xmlns:a16="http://schemas.microsoft.com/office/drawing/2014/main" id="{7E923A42-A0C7-ED44-89BF-9409DC1DA7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18426" y="3916264"/>
              <a:ext cx="0" cy="24386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CuadroTexto 41">
            <a:extLst>
              <a:ext uri="{FF2B5EF4-FFF2-40B4-BE49-F238E27FC236}">
                <a16:creationId xmlns:a16="http://schemas.microsoft.com/office/drawing/2014/main" id="{8F21E845-8E91-22B2-0264-94A405A5CCEF}"/>
              </a:ext>
            </a:extLst>
          </p:cNvPr>
          <p:cNvSpPr txBox="1"/>
          <p:nvPr/>
        </p:nvSpPr>
        <p:spPr>
          <a:xfrm>
            <a:off x="736899" y="5169983"/>
            <a:ext cx="8083573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000" dirty="0">
                <a:latin typeface="Montserrat" panose="00000500000000000000" pitchFamily="2" charset="0"/>
              </a:rPr>
              <a:t>Una de las </a:t>
            </a:r>
            <a:r>
              <a:rPr lang="es-ES" sz="1000" dirty="0" err="1">
                <a:latin typeface="Montserrat" panose="00000500000000000000" pitchFamily="2" charset="0"/>
              </a:rPr>
              <a:t>caracteristicas</a:t>
            </a:r>
            <a:r>
              <a:rPr lang="es-ES" sz="1000" dirty="0">
                <a:latin typeface="Montserrat" panose="00000500000000000000" pitchFamily="2" charset="0"/>
              </a:rPr>
              <a:t> o capacidades mas importantes de UC en </a:t>
            </a:r>
            <a:r>
              <a:rPr lang="es-ES" sz="1000" dirty="0" err="1">
                <a:latin typeface="Montserrat" panose="00000500000000000000" pitchFamily="2" charset="0"/>
              </a:rPr>
              <a:t>Databricks</a:t>
            </a:r>
            <a:r>
              <a:rPr lang="es-ES" sz="1000" dirty="0">
                <a:latin typeface="Montserrat" panose="00000500000000000000" pitchFamily="2" charset="0"/>
              </a:rPr>
              <a:t> es la posibilidad de </a:t>
            </a:r>
            <a:r>
              <a:rPr lang="es-ES" sz="1000" b="1" dirty="0">
                <a:latin typeface="Montserrat" panose="00000500000000000000" pitchFamily="2" charset="0"/>
              </a:rPr>
              <a:t>unificar datos </a:t>
            </a:r>
            <a:r>
              <a:rPr lang="es-ES" sz="1000" dirty="0">
                <a:latin typeface="Montserrat" panose="00000500000000000000" pitchFamily="2" charset="0"/>
              </a:rPr>
              <a:t>provenientes de diferentes entornos o fuentes. </a:t>
            </a:r>
          </a:p>
        </p:txBody>
      </p:sp>
      <p:sp>
        <p:nvSpPr>
          <p:cNvPr id="43" name="Google Shape;303;g35ee5cc475b_0_63">
            <a:extLst>
              <a:ext uri="{FF2B5EF4-FFF2-40B4-BE49-F238E27FC236}">
                <a16:creationId xmlns:a16="http://schemas.microsoft.com/office/drawing/2014/main" id="{21D8FBB0-9EBE-FD8B-DBC6-73AB16F2055D}"/>
              </a:ext>
            </a:extLst>
          </p:cNvPr>
          <p:cNvSpPr txBox="1">
            <a:spLocks/>
          </p:cNvSpPr>
          <p:nvPr/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2 Introducción a UC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Unity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Catalog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Claves</a:t>
            </a:r>
          </a:p>
        </p:txBody>
      </p:sp>
    </p:spTree>
    <p:extLst>
      <p:ext uri="{BB962C8B-B14F-4D97-AF65-F5344CB8AC3E}">
        <p14:creationId xmlns:p14="http://schemas.microsoft.com/office/powerpoint/2010/main" val="1753048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DC207-B2F5-4757-F34B-26504C75B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E965E18E-19E7-F3F4-E29A-2A544AD52D84}"/>
              </a:ext>
            </a:extLst>
          </p:cNvPr>
          <p:cNvGrpSpPr/>
          <p:nvPr/>
        </p:nvGrpSpPr>
        <p:grpSpPr>
          <a:xfrm>
            <a:off x="4644008" y="1772816"/>
            <a:ext cx="3960440" cy="3241721"/>
            <a:chOff x="395001" y="2473527"/>
            <a:chExt cx="3816959" cy="2224149"/>
          </a:xfrm>
        </p:grpSpPr>
        <p:sp>
          <p:nvSpPr>
            <p:cNvPr id="5" name="Google Shape;2204;p106">
              <a:extLst>
                <a:ext uri="{FF2B5EF4-FFF2-40B4-BE49-F238E27FC236}">
                  <a16:creationId xmlns:a16="http://schemas.microsoft.com/office/drawing/2014/main" id="{55D0B4F0-EA46-F99F-06F4-E2AC20B44B2C}"/>
                </a:ext>
              </a:extLst>
            </p:cNvPr>
            <p:cNvSpPr/>
            <p:nvPr/>
          </p:nvSpPr>
          <p:spPr>
            <a:xfrm>
              <a:off x="1909074" y="2473527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0B3E1362-6815-9AFB-C3DE-EEE38C37CB60}"/>
                </a:ext>
              </a:extLst>
            </p:cNvPr>
            <p:cNvSpPr txBox="1"/>
            <p:nvPr/>
          </p:nvSpPr>
          <p:spPr>
            <a:xfrm>
              <a:off x="1889154" y="2539961"/>
              <a:ext cx="86409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METASTORE</a:t>
              </a:r>
              <a:endParaRPr lang="es-ES" sz="8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" name="Google Shape;2204;p106">
              <a:extLst>
                <a:ext uri="{FF2B5EF4-FFF2-40B4-BE49-F238E27FC236}">
                  <a16:creationId xmlns:a16="http://schemas.microsoft.com/office/drawing/2014/main" id="{5411CB6E-3DF9-8A3B-644D-A5364E7F0A4B}"/>
                </a:ext>
              </a:extLst>
            </p:cNvPr>
            <p:cNvSpPr/>
            <p:nvPr/>
          </p:nvSpPr>
          <p:spPr>
            <a:xfrm>
              <a:off x="1909074" y="3017535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D182A5E1-57C4-FA51-EE2F-76F2E3BD50E5}"/>
                </a:ext>
              </a:extLst>
            </p:cNvPr>
            <p:cNvSpPr txBox="1"/>
            <p:nvPr/>
          </p:nvSpPr>
          <p:spPr>
            <a:xfrm>
              <a:off x="1909074" y="3097903"/>
              <a:ext cx="79208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CATALOG</a:t>
              </a:r>
              <a:endParaRPr lang="es-ES" sz="8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9" name="Google Shape;2204;p106">
              <a:extLst>
                <a:ext uri="{FF2B5EF4-FFF2-40B4-BE49-F238E27FC236}">
                  <a16:creationId xmlns:a16="http://schemas.microsoft.com/office/drawing/2014/main" id="{33820760-7E40-527F-01F7-5B0E6377E939}"/>
                </a:ext>
              </a:extLst>
            </p:cNvPr>
            <p:cNvSpPr/>
            <p:nvPr/>
          </p:nvSpPr>
          <p:spPr>
            <a:xfrm>
              <a:off x="1907169" y="3604604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69FB0A2F-D5EB-0B1E-ED34-C0FEC365E6DA}"/>
                </a:ext>
              </a:extLst>
            </p:cNvPr>
            <p:cNvSpPr txBox="1"/>
            <p:nvPr/>
          </p:nvSpPr>
          <p:spPr>
            <a:xfrm>
              <a:off x="1907169" y="3684972"/>
              <a:ext cx="79208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SCHEMA</a:t>
              </a:r>
              <a:endParaRPr lang="es-ES" sz="8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1" name="Google Shape;2204;p106">
              <a:extLst>
                <a:ext uri="{FF2B5EF4-FFF2-40B4-BE49-F238E27FC236}">
                  <a16:creationId xmlns:a16="http://schemas.microsoft.com/office/drawing/2014/main" id="{4B7AE8BD-16E5-8ADB-71FE-EC8A92813567}"/>
                </a:ext>
              </a:extLst>
            </p:cNvPr>
            <p:cNvSpPr/>
            <p:nvPr/>
          </p:nvSpPr>
          <p:spPr>
            <a:xfrm>
              <a:off x="395001" y="4349364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61E77B5F-AC15-2612-E680-851D8B7D5307}"/>
                </a:ext>
              </a:extLst>
            </p:cNvPr>
            <p:cNvSpPr txBox="1"/>
            <p:nvPr/>
          </p:nvSpPr>
          <p:spPr>
            <a:xfrm>
              <a:off x="395001" y="4429732"/>
              <a:ext cx="79208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TABLE</a:t>
              </a:r>
              <a:endParaRPr lang="es-ES" sz="8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7" name="Google Shape;2204;p106">
              <a:extLst>
                <a:ext uri="{FF2B5EF4-FFF2-40B4-BE49-F238E27FC236}">
                  <a16:creationId xmlns:a16="http://schemas.microsoft.com/office/drawing/2014/main" id="{4121D988-F05F-DEC8-BD59-26352DA06661}"/>
                </a:ext>
              </a:extLst>
            </p:cNvPr>
            <p:cNvSpPr/>
            <p:nvPr/>
          </p:nvSpPr>
          <p:spPr>
            <a:xfrm>
              <a:off x="1403113" y="4349364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9337867A-EE55-0D71-A3AB-E0D80C3DBBBE}"/>
                </a:ext>
              </a:extLst>
            </p:cNvPr>
            <p:cNvSpPr txBox="1"/>
            <p:nvPr/>
          </p:nvSpPr>
          <p:spPr>
            <a:xfrm>
              <a:off x="1403113" y="4429732"/>
              <a:ext cx="79208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VIEW</a:t>
              </a:r>
              <a:endParaRPr lang="es-ES" sz="8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9" name="Google Shape;2204;p106">
              <a:extLst>
                <a:ext uri="{FF2B5EF4-FFF2-40B4-BE49-F238E27FC236}">
                  <a16:creationId xmlns:a16="http://schemas.microsoft.com/office/drawing/2014/main" id="{4E87FAE6-E6EB-7C14-6367-EC2F08D5CEB6}"/>
                </a:ext>
              </a:extLst>
            </p:cNvPr>
            <p:cNvSpPr/>
            <p:nvPr/>
          </p:nvSpPr>
          <p:spPr>
            <a:xfrm>
              <a:off x="2411760" y="4335738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7D10C964-35C3-67E8-3E68-5B283A52438B}"/>
                </a:ext>
              </a:extLst>
            </p:cNvPr>
            <p:cNvSpPr txBox="1"/>
            <p:nvPr/>
          </p:nvSpPr>
          <p:spPr>
            <a:xfrm>
              <a:off x="2411760" y="4416106"/>
              <a:ext cx="79208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VOLUME</a:t>
              </a:r>
              <a:endParaRPr lang="es-ES" sz="8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1" name="Google Shape;2204;p106">
              <a:extLst>
                <a:ext uri="{FF2B5EF4-FFF2-40B4-BE49-F238E27FC236}">
                  <a16:creationId xmlns:a16="http://schemas.microsoft.com/office/drawing/2014/main" id="{3FD96C8C-D324-C70F-6CAF-661311CB7A44}"/>
                </a:ext>
              </a:extLst>
            </p:cNvPr>
            <p:cNvSpPr/>
            <p:nvPr/>
          </p:nvSpPr>
          <p:spPr>
            <a:xfrm>
              <a:off x="3419872" y="4335738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C2945474-89D3-60DD-1322-2BBCD2006BCB}"/>
                </a:ext>
              </a:extLst>
            </p:cNvPr>
            <p:cNvSpPr txBox="1"/>
            <p:nvPr/>
          </p:nvSpPr>
          <p:spPr>
            <a:xfrm>
              <a:off x="3419872" y="4416106"/>
              <a:ext cx="79208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FUNCTION</a:t>
              </a:r>
              <a:endParaRPr lang="es-ES" sz="8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B236CB42-297E-E5FC-D9F0-D604E91AB2B1}"/>
                </a:ext>
              </a:extLst>
            </p:cNvPr>
            <p:cNvCxnSpPr>
              <a:stCxn id="5" idx="2"/>
              <a:endCxn id="7" idx="0"/>
            </p:cNvCxnSpPr>
            <p:nvPr/>
          </p:nvCxnSpPr>
          <p:spPr>
            <a:xfrm>
              <a:off x="2305118" y="2821839"/>
              <a:ext cx="0" cy="19569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AB80FBB4-7DFB-E7CE-BE92-8EFC0C37390D}"/>
                </a:ext>
              </a:extLst>
            </p:cNvPr>
            <p:cNvCxnSpPr>
              <a:cxnSpLocks/>
              <a:stCxn id="7" idx="2"/>
              <a:endCxn id="9" idx="0"/>
            </p:cNvCxnSpPr>
            <p:nvPr/>
          </p:nvCxnSpPr>
          <p:spPr>
            <a:xfrm flipH="1">
              <a:off x="2303213" y="3365847"/>
              <a:ext cx="1905" cy="23875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: angular 31">
              <a:extLst>
                <a:ext uri="{FF2B5EF4-FFF2-40B4-BE49-F238E27FC236}">
                  <a16:creationId xmlns:a16="http://schemas.microsoft.com/office/drawing/2014/main" id="{637E8983-DD7E-5783-40CC-299B42F5E7FE}"/>
                </a:ext>
              </a:extLst>
            </p:cNvPr>
            <p:cNvCxnSpPr>
              <a:stCxn id="9" idx="2"/>
              <a:endCxn id="11" idx="0"/>
            </p:cNvCxnSpPr>
            <p:nvPr/>
          </p:nvCxnSpPr>
          <p:spPr>
            <a:xfrm rot="5400000">
              <a:off x="1348905" y="3395056"/>
              <a:ext cx="396448" cy="1512168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: angular 32">
              <a:extLst>
                <a:ext uri="{FF2B5EF4-FFF2-40B4-BE49-F238E27FC236}">
                  <a16:creationId xmlns:a16="http://schemas.microsoft.com/office/drawing/2014/main" id="{E4D19E2D-C67B-067B-0A95-B07B380A9864}"/>
                </a:ext>
              </a:extLst>
            </p:cNvPr>
            <p:cNvCxnSpPr>
              <a:cxnSpLocks/>
              <a:stCxn id="9" idx="2"/>
              <a:endCxn id="17" idx="0"/>
            </p:cNvCxnSpPr>
            <p:nvPr/>
          </p:nvCxnSpPr>
          <p:spPr>
            <a:xfrm rot="5400000">
              <a:off x="1852961" y="3899112"/>
              <a:ext cx="396448" cy="50405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: angular 35">
              <a:extLst>
                <a:ext uri="{FF2B5EF4-FFF2-40B4-BE49-F238E27FC236}">
                  <a16:creationId xmlns:a16="http://schemas.microsoft.com/office/drawing/2014/main" id="{13DEE937-FD62-921F-D197-D2F0B56FED9A}"/>
                </a:ext>
              </a:extLst>
            </p:cNvPr>
            <p:cNvCxnSpPr>
              <a:cxnSpLocks/>
              <a:stCxn id="9" idx="2"/>
              <a:endCxn id="19" idx="0"/>
            </p:cNvCxnSpPr>
            <p:nvPr/>
          </p:nvCxnSpPr>
          <p:spPr>
            <a:xfrm rot="16200000" flipH="1">
              <a:off x="2364097" y="3892031"/>
              <a:ext cx="382822" cy="504591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: angular 38">
              <a:extLst>
                <a:ext uri="{FF2B5EF4-FFF2-40B4-BE49-F238E27FC236}">
                  <a16:creationId xmlns:a16="http://schemas.microsoft.com/office/drawing/2014/main" id="{B300E3EE-4B4F-C265-09F8-FAC884CB5EFB}"/>
                </a:ext>
              </a:extLst>
            </p:cNvPr>
            <p:cNvCxnSpPr>
              <a:cxnSpLocks/>
              <a:stCxn id="9" idx="2"/>
              <a:endCxn id="21" idx="0"/>
            </p:cNvCxnSpPr>
            <p:nvPr/>
          </p:nvCxnSpPr>
          <p:spPr>
            <a:xfrm rot="16200000" flipH="1">
              <a:off x="2868153" y="3387975"/>
              <a:ext cx="382822" cy="1512703"/>
            </a:xfrm>
            <a:prstGeom prst="bentConnector3">
              <a:avLst>
                <a:gd name="adj1" fmla="val 50001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Google Shape;303;g35ee5cc475b_0_63">
            <a:extLst>
              <a:ext uri="{FF2B5EF4-FFF2-40B4-BE49-F238E27FC236}">
                <a16:creationId xmlns:a16="http://schemas.microsoft.com/office/drawing/2014/main" id="{11FBCB0C-D18B-6C8F-5A2B-0A526EFBFF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7369" y="233041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2 Introducción a UC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Repaso Objetos en UC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Google Shape;2204;p106">
            <a:extLst>
              <a:ext uri="{FF2B5EF4-FFF2-40B4-BE49-F238E27FC236}">
                <a16:creationId xmlns:a16="http://schemas.microsoft.com/office/drawing/2014/main" id="{610DEF20-929A-09E9-8E31-1B77FA2D48F7}"/>
              </a:ext>
            </a:extLst>
          </p:cNvPr>
          <p:cNvSpPr/>
          <p:nvPr/>
        </p:nvSpPr>
        <p:spPr>
          <a:xfrm>
            <a:off x="628650" y="1412776"/>
            <a:ext cx="3583310" cy="9203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38100" rIns="1097275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BE31528-EF3D-AC11-FB7F-26B0FF991974}"/>
              </a:ext>
            </a:extLst>
          </p:cNvPr>
          <p:cNvSpPr txBox="1"/>
          <p:nvPr/>
        </p:nvSpPr>
        <p:spPr>
          <a:xfrm>
            <a:off x="628651" y="1524745"/>
            <a:ext cx="3511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b="1" dirty="0">
                <a:latin typeface="Montserrat" panose="00000500000000000000" pitchFamily="2" charset="0"/>
              </a:rPr>
              <a:t>Nivel 1 — Catálogo </a:t>
            </a:r>
            <a:r>
              <a:rPr lang="es-ES" sz="900" dirty="0">
                <a:latin typeface="Montserrat" panose="00000500000000000000" pitchFamily="2" charset="0"/>
              </a:rPr>
              <a:t>(máximo nivel de organización y gobernanza)Agrupa y aísla los recursos de datos a nivel corporativo. Normalmente refleja unidades organizativas, entornos (</a:t>
            </a:r>
            <a:r>
              <a:rPr lang="es-ES" sz="900" dirty="0" err="1">
                <a:latin typeface="Montserrat" panose="00000500000000000000" pitchFamily="2" charset="0"/>
              </a:rPr>
              <a:t>dev</a:t>
            </a:r>
            <a:r>
              <a:rPr lang="es-ES" sz="900" dirty="0">
                <a:latin typeface="Montserrat" panose="00000500000000000000" pitchFamily="2" charset="0"/>
              </a:rPr>
              <a:t>/test/</a:t>
            </a:r>
            <a:r>
              <a:rPr lang="es-ES" sz="900" dirty="0" err="1">
                <a:latin typeface="Montserrat" panose="00000500000000000000" pitchFamily="2" charset="0"/>
              </a:rPr>
              <a:t>prod</a:t>
            </a:r>
            <a:r>
              <a:rPr lang="es-ES" sz="900" dirty="0">
                <a:latin typeface="Montserrat" panose="00000500000000000000" pitchFamily="2" charset="0"/>
              </a:rPr>
              <a:t>) o dominios globales.</a:t>
            </a:r>
          </a:p>
        </p:txBody>
      </p:sp>
      <p:sp>
        <p:nvSpPr>
          <p:cNvPr id="14" name="Google Shape;2204;p106">
            <a:extLst>
              <a:ext uri="{FF2B5EF4-FFF2-40B4-BE49-F238E27FC236}">
                <a16:creationId xmlns:a16="http://schemas.microsoft.com/office/drawing/2014/main" id="{66CCCBA8-1EEF-7300-5D8B-3FD585DC3AE5}"/>
              </a:ext>
            </a:extLst>
          </p:cNvPr>
          <p:cNvSpPr/>
          <p:nvPr/>
        </p:nvSpPr>
        <p:spPr>
          <a:xfrm>
            <a:off x="642274" y="2679726"/>
            <a:ext cx="3583310" cy="9203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38100" rIns="1097275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2EF5BE7-B6B9-F854-BAC2-429EDF794E67}"/>
              </a:ext>
            </a:extLst>
          </p:cNvPr>
          <p:cNvSpPr txBox="1"/>
          <p:nvPr/>
        </p:nvSpPr>
        <p:spPr>
          <a:xfrm>
            <a:off x="642275" y="2791695"/>
            <a:ext cx="3511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b="1" dirty="0">
                <a:latin typeface="Montserrat" panose="00000500000000000000" pitchFamily="2" charset="0"/>
              </a:rPr>
              <a:t>Nivel 2 — Esquema </a:t>
            </a:r>
            <a:r>
              <a:rPr lang="es-ES" sz="900" dirty="0">
                <a:latin typeface="Montserrat" panose="00000500000000000000" pitchFamily="2" charset="0"/>
              </a:rPr>
              <a:t>(espacio lógico de trabajo por proyecto o equipo) Subdivisión dentro del catálogo para organizar datos por caso de uso, área funcional o equipo de trabajo, aislando su contexto operativo.</a:t>
            </a:r>
          </a:p>
        </p:txBody>
      </p:sp>
      <p:sp>
        <p:nvSpPr>
          <p:cNvPr id="16" name="Google Shape;2204;p106">
            <a:extLst>
              <a:ext uri="{FF2B5EF4-FFF2-40B4-BE49-F238E27FC236}">
                <a16:creationId xmlns:a16="http://schemas.microsoft.com/office/drawing/2014/main" id="{AAB96288-4817-7CD6-7EE5-10C0529EE7CE}"/>
              </a:ext>
            </a:extLst>
          </p:cNvPr>
          <p:cNvSpPr/>
          <p:nvPr/>
        </p:nvSpPr>
        <p:spPr>
          <a:xfrm>
            <a:off x="637369" y="3946676"/>
            <a:ext cx="3583310" cy="15340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38100" rIns="1097275" bIns="38100" anchor="ctr" anchorCtr="0">
            <a:noAutofit/>
          </a:bodyPr>
          <a:lstStyle/>
          <a:p>
            <a:endParaRPr lang="es-ES" sz="800" dirty="0">
              <a:latin typeface="Montserrat" panose="00000500000000000000" pitchFamily="2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998197C-4B42-8E66-1F4D-04077B82EC00}"/>
              </a:ext>
            </a:extLst>
          </p:cNvPr>
          <p:cNvSpPr txBox="1"/>
          <p:nvPr/>
        </p:nvSpPr>
        <p:spPr>
          <a:xfrm>
            <a:off x="708751" y="4064925"/>
            <a:ext cx="351130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b="1" dirty="0">
                <a:latin typeface="Montserrat" panose="00000500000000000000" pitchFamily="2" charset="0"/>
              </a:rPr>
              <a:t>Nivel 3 — Objetos </a:t>
            </a:r>
            <a:r>
              <a:rPr lang="es-ES" sz="900" dirty="0">
                <a:latin typeface="Montserrat" panose="00000500000000000000" pitchFamily="2" charset="0"/>
              </a:rPr>
              <a:t>(donde realmente residen o se consumen los datos)</a:t>
            </a:r>
          </a:p>
          <a:p>
            <a:r>
              <a:rPr lang="es-ES" sz="900" dirty="0">
                <a:latin typeface="Montserrat" panose="00000500000000000000" pitchFamily="2" charset="0"/>
              </a:rPr>
              <a:t>Elementos concretos dentro del esquema:</a:t>
            </a:r>
          </a:p>
          <a:p>
            <a:r>
              <a:rPr lang="es-ES" sz="900" dirty="0">
                <a:latin typeface="Montserrat" panose="00000500000000000000" pitchFamily="2" charset="0"/>
              </a:rPr>
              <a:t>Tablas → datos estructurados gestionados por UC</a:t>
            </a:r>
          </a:p>
          <a:p>
            <a:r>
              <a:rPr lang="es-ES" sz="900" dirty="0">
                <a:latin typeface="Montserrat" panose="00000500000000000000" pitchFamily="2" charset="0"/>
              </a:rPr>
              <a:t>Vistas → consultas reutilizables y gobernadas</a:t>
            </a:r>
          </a:p>
          <a:p>
            <a:r>
              <a:rPr lang="es-ES" sz="900" dirty="0">
                <a:latin typeface="Montserrat" panose="00000500000000000000" pitchFamily="2" charset="0"/>
              </a:rPr>
              <a:t>Volúmenes → archivos crudos o semiestructurados en </a:t>
            </a:r>
            <a:r>
              <a:rPr lang="es-ES" sz="900" dirty="0" err="1">
                <a:latin typeface="Montserrat" panose="00000500000000000000" pitchFamily="2" charset="0"/>
              </a:rPr>
              <a:t>cloud</a:t>
            </a:r>
            <a:r>
              <a:rPr lang="es-ES" sz="900" dirty="0">
                <a:latin typeface="Montserrat" panose="00000500000000000000" pitchFamily="2" charset="0"/>
              </a:rPr>
              <a:t> </a:t>
            </a:r>
            <a:r>
              <a:rPr lang="es-ES" sz="900" dirty="0" err="1">
                <a:latin typeface="Montserrat" panose="00000500000000000000" pitchFamily="2" charset="0"/>
              </a:rPr>
              <a:t>storage</a:t>
            </a:r>
            <a:endParaRPr lang="es-ES" sz="900" dirty="0">
              <a:latin typeface="Montserrat" panose="00000500000000000000" pitchFamily="2" charset="0"/>
            </a:endParaRPr>
          </a:p>
          <a:p>
            <a:r>
              <a:rPr lang="es-ES" sz="900" dirty="0">
                <a:latin typeface="Montserrat" panose="00000500000000000000" pitchFamily="2" charset="0"/>
              </a:rPr>
              <a:t>Funciones → lógica reutilizable para transformar o proteger datos</a:t>
            </a:r>
          </a:p>
        </p:txBody>
      </p:sp>
    </p:spTree>
    <p:extLst>
      <p:ext uri="{BB962C8B-B14F-4D97-AF65-F5344CB8AC3E}">
        <p14:creationId xmlns:p14="http://schemas.microsoft.com/office/powerpoint/2010/main" val="1065100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5ECF3-BB85-ABD3-7D2C-B7C1ADD8A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303;g35ee5cc475b_0_63">
            <a:extLst>
              <a:ext uri="{FF2B5EF4-FFF2-40B4-BE49-F238E27FC236}">
                <a16:creationId xmlns:a16="http://schemas.microsoft.com/office/drawing/2014/main" id="{0FF7534F-182D-A349-33EB-70B098DB26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7369" y="233041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2 Introducción a UC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Intro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Control de Accesos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grpSp>
        <p:nvGrpSpPr>
          <p:cNvPr id="88" name="Grupo 87">
            <a:extLst>
              <a:ext uri="{FF2B5EF4-FFF2-40B4-BE49-F238E27FC236}">
                <a16:creationId xmlns:a16="http://schemas.microsoft.com/office/drawing/2014/main" id="{253E5A63-410F-AAF0-DE5B-19D0ADDD21A1}"/>
              </a:ext>
            </a:extLst>
          </p:cNvPr>
          <p:cNvGrpSpPr/>
          <p:nvPr/>
        </p:nvGrpSpPr>
        <p:grpSpPr>
          <a:xfrm>
            <a:off x="1835696" y="1772816"/>
            <a:ext cx="6336704" cy="3830727"/>
            <a:chOff x="899592" y="1830521"/>
            <a:chExt cx="6336704" cy="3830727"/>
          </a:xfrm>
        </p:grpSpPr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834C366A-96FC-DF21-01BE-2406A8B9ED09}"/>
                </a:ext>
              </a:extLst>
            </p:cNvPr>
            <p:cNvSpPr/>
            <p:nvPr/>
          </p:nvSpPr>
          <p:spPr>
            <a:xfrm>
              <a:off x="899592" y="2417551"/>
              <a:ext cx="6336704" cy="3243697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31" name="Grupo 30">
              <a:extLst>
                <a:ext uri="{FF2B5EF4-FFF2-40B4-BE49-F238E27FC236}">
                  <a16:creationId xmlns:a16="http://schemas.microsoft.com/office/drawing/2014/main" id="{FD62C77D-0FB6-FD89-D41F-766A8016EEF5}"/>
                </a:ext>
              </a:extLst>
            </p:cNvPr>
            <p:cNvGrpSpPr/>
            <p:nvPr/>
          </p:nvGrpSpPr>
          <p:grpSpPr>
            <a:xfrm>
              <a:off x="2915816" y="2669588"/>
              <a:ext cx="896578" cy="360040"/>
              <a:chOff x="2953967" y="1988840"/>
              <a:chExt cx="896578" cy="507668"/>
            </a:xfrm>
          </p:grpSpPr>
          <p:sp>
            <p:nvSpPr>
              <p:cNvPr id="5" name="Google Shape;2204;p106">
                <a:extLst>
                  <a:ext uri="{FF2B5EF4-FFF2-40B4-BE49-F238E27FC236}">
                    <a16:creationId xmlns:a16="http://schemas.microsoft.com/office/drawing/2014/main" id="{F82120AF-EE5C-8AFA-C4E2-6FAEB746E59F}"/>
                  </a:ext>
                </a:extLst>
              </p:cNvPr>
              <p:cNvSpPr/>
              <p:nvPr/>
            </p:nvSpPr>
            <p:spPr>
              <a:xfrm>
                <a:off x="2974636" y="1988840"/>
                <a:ext cx="821863" cy="507668"/>
              </a:xfrm>
              <a:prstGeom prst="rect">
                <a:avLst/>
              </a:prstGeom>
              <a:solidFill>
                <a:srgbClr val="203864"/>
              </a:solidFill>
              <a:ln>
                <a:noFill/>
              </a:ln>
            </p:spPr>
            <p:txBody>
              <a:bodyPr spcFirstLastPara="1" wrap="square" lIns="91425" tIns="38100" rIns="1097275" bIns="381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dirty="0"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5C38F02C-749C-6C2F-A5C1-C80B8C3E6C05}"/>
                  </a:ext>
                </a:extLst>
              </p:cNvPr>
              <p:cNvSpPr txBox="1"/>
              <p:nvPr/>
            </p:nvSpPr>
            <p:spPr>
              <a:xfrm>
                <a:off x="2953967" y="2085668"/>
                <a:ext cx="89657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" sz="800" b="1" i="0" dirty="0" err="1">
                    <a:solidFill>
                      <a:schemeClr val="bg1"/>
                    </a:solidFill>
                    <a:effectLst/>
                    <a:latin typeface="Montserrat" panose="00000500000000000000" pitchFamily="2" charset="0"/>
                  </a:rPr>
                  <a:t>Metastore</a:t>
                </a:r>
                <a:endPara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38" name="Grupo 37">
              <a:extLst>
                <a:ext uri="{FF2B5EF4-FFF2-40B4-BE49-F238E27FC236}">
                  <a16:creationId xmlns:a16="http://schemas.microsoft.com/office/drawing/2014/main" id="{174CB108-30A0-CA43-B642-5DCFE911ABD2}"/>
                </a:ext>
              </a:extLst>
            </p:cNvPr>
            <p:cNvGrpSpPr/>
            <p:nvPr/>
          </p:nvGrpSpPr>
          <p:grpSpPr>
            <a:xfrm>
              <a:off x="1475655" y="3352482"/>
              <a:ext cx="821864" cy="360040"/>
              <a:chOff x="1903619" y="3362586"/>
              <a:chExt cx="821864" cy="507668"/>
            </a:xfrm>
          </p:grpSpPr>
          <p:sp>
            <p:nvSpPr>
              <p:cNvPr id="7" name="Google Shape;2204;p106">
                <a:extLst>
                  <a:ext uri="{FF2B5EF4-FFF2-40B4-BE49-F238E27FC236}">
                    <a16:creationId xmlns:a16="http://schemas.microsoft.com/office/drawing/2014/main" id="{F01B8B74-F35E-C70F-06DD-1E9D25125CDA}"/>
                  </a:ext>
                </a:extLst>
              </p:cNvPr>
              <p:cNvSpPr/>
              <p:nvPr/>
            </p:nvSpPr>
            <p:spPr>
              <a:xfrm>
                <a:off x="1903620" y="3362586"/>
                <a:ext cx="821863" cy="507668"/>
              </a:xfrm>
              <a:prstGeom prst="rect">
                <a:avLst/>
              </a:prstGeom>
              <a:solidFill>
                <a:srgbClr val="203864"/>
              </a:solidFill>
              <a:ln>
                <a:noFill/>
              </a:ln>
            </p:spPr>
            <p:txBody>
              <a:bodyPr spcFirstLastPara="1" wrap="square" lIns="91425" tIns="38100" rIns="1097275" bIns="381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dirty="0"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D3A22BA-DAAB-8E5F-44B7-67188A167A13}"/>
                  </a:ext>
                </a:extLst>
              </p:cNvPr>
              <p:cNvSpPr txBox="1"/>
              <p:nvPr/>
            </p:nvSpPr>
            <p:spPr>
              <a:xfrm>
                <a:off x="1903619" y="3451989"/>
                <a:ext cx="82186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" sz="800" b="1" i="0" dirty="0">
                    <a:solidFill>
                      <a:schemeClr val="bg1"/>
                    </a:solidFill>
                    <a:effectLst/>
                    <a:latin typeface="Montserrat" panose="00000500000000000000" pitchFamily="2" charset="0"/>
                  </a:rPr>
                  <a:t>Catalog1</a:t>
                </a:r>
                <a:endPara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ED166383-94B5-0620-77E6-4E0DA12DE9E9}"/>
                </a:ext>
              </a:extLst>
            </p:cNvPr>
            <p:cNvGrpSpPr/>
            <p:nvPr/>
          </p:nvGrpSpPr>
          <p:grpSpPr>
            <a:xfrm>
              <a:off x="2297518" y="4105338"/>
              <a:ext cx="821863" cy="360040"/>
              <a:chOff x="3402256" y="4040930"/>
              <a:chExt cx="821863" cy="507668"/>
            </a:xfrm>
          </p:grpSpPr>
          <p:sp>
            <p:nvSpPr>
              <p:cNvPr id="9" name="Google Shape;2204;p106">
                <a:extLst>
                  <a:ext uri="{FF2B5EF4-FFF2-40B4-BE49-F238E27FC236}">
                    <a16:creationId xmlns:a16="http://schemas.microsoft.com/office/drawing/2014/main" id="{8AB2180A-4012-3C9F-5294-0D0EA964358A}"/>
                  </a:ext>
                </a:extLst>
              </p:cNvPr>
              <p:cNvSpPr/>
              <p:nvPr/>
            </p:nvSpPr>
            <p:spPr>
              <a:xfrm>
                <a:off x="3402256" y="4040930"/>
                <a:ext cx="821863" cy="507668"/>
              </a:xfrm>
              <a:prstGeom prst="rect">
                <a:avLst/>
              </a:prstGeom>
              <a:solidFill>
                <a:srgbClr val="203864"/>
              </a:solidFill>
              <a:ln>
                <a:noFill/>
              </a:ln>
            </p:spPr>
            <p:txBody>
              <a:bodyPr spcFirstLastPara="1" wrap="square" lIns="91425" tIns="38100" rIns="1097275" bIns="381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dirty="0"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53DA60F-464A-4AC0-A776-27E2FFDFAFDD}"/>
                  </a:ext>
                </a:extLst>
              </p:cNvPr>
              <p:cNvSpPr txBox="1"/>
              <p:nvPr/>
            </p:nvSpPr>
            <p:spPr>
              <a:xfrm>
                <a:off x="3402256" y="4158067"/>
                <a:ext cx="82186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" sz="800" b="1" i="0" dirty="0">
                    <a:solidFill>
                      <a:schemeClr val="bg1"/>
                    </a:solidFill>
                    <a:effectLst/>
                    <a:latin typeface="Montserrat" panose="00000500000000000000" pitchFamily="2" charset="0"/>
                  </a:rPr>
                  <a:t>Schema1</a:t>
                </a:r>
                <a:endPara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cxnSp>
          <p:nvCxnSpPr>
            <p:cNvPr id="28" name="Conector recto de flecha 27">
              <a:extLst>
                <a:ext uri="{FF2B5EF4-FFF2-40B4-BE49-F238E27FC236}">
                  <a16:creationId xmlns:a16="http://schemas.microsoft.com/office/drawing/2014/main" id="{61E0EA9A-7EE7-F173-CA21-054CE2423076}"/>
                </a:ext>
              </a:extLst>
            </p:cNvPr>
            <p:cNvCxnSpPr>
              <a:cxnSpLocks/>
              <a:stCxn id="5" idx="2"/>
              <a:endCxn id="7" idx="0"/>
            </p:cNvCxnSpPr>
            <p:nvPr/>
          </p:nvCxnSpPr>
          <p:spPr>
            <a:xfrm rot="5400000">
              <a:off x="2455576" y="2460641"/>
              <a:ext cx="322854" cy="1460829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de flecha 28">
              <a:extLst>
                <a:ext uri="{FF2B5EF4-FFF2-40B4-BE49-F238E27FC236}">
                  <a16:creationId xmlns:a16="http://schemas.microsoft.com/office/drawing/2014/main" id="{E392CA7B-4E19-1275-C326-AB268B1C893B}"/>
                </a:ext>
              </a:extLst>
            </p:cNvPr>
            <p:cNvCxnSpPr>
              <a:cxnSpLocks/>
              <a:stCxn id="7" idx="2"/>
              <a:endCxn id="10" idx="1"/>
            </p:cNvCxnSpPr>
            <p:nvPr/>
          </p:nvCxnSpPr>
          <p:spPr>
            <a:xfrm rot="16200000" flipH="1">
              <a:off x="1815910" y="3783200"/>
              <a:ext cx="552287" cy="410930"/>
            </a:xfrm>
            <a:prstGeom prst="bentConnector2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41EC6628-DDDA-CFBF-9080-DE6839004597}"/>
                </a:ext>
              </a:extLst>
            </p:cNvPr>
            <p:cNvGrpSpPr/>
            <p:nvPr/>
          </p:nvGrpSpPr>
          <p:grpSpPr>
            <a:xfrm>
              <a:off x="2297518" y="4858194"/>
              <a:ext cx="821863" cy="360040"/>
              <a:chOff x="3402256" y="4040930"/>
              <a:chExt cx="821863" cy="507668"/>
            </a:xfrm>
          </p:grpSpPr>
          <p:sp>
            <p:nvSpPr>
              <p:cNvPr id="44" name="Google Shape;2204;p106">
                <a:extLst>
                  <a:ext uri="{FF2B5EF4-FFF2-40B4-BE49-F238E27FC236}">
                    <a16:creationId xmlns:a16="http://schemas.microsoft.com/office/drawing/2014/main" id="{D97A3181-94EB-480A-45DA-16BEB3A657BA}"/>
                  </a:ext>
                </a:extLst>
              </p:cNvPr>
              <p:cNvSpPr/>
              <p:nvPr/>
            </p:nvSpPr>
            <p:spPr>
              <a:xfrm>
                <a:off x="3402256" y="4040930"/>
                <a:ext cx="821863" cy="507668"/>
              </a:xfrm>
              <a:prstGeom prst="rect">
                <a:avLst/>
              </a:prstGeom>
              <a:solidFill>
                <a:srgbClr val="203864"/>
              </a:solidFill>
              <a:ln>
                <a:noFill/>
              </a:ln>
            </p:spPr>
            <p:txBody>
              <a:bodyPr spcFirstLastPara="1" wrap="square" lIns="91425" tIns="38100" rIns="1097275" bIns="381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dirty="0"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245813C1-3331-E8DA-D60D-3BCA99F79209}"/>
                  </a:ext>
                </a:extLst>
              </p:cNvPr>
              <p:cNvSpPr txBox="1"/>
              <p:nvPr/>
            </p:nvSpPr>
            <p:spPr>
              <a:xfrm>
                <a:off x="3402256" y="4158067"/>
                <a:ext cx="82186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" sz="800" b="1" i="0" dirty="0">
                    <a:solidFill>
                      <a:schemeClr val="bg1"/>
                    </a:solidFill>
                    <a:effectLst/>
                    <a:latin typeface="Montserrat" panose="00000500000000000000" pitchFamily="2" charset="0"/>
                  </a:rPr>
                  <a:t>Schema2</a:t>
                </a:r>
                <a:endPara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cxnSp>
          <p:nvCxnSpPr>
            <p:cNvPr id="51" name="Conector recto de flecha 28">
              <a:extLst>
                <a:ext uri="{FF2B5EF4-FFF2-40B4-BE49-F238E27FC236}">
                  <a16:creationId xmlns:a16="http://schemas.microsoft.com/office/drawing/2014/main" id="{4B7ED5FF-B042-16EA-61FB-BB82428458C7}"/>
                </a:ext>
              </a:extLst>
            </p:cNvPr>
            <p:cNvCxnSpPr>
              <a:cxnSpLocks/>
              <a:stCxn id="7" idx="2"/>
              <a:endCxn id="46" idx="1"/>
            </p:cNvCxnSpPr>
            <p:nvPr/>
          </p:nvCxnSpPr>
          <p:spPr>
            <a:xfrm rot="16200000" flipH="1">
              <a:off x="1439482" y="4159628"/>
              <a:ext cx="1305143" cy="410930"/>
            </a:xfrm>
            <a:prstGeom prst="bentConnector2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o 53">
              <a:extLst>
                <a:ext uri="{FF2B5EF4-FFF2-40B4-BE49-F238E27FC236}">
                  <a16:creationId xmlns:a16="http://schemas.microsoft.com/office/drawing/2014/main" id="{39C7AF64-FC9C-1299-6973-514EEB206CCA}"/>
                </a:ext>
              </a:extLst>
            </p:cNvPr>
            <p:cNvGrpSpPr/>
            <p:nvPr/>
          </p:nvGrpSpPr>
          <p:grpSpPr>
            <a:xfrm>
              <a:off x="3995936" y="3352482"/>
              <a:ext cx="821864" cy="360040"/>
              <a:chOff x="1903619" y="3362586"/>
              <a:chExt cx="821864" cy="507668"/>
            </a:xfrm>
          </p:grpSpPr>
          <p:sp>
            <p:nvSpPr>
              <p:cNvPr id="55" name="Google Shape;2204;p106">
                <a:extLst>
                  <a:ext uri="{FF2B5EF4-FFF2-40B4-BE49-F238E27FC236}">
                    <a16:creationId xmlns:a16="http://schemas.microsoft.com/office/drawing/2014/main" id="{55ECE0D4-5659-9C3E-EB05-9BE754E2A4DB}"/>
                  </a:ext>
                </a:extLst>
              </p:cNvPr>
              <p:cNvSpPr/>
              <p:nvPr/>
            </p:nvSpPr>
            <p:spPr>
              <a:xfrm>
                <a:off x="1903620" y="3362586"/>
                <a:ext cx="821863" cy="507668"/>
              </a:xfrm>
              <a:prstGeom prst="rect">
                <a:avLst/>
              </a:prstGeom>
              <a:solidFill>
                <a:srgbClr val="203864"/>
              </a:solidFill>
              <a:ln>
                <a:noFill/>
              </a:ln>
            </p:spPr>
            <p:txBody>
              <a:bodyPr spcFirstLastPara="1" wrap="square" lIns="91425" tIns="38100" rIns="1097275" bIns="381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dirty="0"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319C501D-6471-B097-8C43-47A19363682C}"/>
                  </a:ext>
                </a:extLst>
              </p:cNvPr>
              <p:cNvSpPr txBox="1"/>
              <p:nvPr/>
            </p:nvSpPr>
            <p:spPr>
              <a:xfrm>
                <a:off x="1903619" y="3451989"/>
                <a:ext cx="821863" cy="3037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" sz="800" b="1" i="0" dirty="0">
                    <a:solidFill>
                      <a:schemeClr val="bg1"/>
                    </a:solidFill>
                    <a:effectLst/>
                    <a:latin typeface="Montserrat" panose="00000500000000000000" pitchFamily="2" charset="0"/>
                  </a:rPr>
                  <a:t>Catalog2</a:t>
                </a:r>
                <a:endPara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57" name="Grupo 56">
              <a:extLst>
                <a:ext uri="{FF2B5EF4-FFF2-40B4-BE49-F238E27FC236}">
                  <a16:creationId xmlns:a16="http://schemas.microsoft.com/office/drawing/2014/main" id="{CAA5BE8B-F6BF-AF28-E43E-43DF58BB18BB}"/>
                </a:ext>
              </a:extLst>
            </p:cNvPr>
            <p:cNvGrpSpPr/>
            <p:nvPr/>
          </p:nvGrpSpPr>
          <p:grpSpPr>
            <a:xfrm>
              <a:off x="4817799" y="4105338"/>
              <a:ext cx="834321" cy="360040"/>
              <a:chOff x="3402256" y="4040930"/>
              <a:chExt cx="834321" cy="507668"/>
            </a:xfrm>
          </p:grpSpPr>
          <p:sp>
            <p:nvSpPr>
              <p:cNvPr id="58" name="Google Shape;2204;p106">
                <a:extLst>
                  <a:ext uri="{FF2B5EF4-FFF2-40B4-BE49-F238E27FC236}">
                    <a16:creationId xmlns:a16="http://schemas.microsoft.com/office/drawing/2014/main" id="{AE10E7FC-E732-2BD9-6BC4-CF1A44FA8B07}"/>
                  </a:ext>
                </a:extLst>
              </p:cNvPr>
              <p:cNvSpPr/>
              <p:nvPr/>
            </p:nvSpPr>
            <p:spPr>
              <a:xfrm>
                <a:off x="3402256" y="4040930"/>
                <a:ext cx="821863" cy="507668"/>
              </a:xfrm>
              <a:prstGeom prst="rect">
                <a:avLst/>
              </a:prstGeom>
              <a:solidFill>
                <a:srgbClr val="203864"/>
              </a:solidFill>
              <a:ln>
                <a:noFill/>
              </a:ln>
            </p:spPr>
            <p:txBody>
              <a:bodyPr spcFirstLastPara="1" wrap="square" lIns="91425" tIns="38100" rIns="1097275" bIns="381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dirty="0"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59" name="CuadroTexto 58">
                <a:extLst>
                  <a:ext uri="{FF2B5EF4-FFF2-40B4-BE49-F238E27FC236}">
                    <a16:creationId xmlns:a16="http://schemas.microsoft.com/office/drawing/2014/main" id="{0C317623-6AF1-B510-248A-985344B7F960}"/>
                  </a:ext>
                </a:extLst>
              </p:cNvPr>
              <p:cNvSpPr txBox="1"/>
              <p:nvPr/>
            </p:nvSpPr>
            <p:spPr>
              <a:xfrm>
                <a:off x="3414714" y="4158067"/>
                <a:ext cx="821863" cy="3037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" sz="800" b="1" i="0" dirty="0">
                    <a:solidFill>
                      <a:schemeClr val="bg1"/>
                    </a:solidFill>
                    <a:effectLst/>
                    <a:latin typeface="Montserrat" panose="00000500000000000000" pitchFamily="2" charset="0"/>
                  </a:rPr>
                  <a:t>Schema3</a:t>
                </a:r>
                <a:endPara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60" name="Grupo 59">
              <a:extLst>
                <a:ext uri="{FF2B5EF4-FFF2-40B4-BE49-F238E27FC236}">
                  <a16:creationId xmlns:a16="http://schemas.microsoft.com/office/drawing/2014/main" id="{B951725C-5896-6FCB-F0B1-A54637B0924A}"/>
                </a:ext>
              </a:extLst>
            </p:cNvPr>
            <p:cNvGrpSpPr/>
            <p:nvPr/>
          </p:nvGrpSpPr>
          <p:grpSpPr>
            <a:xfrm>
              <a:off x="4817799" y="4858194"/>
              <a:ext cx="821863" cy="360040"/>
              <a:chOff x="3402256" y="4040930"/>
              <a:chExt cx="821863" cy="507668"/>
            </a:xfrm>
          </p:grpSpPr>
          <p:sp>
            <p:nvSpPr>
              <p:cNvPr id="61" name="Google Shape;2204;p106">
                <a:extLst>
                  <a:ext uri="{FF2B5EF4-FFF2-40B4-BE49-F238E27FC236}">
                    <a16:creationId xmlns:a16="http://schemas.microsoft.com/office/drawing/2014/main" id="{B1F926F1-1060-A264-9553-DB9291165355}"/>
                  </a:ext>
                </a:extLst>
              </p:cNvPr>
              <p:cNvSpPr/>
              <p:nvPr/>
            </p:nvSpPr>
            <p:spPr>
              <a:xfrm>
                <a:off x="3402256" y="4040930"/>
                <a:ext cx="821863" cy="507668"/>
              </a:xfrm>
              <a:prstGeom prst="rect">
                <a:avLst/>
              </a:prstGeom>
              <a:solidFill>
                <a:srgbClr val="203864"/>
              </a:solidFill>
              <a:ln>
                <a:noFill/>
              </a:ln>
            </p:spPr>
            <p:txBody>
              <a:bodyPr spcFirstLastPara="1" wrap="square" lIns="91425" tIns="38100" rIns="1097275" bIns="381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dirty="0"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29386564-C314-74CA-21D1-DCA7A14D4068}"/>
                  </a:ext>
                </a:extLst>
              </p:cNvPr>
              <p:cNvSpPr txBox="1"/>
              <p:nvPr/>
            </p:nvSpPr>
            <p:spPr>
              <a:xfrm>
                <a:off x="3402256" y="4158067"/>
                <a:ext cx="821863" cy="3037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" sz="800" b="1" i="0" dirty="0">
                    <a:solidFill>
                      <a:schemeClr val="bg1"/>
                    </a:solidFill>
                    <a:effectLst/>
                    <a:latin typeface="Montserrat" panose="00000500000000000000" pitchFamily="2" charset="0"/>
                  </a:rPr>
                  <a:t>Schema4</a:t>
                </a:r>
                <a:endPara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cxnSp>
          <p:nvCxnSpPr>
            <p:cNvPr id="63" name="Conector recto de flecha 27">
              <a:extLst>
                <a:ext uri="{FF2B5EF4-FFF2-40B4-BE49-F238E27FC236}">
                  <a16:creationId xmlns:a16="http://schemas.microsoft.com/office/drawing/2014/main" id="{4E0452A6-9121-5750-F883-98436C6DE686}"/>
                </a:ext>
              </a:extLst>
            </p:cNvPr>
            <p:cNvCxnSpPr>
              <a:cxnSpLocks/>
              <a:stCxn id="5" idx="2"/>
              <a:endCxn id="55" idx="0"/>
            </p:cNvCxnSpPr>
            <p:nvPr/>
          </p:nvCxnSpPr>
          <p:spPr>
            <a:xfrm rot="16200000" flipH="1">
              <a:off x="3715716" y="2661329"/>
              <a:ext cx="322854" cy="1059452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cto de flecha 28">
              <a:extLst>
                <a:ext uri="{FF2B5EF4-FFF2-40B4-BE49-F238E27FC236}">
                  <a16:creationId xmlns:a16="http://schemas.microsoft.com/office/drawing/2014/main" id="{E3FA3043-814E-B05F-752A-4A65F06331A8}"/>
                </a:ext>
              </a:extLst>
            </p:cNvPr>
            <p:cNvCxnSpPr>
              <a:cxnSpLocks/>
              <a:stCxn id="55" idx="2"/>
              <a:endCxn id="62" idx="1"/>
            </p:cNvCxnSpPr>
            <p:nvPr/>
          </p:nvCxnSpPr>
          <p:spPr>
            <a:xfrm rot="16200000" flipH="1">
              <a:off x="3944100" y="4175291"/>
              <a:ext cx="1336468" cy="410930"/>
            </a:xfrm>
            <a:prstGeom prst="bentConnector2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ector recto de flecha 28">
              <a:extLst>
                <a:ext uri="{FF2B5EF4-FFF2-40B4-BE49-F238E27FC236}">
                  <a16:creationId xmlns:a16="http://schemas.microsoft.com/office/drawing/2014/main" id="{09857082-ECB3-0A50-4A78-8F58C1690072}"/>
                </a:ext>
              </a:extLst>
            </p:cNvPr>
            <p:cNvCxnSpPr>
              <a:cxnSpLocks/>
              <a:stCxn id="55" idx="2"/>
              <a:endCxn id="59" idx="1"/>
            </p:cNvCxnSpPr>
            <p:nvPr/>
          </p:nvCxnSpPr>
          <p:spPr>
            <a:xfrm rot="16200000" flipH="1">
              <a:off x="4326757" y="3792634"/>
              <a:ext cx="583612" cy="423388"/>
            </a:xfrm>
            <a:prstGeom prst="bentConnector2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CuadroTexto 72">
              <a:extLst>
                <a:ext uri="{FF2B5EF4-FFF2-40B4-BE49-F238E27FC236}">
                  <a16:creationId xmlns:a16="http://schemas.microsoft.com/office/drawing/2014/main" id="{12E00CF5-9E1A-CE16-B573-773F93414939}"/>
                </a:ext>
              </a:extLst>
            </p:cNvPr>
            <p:cNvSpPr txBox="1"/>
            <p:nvPr/>
          </p:nvSpPr>
          <p:spPr>
            <a:xfrm>
              <a:off x="5201662" y="2562187"/>
              <a:ext cx="125391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b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Metastore</a:t>
              </a:r>
              <a:r>
                <a: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800" b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Admin</a:t>
              </a:r>
              <a:endParaRPr lang="es-ES" sz="8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4" name="Rectángulo 73">
              <a:extLst>
                <a:ext uri="{FF2B5EF4-FFF2-40B4-BE49-F238E27FC236}">
                  <a16:creationId xmlns:a16="http://schemas.microsoft.com/office/drawing/2014/main" id="{E12C7E6E-BA33-0C95-35C6-34BD6DAB85DE}"/>
                </a:ext>
              </a:extLst>
            </p:cNvPr>
            <p:cNvSpPr/>
            <p:nvPr/>
          </p:nvSpPr>
          <p:spPr>
            <a:xfrm>
              <a:off x="1068831" y="3313112"/>
              <a:ext cx="2278585" cy="2132112"/>
            </a:xfrm>
            <a:prstGeom prst="rect">
              <a:avLst/>
            </a:prstGeom>
            <a:noFill/>
            <a:ln>
              <a:solidFill>
                <a:srgbClr val="FFFF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highlight>
                  <a:srgbClr val="FFFF00"/>
                </a:highlight>
              </a:endParaRPr>
            </a:p>
          </p:txBody>
        </p:sp>
        <p:sp>
          <p:nvSpPr>
            <p:cNvPr id="75" name="CuadroTexto 74">
              <a:extLst>
                <a:ext uri="{FF2B5EF4-FFF2-40B4-BE49-F238E27FC236}">
                  <a16:creationId xmlns:a16="http://schemas.microsoft.com/office/drawing/2014/main" id="{61993BFA-449C-70A3-DBCD-D34324CEEF03}"/>
                </a:ext>
              </a:extLst>
            </p:cNvPr>
            <p:cNvSpPr txBox="1"/>
            <p:nvPr/>
          </p:nvSpPr>
          <p:spPr>
            <a:xfrm>
              <a:off x="1106711" y="5168972"/>
              <a:ext cx="105489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b="1" dirty="0" err="1">
                  <a:solidFill>
                    <a:srgbClr val="FFFF00"/>
                  </a:solidFill>
                  <a:latin typeface="Montserrat" panose="00000500000000000000" pitchFamily="2" charset="0"/>
                </a:rPr>
                <a:t>Catalog</a:t>
              </a:r>
              <a:r>
                <a:rPr lang="es-ES" sz="800" b="1" dirty="0">
                  <a:solidFill>
                    <a:srgbClr val="FFFF00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800" b="1" dirty="0" err="1">
                  <a:solidFill>
                    <a:srgbClr val="FFFF00"/>
                  </a:solidFill>
                  <a:latin typeface="Montserrat" panose="00000500000000000000" pitchFamily="2" charset="0"/>
                </a:rPr>
                <a:t>Admin</a:t>
              </a:r>
              <a:endParaRPr lang="es-ES" sz="800" b="1" dirty="0">
                <a:solidFill>
                  <a:srgbClr val="FFFF00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76" name="Grupo 75">
              <a:extLst>
                <a:ext uri="{FF2B5EF4-FFF2-40B4-BE49-F238E27FC236}">
                  <a16:creationId xmlns:a16="http://schemas.microsoft.com/office/drawing/2014/main" id="{49BFB6C0-8F26-3920-1DD1-F782C6AAEFFB}"/>
                </a:ext>
              </a:extLst>
            </p:cNvPr>
            <p:cNvGrpSpPr/>
            <p:nvPr/>
          </p:nvGrpSpPr>
          <p:grpSpPr>
            <a:xfrm>
              <a:off x="2411312" y="1830521"/>
              <a:ext cx="1872208" cy="360040"/>
              <a:chOff x="2953967" y="1988840"/>
              <a:chExt cx="896578" cy="507668"/>
            </a:xfrm>
          </p:grpSpPr>
          <p:sp>
            <p:nvSpPr>
              <p:cNvPr id="77" name="Google Shape;2204;p106">
                <a:extLst>
                  <a:ext uri="{FF2B5EF4-FFF2-40B4-BE49-F238E27FC236}">
                    <a16:creationId xmlns:a16="http://schemas.microsoft.com/office/drawing/2014/main" id="{81087DFE-87BB-61DC-CBDB-C8B4A2CF12FC}"/>
                  </a:ext>
                </a:extLst>
              </p:cNvPr>
              <p:cNvSpPr/>
              <p:nvPr/>
            </p:nvSpPr>
            <p:spPr>
              <a:xfrm>
                <a:off x="2991325" y="1988840"/>
                <a:ext cx="821863" cy="507668"/>
              </a:xfrm>
              <a:prstGeom prst="rect">
                <a:avLst/>
              </a:prstGeom>
              <a:solidFill>
                <a:srgbClr val="203864"/>
              </a:solidFill>
              <a:ln>
                <a:noFill/>
              </a:ln>
            </p:spPr>
            <p:txBody>
              <a:bodyPr spcFirstLastPara="1" wrap="square" lIns="91425" tIns="38100" rIns="1097275" bIns="381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 dirty="0"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15C2E9AC-1F8D-7D57-A3A5-C3F547EE9548}"/>
                  </a:ext>
                </a:extLst>
              </p:cNvPr>
              <p:cNvSpPr txBox="1"/>
              <p:nvPr/>
            </p:nvSpPr>
            <p:spPr>
              <a:xfrm>
                <a:off x="2953967" y="2085668"/>
                <a:ext cx="896578" cy="3037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" sz="800" b="1" i="0" dirty="0">
                    <a:solidFill>
                      <a:schemeClr val="bg1"/>
                    </a:solidFill>
                    <a:effectLst/>
                    <a:latin typeface="Montserrat" panose="00000500000000000000" pitchFamily="2" charset="0"/>
                  </a:rPr>
                  <a:t>Unity </a:t>
                </a:r>
                <a:r>
                  <a:rPr lang="es-ES" sz="800" b="1" i="0" dirty="0" err="1">
                    <a:solidFill>
                      <a:schemeClr val="bg1"/>
                    </a:solidFill>
                    <a:effectLst/>
                    <a:latin typeface="Montserrat" panose="00000500000000000000" pitchFamily="2" charset="0"/>
                  </a:rPr>
                  <a:t>Catalog</a:t>
                </a:r>
                <a:endPara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cxnSp>
          <p:nvCxnSpPr>
            <p:cNvPr id="79" name="Conector recto de flecha 27">
              <a:extLst>
                <a:ext uri="{FF2B5EF4-FFF2-40B4-BE49-F238E27FC236}">
                  <a16:creationId xmlns:a16="http://schemas.microsoft.com/office/drawing/2014/main" id="{A7AB87B4-1A0E-3FE9-73E4-5622DB979351}"/>
                </a:ext>
              </a:extLst>
            </p:cNvPr>
            <p:cNvCxnSpPr>
              <a:cxnSpLocks/>
              <a:stCxn id="77" idx="2"/>
              <a:endCxn id="5" idx="0"/>
            </p:cNvCxnSpPr>
            <p:nvPr/>
          </p:nvCxnSpPr>
          <p:spPr>
            <a:xfrm rot="5400000">
              <a:off x="3107904" y="2430074"/>
              <a:ext cx="479027" cy="12700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cto 83">
              <a:extLst>
                <a:ext uri="{FF2B5EF4-FFF2-40B4-BE49-F238E27FC236}">
                  <a16:creationId xmlns:a16="http://schemas.microsoft.com/office/drawing/2014/main" id="{CC0EAC93-8EA2-2B9A-170A-AD530BD82821}"/>
                </a:ext>
              </a:extLst>
            </p:cNvPr>
            <p:cNvCxnSpPr/>
            <p:nvPr/>
          </p:nvCxnSpPr>
          <p:spPr>
            <a:xfrm flipV="1">
              <a:off x="5796136" y="2114636"/>
              <a:ext cx="1008112" cy="44755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CuadroTexto 85">
            <a:extLst>
              <a:ext uri="{FF2B5EF4-FFF2-40B4-BE49-F238E27FC236}">
                <a16:creationId xmlns:a16="http://schemas.microsoft.com/office/drawing/2014/main" id="{6E17ADA6-9748-3334-9472-AC3D527B062F}"/>
              </a:ext>
            </a:extLst>
          </p:cNvPr>
          <p:cNvSpPr txBox="1"/>
          <p:nvPr/>
        </p:nvSpPr>
        <p:spPr>
          <a:xfrm>
            <a:off x="7092280" y="1610654"/>
            <a:ext cx="1625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Montserrat" panose="00000500000000000000" pitchFamily="2" charset="0"/>
              </a:rPr>
              <a:t>Tiene Full Access sobre el </a:t>
            </a:r>
            <a:r>
              <a:rPr lang="es-ES" sz="800" dirty="0" err="1">
                <a:latin typeface="Montserrat" panose="00000500000000000000" pitchFamily="2" charset="0"/>
              </a:rPr>
              <a:t>Metastore</a:t>
            </a:r>
            <a:r>
              <a:rPr lang="es-ES" sz="800" dirty="0">
                <a:latin typeface="Montserrat" panose="00000500000000000000" pitchFamily="2" charset="0"/>
              </a:rPr>
              <a:t>, pero no acceso sobre datos salvo se le dé.</a:t>
            </a: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090D1674-BC9B-1564-58B1-96D6941BEEF7}"/>
              </a:ext>
            </a:extLst>
          </p:cNvPr>
          <p:cNvSpPr txBox="1"/>
          <p:nvPr/>
        </p:nvSpPr>
        <p:spPr>
          <a:xfrm>
            <a:off x="265685" y="4637342"/>
            <a:ext cx="1625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Montserrat" panose="00000500000000000000" pitchFamily="2" charset="0"/>
              </a:rPr>
              <a:t>Puede crear </a:t>
            </a:r>
            <a:r>
              <a:rPr lang="es-ES" sz="800" dirty="0" err="1">
                <a:latin typeface="Montserrat" panose="00000500000000000000" pitchFamily="2" charset="0"/>
              </a:rPr>
              <a:t>schemas</a:t>
            </a:r>
            <a:r>
              <a:rPr lang="es-ES" sz="800" dirty="0">
                <a:latin typeface="Montserrat" panose="00000500000000000000" pitchFamily="2" charset="0"/>
              </a:rPr>
              <a:t> y manejar los accesos en Catalogo1 </a:t>
            </a:r>
          </a:p>
        </p:txBody>
      </p: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DE0A6BC5-D6EF-962C-A999-3DE369EA97D3}"/>
              </a:ext>
            </a:extLst>
          </p:cNvPr>
          <p:cNvCxnSpPr>
            <a:cxnSpLocks/>
            <a:stCxn id="87" idx="2"/>
          </p:cNvCxnSpPr>
          <p:nvPr/>
        </p:nvCxnSpPr>
        <p:spPr>
          <a:xfrm>
            <a:off x="1078422" y="5099007"/>
            <a:ext cx="981654" cy="12614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ángulo: esquinas redondeadas 92">
            <a:extLst>
              <a:ext uri="{FF2B5EF4-FFF2-40B4-BE49-F238E27FC236}">
                <a16:creationId xmlns:a16="http://schemas.microsoft.com/office/drawing/2014/main" id="{AA7B30A2-DACD-5E4B-2369-BAA827300FFE}"/>
              </a:ext>
            </a:extLst>
          </p:cNvPr>
          <p:cNvSpPr/>
          <p:nvPr/>
        </p:nvSpPr>
        <p:spPr>
          <a:xfrm>
            <a:off x="260131" y="1268761"/>
            <a:ext cx="2727693" cy="62199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050" dirty="0">
              <a:solidFill>
                <a:schemeClr val="tx1"/>
              </a:solidFill>
            </a:endParaRPr>
          </a:p>
        </p:txBody>
      </p:sp>
      <p:pic>
        <p:nvPicPr>
          <p:cNvPr id="95" name="Gráfico 94" descr="Estrella con relleno sólido">
            <a:extLst>
              <a:ext uri="{FF2B5EF4-FFF2-40B4-BE49-F238E27FC236}">
                <a16:creationId xmlns:a16="http://schemas.microsoft.com/office/drawing/2014/main" id="{2B790DAD-0612-6360-7EAB-1714BF2FF8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673" y="1446110"/>
            <a:ext cx="93876" cy="91302"/>
          </a:xfrm>
          <a:prstGeom prst="rect">
            <a:avLst/>
          </a:prstGeom>
        </p:spPr>
      </p:pic>
      <p:sp>
        <p:nvSpPr>
          <p:cNvPr id="96" name="CuadroTexto 95">
            <a:extLst>
              <a:ext uri="{FF2B5EF4-FFF2-40B4-BE49-F238E27FC236}">
                <a16:creationId xmlns:a16="http://schemas.microsoft.com/office/drawing/2014/main" id="{E3C176E9-E3FC-C324-FC55-9836E142422D}"/>
              </a:ext>
            </a:extLst>
          </p:cNvPr>
          <p:cNvSpPr txBox="1"/>
          <p:nvPr/>
        </p:nvSpPr>
        <p:spPr>
          <a:xfrm>
            <a:off x="361384" y="1251222"/>
            <a:ext cx="262644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b="1" dirty="0" err="1">
                <a:latin typeface="Montserrat" panose="00000500000000000000" pitchFamily="2" charset="0"/>
              </a:rPr>
              <a:t>Best</a:t>
            </a:r>
            <a:r>
              <a:rPr lang="es-ES" sz="900" b="1" dirty="0">
                <a:latin typeface="Montserrat" panose="00000500000000000000" pitchFamily="2" charset="0"/>
              </a:rPr>
              <a:t> </a:t>
            </a:r>
            <a:r>
              <a:rPr lang="es-ES" sz="900" b="1" dirty="0" err="1">
                <a:latin typeface="Montserrat" panose="00000500000000000000" pitchFamily="2" charset="0"/>
              </a:rPr>
              <a:t>Practise</a:t>
            </a:r>
            <a:r>
              <a:rPr lang="es-ES" sz="900" b="1" dirty="0">
                <a:latin typeface="Montserrat" panose="00000500000000000000" pitchFamily="2" charset="0"/>
              </a:rPr>
              <a:t>!</a:t>
            </a:r>
          </a:p>
          <a:p>
            <a:r>
              <a:rPr lang="es-ES" sz="800" dirty="0">
                <a:latin typeface="Montserrat" panose="00000500000000000000" pitchFamily="2" charset="0"/>
              </a:rPr>
              <a:t>Asignar Roles a grupos</a:t>
            </a:r>
          </a:p>
          <a:p>
            <a:r>
              <a:rPr lang="es-ES" sz="800" dirty="0">
                <a:latin typeface="Montserrat" panose="00000500000000000000" pitchFamily="2" charset="0"/>
              </a:rPr>
              <a:t>Alinear la asignación de roles con el enfoque de la organización en gobernanza</a:t>
            </a:r>
          </a:p>
        </p:txBody>
      </p:sp>
      <p:pic>
        <p:nvPicPr>
          <p:cNvPr id="97" name="Gráfico 96" descr="Estrella con relleno sólido">
            <a:extLst>
              <a:ext uri="{FF2B5EF4-FFF2-40B4-BE49-F238E27FC236}">
                <a16:creationId xmlns:a16="http://schemas.microsoft.com/office/drawing/2014/main" id="{D79F3992-34AB-04A2-7FBE-529C8DFEEE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673" y="1573778"/>
            <a:ext cx="93876" cy="9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974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A5A17-4CCE-3ECB-6BB8-0AE9B71A2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upo 34">
            <a:extLst>
              <a:ext uri="{FF2B5EF4-FFF2-40B4-BE49-F238E27FC236}">
                <a16:creationId xmlns:a16="http://schemas.microsoft.com/office/drawing/2014/main" id="{3BB68BF7-F425-68C9-57D8-B0779328C804}"/>
              </a:ext>
            </a:extLst>
          </p:cNvPr>
          <p:cNvGrpSpPr/>
          <p:nvPr/>
        </p:nvGrpSpPr>
        <p:grpSpPr>
          <a:xfrm>
            <a:off x="395536" y="2780928"/>
            <a:ext cx="8424936" cy="2016224"/>
            <a:chOff x="395536" y="3284984"/>
            <a:chExt cx="8424936" cy="2016224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3A145AE8-9EC2-D7BA-0B1B-75656C6F2C11}"/>
                </a:ext>
              </a:extLst>
            </p:cNvPr>
            <p:cNvSpPr/>
            <p:nvPr/>
          </p:nvSpPr>
          <p:spPr>
            <a:xfrm>
              <a:off x="395536" y="3284984"/>
              <a:ext cx="8424936" cy="2016224"/>
            </a:xfrm>
            <a:prstGeom prst="rect">
              <a:avLst/>
            </a:prstGeom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B4FF902-4F40-F197-A8F9-0CBA970781AE}"/>
                </a:ext>
              </a:extLst>
            </p:cNvPr>
            <p:cNvSpPr/>
            <p:nvPr/>
          </p:nvSpPr>
          <p:spPr>
            <a:xfrm>
              <a:off x="626448" y="4293096"/>
              <a:ext cx="7949545" cy="79208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Metadata</a:t>
              </a:r>
              <a:r>
                <a:rPr lang="es-ES" sz="1600" dirty="0"/>
                <a:t> Management</a:t>
              </a:r>
            </a:p>
            <a:p>
              <a:pPr algn="ctr"/>
              <a:r>
                <a:rPr lang="es-ES" sz="1600" dirty="0"/>
                <a:t>(Files | Tables | ML </a:t>
              </a:r>
              <a:r>
                <a:rPr lang="es-ES" sz="1600" dirty="0" err="1"/>
                <a:t>Models</a:t>
              </a:r>
              <a:r>
                <a:rPr lang="es-ES" sz="1600" dirty="0"/>
                <a:t> | Notebooks | </a:t>
              </a:r>
              <a:r>
                <a:rPr lang="es-ES" sz="1600" dirty="0" err="1"/>
                <a:t>Dashboards</a:t>
              </a:r>
              <a:r>
                <a:rPr lang="es-ES" sz="1600" dirty="0"/>
                <a:t>)</a:t>
              </a:r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EAA8671A-66BB-A67B-D515-E6D3F1E4A56A}"/>
                </a:ext>
              </a:extLst>
            </p:cNvPr>
            <p:cNvSpPr/>
            <p:nvPr/>
          </p:nvSpPr>
          <p:spPr>
            <a:xfrm>
              <a:off x="634267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5715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/>
                <a:t>Access</a:t>
              </a:r>
            </a:p>
            <a:p>
              <a:pPr algn="ctr"/>
              <a:r>
                <a:rPr lang="es-ES" sz="1600" dirty="0" err="1"/>
                <a:t>Controls</a:t>
              </a:r>
              <a:endParaRPr lang="es-ES" sz="1600" dirty="0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841BECE6-03CE-0454-54C6-38BA2FAA943C}"/>
                </a:ext>
              </a:extLst>
            </p:cNvPr>
            <p:cNvSpPr/>
            <p:nvPr/>
          </p:nvSpPr>
          <p:spPr>
            <a:xfrm>
              <a:off x="1979712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Lineage</a:t>
              </a:r>
              <a:endParaRPr lang="es-ES" sz="1600" dirty="0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E60F226F-14E1-77F3-58C8-5A504F25E121}"/>
                </a:ext>
              </a:extLst>
            </p:cNvPr>
            <p:cNvSpPr/>
            <p:nvPr/>
          </p:nvSpPr>
          <p:spPr>
            <a:xfrm>
              <a:off x="3328977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/>
                <a:t>Discovery</a:t>
              </a:r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DF7E5F51-9708-4D3F-B5C2-268C8D6EC95F}"/>
                </a:ext>
              </a:extLst>
            </p:cNvPr>
            <p:cNvSpPr/>
            <p:nvPr/>
          </p:nvSpPr>
          <p:spPr>
            <a:xfrm>
              <a:off x="4678242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Monitoring</a:t>
              </a:r>
              <a:endParaRPr lang="es-ES" sz="1600" dirty="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CB17F15E-B907-C8FB-94DC-CC081E401007}"/>
                </a:ext>
              </a:extLst>
            </p:cNvPr>
            <p:cNvSpPr/>
            <p:nvPr/>
          </p:nvSpPr>
          <p:spPr>
            <a:xfrm>
              <a:off x="6027507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Auditing</a:t>
              </a:r>
              <a:endParaRPr lang="es-ES" sz="1600" dirty="0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592244E6-A9A1-1914-85FA-AB5F9CBA3A6C}"/>
                </a:ext>
              </a:extLst>
            </p:cNvPr>
            <p:cNvSpPr/>
            <p:nvPr/>
          </p:nvSpPr>
          <p:spPr>
            <a:xfrm>
              <a:off x="7374564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Sharing</a:t>
              </a:r>
              <a:endParaRPr lang="es-ES" sz="1600" dirty="0"/>
            </a:p>
          </p:txBody>
        </p:sp>
      </p:grpSp>
      <p:sp>
        <p:nvSpPr>
          <p:cNvPr id="38" name="Google Shape;303;g35ee5cc475b_0_63">
            <a:extLst>
              <a:ext uri="{FF2B5EF4-FFF2-40B4-BE49-F238E27FC236}">
                <a16:creationId xmlns:a16="http://schemas.microsoft.com/office/drawing/2014/main" id="{6720469B-5191-2FDD-1780-382844F7CB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528" y="365125"/>
            <a:ext cx="8496944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2 Introducción a UC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Unity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Catalog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desde perspectiva de Gobernanza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671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1D92B1-F3B5-F047-67B3-2A3F4643A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F4A72C6-4696-24A6-0E07-12CD5C3837D2}"/>
              </a:ext>
            </a:extLst>
          </p:cNvPr>
          <p:cNvSpPr txBox="1"/>
          <p:nvPr/>
        </p:nvSpPr>
        <p:spPr>
          <a:xfrm>
            <a:off x="1943708" y="1556792"/>
            <a:ext cx="52565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chemeClr val="bg1"/>
                </a:solidFill>
                <a:latin typeface="Montserrat" panose="00000500000000000000" pitchFamily="2" charset="0"/>
              </a:rPr>
              <a:t>DEMO</a:t>
            </a:r>
          </a:p>
          <a:p>
            <a:pPr algn="ctr"/>
            <a:endParaRPr lang="es-ES" sz="2800" b="1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CONTROL DE ACCESOS</a:t>
            </a:r>
          </a:p>
        </p:txBody>
      </p:sp>
    </p:spTree>
    <p:extLst>
      <p:ext uri="{BB962C8B-B14F-4D97-AF65-F5344CB8AC3E}">
        <p14:creationId xmlns:p14="http://schemas.microsoft.com/office/powerpoint/2010/main" val="1013204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37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CuadroTexto"/>
          <p:cNvSpPr txBox="1"/>
          <p:nvPr/>
        </p:nvSpPr>
        <p:spPr>
          <a:xfrm>
            <a:off x="3833047" y="5507940"/>
            <a:ext cx="1477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www.ceste.es</a:t>
            </a:r>
          </a:p>
        </p:txBody>
      </p:sp>
      <p:pic>
        <p:nvPicPr>
          <p:cNvPr id="12" name="11 Imagen" descr="CESTE blanco estrella roj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64000" y="2348880"/>
            <a:ext cx="3816424" cy="18259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1D317CF2309C4E8DA448EE42D88B65" ma:contentTypeVersion="14" ma:contentTypeDescription="Crear nuevo documento." ma:contentTypeScope="" ma:versionID="499295a40b32042ffc1aa18e52107fb2">
  <xsd:schema xmlns:xsd="http://www.w3.org/2001/XMLSchema" xmlns:xs="http://www.w3.org/2001/XMLSchema" xmlns:p="http://schemas.microsoft.com/office/2006/metadata/properties" xmlns:ns2="e24c3f89-b1e2-4b5c-81e1-9b07710f5189" xmlns:ns3="ce845bb0-6f82-4cf9-8b02-3916bb6268df" targetNamespace="http://schemas.microsoft.com/office/2006/metadata/properties" ma:root="true" ma:fieldsID="cacbbaa88dffef174e809ab62d2fa790" ns2:_="" ns3:_="">
    <xsd:import namespace="e24c3f89-b1e2-4b5c-81e1-9b07710f5189"/>
    <xsd:import namespace="ce845bb0-6f82-4cf9-8b02-3916bb6268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4c3f89-b1e2-4b5c-81e1-9b07710f51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59dbaa74-2a60-464d-988b-bba989cac7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45bb0-6f82-4cf9-8b02-3916bb6268d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1e47c2f-83de-443c-9b77-fbf0d35e4197}" ma:internalName="TaxCatchAll" ma:showField="CatchAllData" ma:web="ce845bb0-6f82-4cf9-8b02-3916bb6268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4c3f89-b1e2-4b5c-81e1-9b07710f5189">
      <Terms xmlns="http://schemas.microsoft.com/office/infopath/2007/PartnerControls"/>
    </lcf76f155ced4ddcb4097134ff3c332f>
    <TaxCatchAll xmlns="ce845bb0-6f82-4cf9-8b02-3916bb6268df" xsi:nil="true"/>
  </documentManagement>
</p:properties>
</file>

<file path=customXml/itemProps1.xml><?xml version="1.0" encoding="utf-8"?>
<ds:datastoreItem xmlns:ds="http://schemas.openxmlformats.org/officeDocument/2006/customXml" ds:itemID="{6FDDB250-E753-47E4-8ED1-CAC7AD183E6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57BF0C9-4CDD-43A3-8A95-A49D62C2F2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4c3f89-b1e2-4b5c-81e1-9b07710f5189"/>
    <ds:schemaRef ds:uri="ce845bb0-6f82-4cf9-8b02-3916bb6268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A79858A-5E67-489D-9BB4-CD604D981F2A}">
  <ds:schemaRefs>
    <ds:schemaRef ds:uri="http://schemas.microsoft.com/office/2006/metadata/properties"/>
    <ds:schemaRef ds:uri="http://schemas.microsoft.com/office/infopath/2007/PartnerControls"/>
    <ds:schemaRef ds:uri="e24c3f89-b1e2-4b5c-81e1-9b07710f5189"/>
    <ds:schemaRef ds:uri="ce845bb0-6f82-4cf9-8b02-3916bb6268d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19713</TotalTime>
  <Words>2771</Words>
  <Application>Microsoft Office PowerPoint</Application>
  <PresentationFormat>Presentación en pantalla (4:3)</PresentationFormat>
  <Paragraphs>315</Paragraphs>
  <Slides>14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Montserrat</vt:lpstr>
      <vt:lpstr>Montserrat SemiBold</vt:lpstr>
      <vt:lpstr>Diseño personalizado</vt:lpstr>
      <vt:lpstr>Presentación de PowerPoint</vt:lpstr>
      <vt:lpstr>Indice de la Sesión 2</vt:lpstr>
      <vt:lpstr>Presentación de PowerPoint</vt:lpstr>
      <vt:lpstr>2 Introducción a UC | ¿Qué es Gobernanza?</vt:lpstr>
      <vt:lpstr>2 Introducción a UC | Espectro de Gobernanza en las empresas</vt:lpstr>
      <vt:lpstr>Presentación de PowerPoint</vt:lpstr>
      <vt:lpstr>2 Introducción a UC | ¿Qué es Unity Catalog?</vt:lpstr>
      <vt:lpstr>2 Introducción a UC | Unity Catalog desde perspectiva de Gobernanza</vt:lpstr>
      <vt:lpstr>Presentación de PowerPoint</vt:lpstr>
      <vt:lpstr>2 Introducción a UC | Repaso Objetos en UC</vt:lpstr>
      <vt:lpstr>2 Introducción a UC | Intro Control de Accesos</vt:lpstr>
      <vt:lpstr>2 Introducción a UC | Unity Catalog desde perspectiva de Gobernanza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psoria</dc:creator>
  <cp:lastModifiedBy>Javier Martínez Morales</cp:lastModifiedBy>
  <cp:revision>438</cp:revision>
  <cp:lastPrinted>2018-06-15T07:54:48Z</cp:lastPrinted>
  <dcterms:created xsi:type="dcterms:W3CDTF">2014-05-13T08:36:54Z</dcterms:created>
  <dcterms:modified xsi:type="dcterms:W3CDTF">2025-11-29T16:20:36Z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0x010100D61D317CF2309C4E8DA448EE42D88B65</vt:lpwstr>
  </property>
</Properties>
</file>