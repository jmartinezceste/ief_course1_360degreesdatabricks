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147474071" r:id="rId2"/>
    <p:sldId id="2147474065" r:id="rId3"/>
    <p:sldId id="2147474067" r:id="rId4"/>
    <p:sldId id="2147474064" r:id="rId5"/>
    <p:sldId id="2147474069" r:id="rId6"/>
    <p:sldId id="2147474070" r:id="rId7"/>
    <p:sldId id="2147474053" r:id="rId8"/>
    <p:sldId id="2147474060" r:id="rId9"/>
    <p:sldId id="2147474063" r:id="rId10"/>
    <p:sldId id="2147474058" r:id="rId11"/>
    <p:sldId id="2147474068" r:id="rId12"/>
    <p:sldId id="2147474089" r:id="rId13"/>
    <p:sldId id="2147474088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F23A8-2261-4D44-A3B4-A9F9CE6CFDF4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73464-52F5-45F8-BB64-27BD4BB9092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8869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Si la sesión1 nos enfocamos en crear un entorno con una granularidad suficiente para poder aplicar una política de Gobernanza</a:t>
            </a:r>
          </a:p>
          <a:p>
            <a:endParaRPr lang="es-ES" dirty="0"/>
          </a:p>
          <a:p>
            <a:r>
              <a:rPr lang="es-ES" dirty="0"/>
              <a:t>En la sesión2 de hoy no enfocaremos en traer en esta presentación gran parte de el entorno de Unity </a:t>
            </a:r>
            <a:r>
              <a:rPr lang="es-ES" dirty="0" err="1"/>
              <a:t>Catalog</a:t>
            </a:r>
            <a:r>
              <a:rPr lang="es-ES" dirty="0"/>
              <a:t> y prestando atención a la Gobernanza….</a:t>
            </a:r>
          </a:p>
          <a:p>
            <a:r>
              <a:rPr lang="es-ES" dirty="0"/>
              <a:t>Veremos entonces: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¿Qué es Unity </a:t>
            </a:r>
            <a:r>
              <a:rPr lang="es-ES" sz="1400" dirty="0" err="1">
                <a:latin typeface="Montserrat" panose="00000500000000000000" pitchFamily="2" charset="0"/>
              </a:rPr>
              <a:t>Catalog</a:t>
            </a:r>
            <a:r>
              <a:rPr lang="es-ES" sz="1400" dirty="0">
                <a:latin typeface="Montserrat" panose="00000500000000000000" pitchFamily="2" charset="0"/>
              </a:rPr>
              <a:t>?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Claves de Unity </a:t>
            </a:r>
            <a:r>
              <a:rPr lang="es-ES" sz="1400" dirty="0" err="1">
                <a:latin typeface="Montserrat" panose="00000500000000000000" pitchFamily="2" charset="0"/>
              </a:rPr>
              <a:t>Catalog</a:t>
            </a:r>
            <a:endParaRPr lang="es-ES" sz="1400" dirty="0">
              <a:latin typeface="Montserrat" panose="00000500000000000000" pitchFamily="2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¿Qué entendemos por Gobernanza?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Unity </a:t>
            </a:r>
            <a:r>
              <a:rPr lang="es-ES" sz="1400" dirty="0" err="1">
                <a:latin typeface="Montserrat" panose="00000500000000000000" pitchFamily="2" charset="0"/>
              </a:rPr>
              <a:t>Catalog</a:t>
            </a:r>
            <a:r>
              <a:rPr lang="es-ES" sz="1400" dirty="0">
                <a:latin typeface="Montserrat" panose="00000500000000000000" pitchFamily="2" charset="0"/>
              </a:rPr>
              <a:t> desde la perspectiva de Gobernanza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400" dirty="0">
                <a:latin typeface="Montserrat" panose="00000500000000000000" pitchFamily="2" charset="0"/>
              </a:rPr>
              <a:t>Repaso de objetos de </a:t>
            </a:r>
            <a:r>
              <a:rPr lang="es-ES" sz="1400" dirty="0" err="1">
                <a:latin typeface="Montserrat" panose="00000500000000000000" pitchFamily="2" charset="0"/>
              </a:rPr>
              <a:t>Databrick</a:t>
            </a:r>
            <a:endParaRPr lang="es-ES" sz="1400" u="sng" dirty="0">
              <a:latin typeface="Montserrat" panose="00000500000000000000" pitchFamily="2" charset="0"/>
            </a:endParaRPr>
          </a:p>
          <a:p>
            <a:pPr marL="1257300" lvl="2" indent="-342900">
              <a:buFont typeface="+mj-lt"/>
              <a:buAutoNum type="arabicPeriod"/>
            </a:pPr>
            <a:endParaRPr lang="es-ES" sz="1400" u="sng" dirty="0">
              <a:latin typeface="Montserrat" panose="00000500000000000000" pitchFamily="2" charset="0"/>
            </a:endParaRPr>
          </a:p>
          <a:p>
            <a:pPr marL="0" lvl="0" indent="0">
              <a:buFont typeface="+mj-lt"/>
              <a:buNone/>
            </a:pPr>
            <a:r>
              <a:rPr lang="es-ES" sz="1400" u="none" dirty="0">
                <a:latin typeface="Montserrat" panose="00000500000000000000" pitchFamily="2" charset="0"/>
              </a:rPr>
              <a:t>Posteriormente de manera practica nos centraremos en UC con foco en seguridad, es decir control de accesos, tipos de permisos y ocultación y enmascaramiento</a:t>
            </a:r>
          </a:p>
          <a:p>
            <a:pPr marL="0" lvl="0" indent="0">
              <a:buFont typeface="+mj-lt"/>
              <a:buNone/>
            </a:pPr>
            <a:endParaRPr lang="es-ES" sz="1400" u="none" dirty="0">
              <a:latin typeface="Montserrat" panose="00000500000000000000" pitchFamily="2" charset="0"/>
            </a:endParaRPr>
          </a:p>
          <a:p>
            <a:pPr marL="0" lvl="0" indent="0">
              <a:buFont typeface="+mj-lt"/>
              <a:buNone/>
            </a:pPr>
            <a:endParaRPr lang="es-ES" sz="1400" u="none" dirty="0">
              <a:latin typeface="Montserrat" panose="00000500000000000000" pitchFamily="2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19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0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0BE5-4301-5F20-623F-09F716D5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BCC348-9BB5-65C9-866E-03267CB27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ABC440-42B3-711E-E9B8-E19F32B6E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Si hablamos ahora de Gobernanza….</a:t>
            </a:r>
          </a:p>
          <a:p>
            <a:endParaRPr lang="es-ES" b="1" dirty="0"/>
          </a:p>
          <a:p>
            <a:r>
              <a:rPr lang="es-ES" b="1" dirty="0"/>
              <a:t>Definir la gobernanza es complicado y no hay una definición única, pero podemos entenderla como:</a:t>
            </a:r>
          </a:p>
          <a:p>
            <a:endParaRPr lang="es-ES" b="1" dirty="0"/>
          </a:p>
          <a:p>
            <a:r>
              <a:rPr lang="es-ES" b="1" dirty="0"/>
              <a:t>🟦 ¿Qué es la Gobernanza de Datos?</a:t>
            </a:r>
          </a:p>
          <a:p>
            <a:r>
              <a:rPr lang="es-ES" b="1" dirty="0"/>
              <a:t>La gobernanza de datos</a:t>
            </a:r>
            <a:r>
              <a:rPr lang="es-ES" dirty="0"/>
              <a:t> es el conjunto de políticas, procesos y herramientas que aseguran que los datos de una organización sean </a:t>
            </a:r>
            <a:r>
              <a:rPr lang="es-ES" b="1" dirty="0"/>
              <a:t>accesibles, seguros, confiables y estén bien gestionados</a:t>
            </a:r>
            <a:r>
              <a:rPr lang="es-ES" dirty="0"/>
              <a:t> durante todo su ciclo de vida.</a:t>
            </a:r>
          </a:p>
          <a:p>
            <a:endParaRPr lang="es-ES" b="1" dirty="0"/>
          </a:p>
          <a:p>
            <a:r>
              <a:rPr lang="es-ES" b="1" dirty="0"/>
              <a:t>🎯Los Objetivos clave de la Gobernanza de Datos y problemas que encontramos más comunes:</a:t>
            </a:r>
          </a:p>
          <a:p>
            <a:r>
              <a:rPr lang="es-ES" b="1" u="sng" dirty="0"/>
              <a:t>ACCESIBLES-SEGUROS:</a:t>
            </a:r>
          </a:p>
          <a:p>
            <a:r>
              <a:rPr lang="es-ES" dirty="0"/>
              <a:t>✅ </a:t>
            </a:r>
            <a:r>
              <a:rPr lang="es-ES" b="1" dirty="0"/>
              <a:t>Control de acceso</a:t>
            </a:r>
            <a:r>
              <a:rPr lang="es-ES" dirty="0"/>
              <a:t> → Asegurar que cada usuario vea solo lo que debe ver. 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entornos tradicionales, cada sistema (HDFS, bases de datos,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Spark, aplicaciones BI) tiene su propio mecanismo de permisos.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Los roles y usuarios deben configurarse varias veces → duplicación de esfuerzos.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No hay forma unificada de aplicar el principio de mínimo privilegio.</a:t>
            </a:r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✅ </a:t>
            </a:r>
            <a:r>
              <a:rPr lang="es-ES" b="1" dirty="0"/>
              <a:t>Clasificación datos sensibles</a:t>
            </a:r>
            <a:r>
              <a:rPr lang="es-ES" dirty="0"/>
              <a:t>→ Identificar y categorizar los datos según su nivel de sensibilidad (como PII, financieros, confidenciales) para aplicar políticas de acceso adecuadas sin bloquear innecesariamente su uso.</a:t>
            </a:r>
          </a:p>
          <a:p>
            <a:br>
              <a:rPr lang="es-ES" dirty="0"/>
            </a:br>
            <a:r>
              <a:rPr lang="es-ES" b="1" u="sng" dirty="0"/>
              <a:t>SEGUROS-CONECTADOS</a:t>
            </a:r>
            <a:br>
              <a:rPr lang="es-ES" dirty="0"/>
            </a:br>
            <a:r>
              <a:rPr lang="es-ES" dirty="0"/>
              <a:t>✅ </a:t>
            </a:r>
            <a:r>
              <a:rPr lang="es-ES" b="1" dirty="0"/>
              <a:t>Seguridad y cumplimiento</a:t>
            </a:r>
            <a:r>
              <a:rPr lang="es-ES" dirty="0"/>
              <a:t> → Proteger datos sensibles (como PII) y cumplir con normativas (GDPR, HIPAA...)</a:t>
            </a:r>
            <a:br>
              <a:rPr lang="es-ES" dirty="0"/>
            </a:br>
            <a:r>
              <a:rPr lang="es-ES" b="1" dirty="0"/>
              <a:t>✅ Visibilidad y control sobre entornos distribuidos </a:t>
            </a:r>
            <a:r>
              <a:rPr lang="es-ES" dirty="0"/>
              <a:t>Garantizar seguridad y trazabilidad incluso cuando los datos residen en múltiples plataformas, nubes o catálogos federados.</a:t>
            </a:r>
            <a:br>
              <a:rPr lang="es-ES" dirty="0"/>
            </a:b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Compartir datos con otros equipos/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partners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suele implicar mover copias físicas (CSV, Excel,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dumps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Esto genera riesgos de fuga y pérdida de control: una vez enviado el archivo, no se puede revocar.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Es difícil garantizar que todos trabajan con la misma versión del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b="1" u="sng" dirty="0"/>
              <a:t>CONECTADOS-CONFIABLES</a:t>
            </a:r>
            <a:br>
              <a:rPr lang="es-ES" dirty="0"/>
            </a:br>
            <a:r>
              <a:rPr lang="es-ES" dirty="0"/>
              <a:t>✅ </a:t>
            </a:r>
            <a:r>
              <a:rPr lang="es-ES" b="1" dirty="0"/>
              <a:t>Calidad y trazabilidad</a:t>
            </a:r>
            <a:r>
              <a:rPr lang="es-ES" dirty="0"/>
              <a:t> → Saber de dónde vienen los datos, cómo se transforman y si son fiables</a:t>
            </a:r>
          </a:p>
          <a:p>
            <a:r>
              <a:rPr lang="es-ES" dirty="0"/>
              <a:t>✅ </a:t>
            </a:r>
            <a:r>
              <a:rPr lang="es-ES" b="1" dirty="0"/>
              <a:t>Catalogación y descubrimiento</a:t>
            </a:r>
            <a:r>
              <a:rPr lang="es-ES" dirty="0"/>
              <a:t> → Facilitar que los usuarios encuentren los datos que necesitan</a:t>
            </a:r>
            <a:br>
              <a:rPr lang="es-ES" dirty="0"/>
            </a:br>
            <a:r>
              <a:rPr lang="es-ES" dirty="0"/>
              <a:t>En otros entornos….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No existe un mapa claro de linaje: no sabemos de dónde viene un dato ni cómo se ha transformado.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Esto dificulta auditorías (ej. cumplimiento GDPR, SOX).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- Si un KPI está mal calculado, es difícil saber en qué paso del pipeline se introdujo el error</a:t>
            </a:r>
          </a:p>
          <a:p>
            <a:br>
              <a:rPr lang="es-ES" dirty="0"/>
            </a:br>
            <a:r>
              <a:rPr lang="es-ES" b="1" u="sng" dirty="0"/>
              <a:t>CONFIABLES-ACCESIBLES</a:t>
            </a:r>
            <a:br>
              <a:rPr lang="es-ES" dirty="0"/>
            </a:br>
            <a:r>
              <a:rPr lang="es-ES" b="1" dirty="0"/>
              <a:t>✅ Versionado y trazabilidad histórica </a:t>
            </a:r>
            <a:r>
              <a:rPr lang="es-ES" dirty="0"/>
              <a:t>Asegurar que los usuarios trabajen siempre con versiones válidas y auditables de los datos, con posibilidad de auditar cambios y recuperar estados anteriores.</a:t>
            </a:r>
          </a:p>
          <a:p>
            <a:r>
              <a:rPr lang="es-ES" dirty="0"/>
              <a:t>✅ </a:t>
            </a:r>
            <a:r>
              <a:rPr lang="es-ES" b="1" dirty="0"/>
              <a:t>Consistencia en definiciones</a:t>
            </a:r>
            <a:r>
              <a:rPr lang="es-ES" dirty="0"/>
              <a:t> → Alinear términos clave y métricas en toda la organización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Información aislada en sistemas/departamentos, sin un repositorio central.  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- Consecuencias: duplicidad, incoherencia, falta de colaboración.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- Ejemplo sencillo:</a:t>
            </a:r>
          </a:p>
          <a:p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Marketing tiene su base de clientes en un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CRM.Ventas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usa otra lista de clientes en un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Excel.Finanzas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usa aún otra versión en su ERP.</a:t>
            </a:r>
          </a:p>
          <a:p>
            <a:endParaRPr lang="es-ES" dirty="0"/>
          </a:p>
          <a:p>
            <a:endParaRPr lang="es-ES" dirty="0"/>
          </a:p>
          <a:p>
            <a:r>
              <a:rPr lang="es-ES" b="1" dirty="0"/>
              <a:t>🧠 Frase de resumen</a:t>
            </a:r>
          </a:p>
          <a:p>
            <a:r>
              <a:rPr lang="es-ES" b="1" dirty="0"/>
              <a:t>Gobernar datos no es solo protegerlos, es también hacerlos utilizables con confianza.</a:t>
            </a: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541216-FC33-B8CF-C987-BF84D07F2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52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Crear algo de debate</a:t>
            </a:r>
          </a:p>
          <a:p>
            <a:pPr rtl="0"/>
            <a:endParaRPr lang="es-E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ESPECTRO DE GOBERNANZA EN LAS ORGANIZACIONES</a:t>
            </a:r>
            <a:endParaRPr lang="es-ES" b="1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Hay empresas con enfoque centralizado, donde un equipo es responsable y realiza la gobernanza para toda la compañía.</a:t>
            </a:r>
          </a:p>
          <a:p>
            <a:pPr rtl="0"/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el otro lado del espectro son 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experts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los que crean 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asstes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ademas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los gobiernan a nivel de gobernanza.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por supuesto hay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compañias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se colocan en el medio.</a:t>
            </a:r>
          </a:p>
          <a:p>
            <a:pPr rtl="0"/>
            <a:endParaRPr lang="es-E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=&gt; ¿Dónde creéis que se coloca vuestra empresa?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punto no pretende decir cual es bueno o malo sino entender donde se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tu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compañia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hacer uso correctamente de las herramientas que provee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databricks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eficientar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donde te encuentras en ese espectro.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22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328AD-365E-E126-3784-AD013C16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0E4D490-0CDA-3A32-6F28-6288A942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E1E81F1-356C-25AE-D865-26DDD2303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10AB7B-9CD9-79AE-4FB7-92585FBF9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85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Una primera definición de Unity </a:t>
            </a:r>
            <a:r>
              <a:rPr lang="es-ES" b="1" dirty="0" err="1"/>
              <a:t>Catalog</a:t>
            </a:r>
            <a:r>
              <a:rPr lang="es-ES" b="1" dirty="0"/>
              <a:t> es que es el ecosistema que propone </a:t>
            </a:r>
            <a:r>
              <a:rPr lang="es-ES" b="1" dirty="0" err="1"/>
              <a:t>databrick</a:t>
            </a:r>
            <a:r>
              <a:rPr lang="es-ES" b="1" dirty="0"/>
              <a:t> para que se comuniquen las distintas personas y objetos que pueden generarse en un </a:t>
            </a:r>
            <a:r>
              <a:rPr lang="es-ES" b="1" dirty="0" err="1"/>
              <a:t>entonorno</a:t>
            </a:r>
            <a:r>
              <a:rPr lang="es-ES" b="1" dirty="0"/>
              <a:t> de Datos.</a:t>
            </a:r>
          </a:p>
          <a:p>
            <a:endParaRPr lang="es-ES" dirty="0"/>
          </a:p>
          <a:p>
            <a:r>
              <a:rPr lang="es-ES" dirty="0"/>
              <a:t>Por lo tanto será un entorno donde podrán convivir distintos roles como data </a:t>
            </a:r>
            <a:r>
              <a:rPr lang="es-ES" dirty="0" err="1"/>
              <a:t>engineers</a:t>
            </a:r>
            <a:r>
              <a:rPr lang="es-ES" dirty="0"/>
              <a:t>, data Analyst, data </a:t>
            </a:r>
            <a:r>
              <a:rPr lang="es-ES" dirty="0" err="1"/>
              <a:t>scientist</a:t>
            </a:r>
            <a:r>
              <a:rPr lang="es-ES" dirty="0"/>
              <a:t>, </a:t>
            </a:r>
            <a:r>
              <a:rPr lang="es-ES" dirty="0" err="1"/>
              <a:t>admins</a:t>
            </a:r>
            <a:r>
              <a:rPr lang="es-ES" dirty="0"/>
              <a:t>… y relacionarse con los objetos que se generan en un paradigma de datos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08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 err="1"/>
              <a:t>Databricks</a:t>
            </a:r>
            <a:r>
              <a:rPr lang="es-ES" b="1" dirty="0"/>
              <a:t> explica que UC es capaz de ofrecer gestión en estas </a:t>
            </a:r>
            <a:r>
              <a:rPr lang="es-ES" b="1" dirty="0" err="1"/>
              <a:t>areas</a:t>
            </a:r>
            <a:br>
              <a:rPr lang="es-ES" b="1" dirty="0"/>
            </a:br>
            <a:endParaRPr lang="es-ES" b="1" dirty="0"/>
          </a:p>
          <a:p>
            <a:r>
              <a:rPr lang="es-ES" b="1" dirty="0"/>
              <a:t>1. 🔐 Access </a:t>
            </a:r>
            <a:r>
              <a:rPr lang="es-ES" b="1" dirty="0" err="1"/>
              <a:t>Controls</a:t>
            </a:r>
            <a:r>
              <a:rPr lang="es-ES" b="1" dirty="0"/>
              <a:t> (Controles de acceso)</a:t>
            </a:r>
          </a:p>
          <a:p>
            <a:r>
              <a:rPr lang="es-ES" dirty="0"/>
              <a:t>Permite definir y aplicar </a:t>
            </a:r>
            <a:r>
              <a:rPr lang="es-ES" b="1" dirty="0"/>
              <a:t>quién puede ver o modificar qué</a:t>
            </a:r>
            <a:r>
              <a:rPr lang="es-ES" dirty="0"/>
              <a:t>, desde catálogos y esquemas hasta columnas concretas.</a:t>
            </a:r>
          </a:p>
          <a:p>
            <a:r>
              <a:rPr lang="es-ES" dirty="0"/>
              <a:t>Se basa en </a:t>
            </a:r>
            <a:r>
              <a:rPr lang="es-ES" b="1" dirty="0" err="1"/>
              <a:t>ACLs</a:t>
            </a:r>
            <a:r>
              <a:rPr lang="es-ES" dirty="0"/>
              <a:t> (Listas de Control de Acceso) y soporta nivel </a:t>
            </a:r>
            <a:r>
              <a:rPr lang="es-ES" b="1" dirty="0"/>
              <a:t>tabla, vista, función, columna</a:t>
            </a:r>
            <a:r>
              <a:rPr lang="es-ES" dirty="0"/>
              <a:t>.</a:t>
            </a:r>
          </a:p>
          <a:p>
            <a:r>
              <a:rPr lang="es-ES" dirty="0"/>
              <a:t>Compatible con RBAC (roles/grupos) y SCIM.</a:t>
            </a:r>
          </a:p>
          <a:p>
            <a:endParaRPr lang="es-ES" dirty="0"/>
          </a:p>
          <a:p>
            <a:r>
              <a:rPr lang="es-ES" b="1" dirty="0"/>
              <a:t>2. 🔗 </a:t>
            </a:r>
            <a:r>
              <a:rPr lang="es-ES" b="1" dirty="0" err="1"/>
              <a:t>Lineage</a:t>
            </a:r>
            <a:r>
              <a:rPr lang="es-ES" b="1" dirty="0"/>
              <a:t> (Linaje de datos)</a:t>
            </a:r>
          </a:p>
          <a:p>
            <a:r>
              <a:rPr lang="es-ES" dirty="0"/>
              <a:t>Rastrea automáticamente el </a:t>
            </a:r>
            <a:r>
              <a:rPr lang="es-ES" b="1" dirty="0"/>
              <a:t>origen y transformación</a:t>
            </a:r>
            <a:r>
              <a:rPr lang="es-ES" dirty="0"/>
              <a:t> de los datos:</a:t>
            </a:r>
          </a:p>
          <a:p>
            <a:r>
              <a:rPr lang="es-ES" dirty="0"/>
              <a:t>Desde los notebooks y </a:t>
            </a:r>
            <a:r>
              <a:rPr lang="es-ES" dirty="0" err="1"/>
              <a:t>jobs</a:t>
            </a:r>
            <a:r>
              <a:rPr lang="es-ES" dirty="0"/>
              <a:t> que los generan</a:t>
            </a:r>
          </a:p>
          <a:p>
            <a:r>
              <a:rPr lang="es-ES" dirty="0"/>
              <a:t>Hasta los </a:t>
            </a:r>
            <a:r>
              <a:rPr lang="es-ES" dirty="0" err="1"/>
              <a:t>dashboards</a:t>
            </a:r>
            <a:r>
              <a:rPr lang="es-ES" dirty="0"/>
              <a:t> o usuarios que los consumen</a:t>
            </a:r>
          </a:p>
          <a:p>
            <a:r>
              <a:rPr lang="es-ES" dirty="0"/>
              <a:t>Aplica tanto a </a:t>
            </a:r>
            <a:r>
              <a:rPr lang="es-ES" b="1" dirty="0"/>
              <a:t>tablas como columnas</a:t>
            </a:r>
            <a:endParaRPr lang="es-ES" dirty="0"/>
          </a:p>
          <a:p>
            <a:endParaRPr lang="es-ES" dirty="0"/>
          </a:p>
          <a:p>
            <a:r>
              <a:rPr lang="es-ES" b="1" dirty="0"/>
              <a:t>3. 🔍 Discovery (Descubrimiento)</a:t>
            </a:r>
          </a:p>
          <a:p>
            <a:r>
              <a:rPr lang="es-ES" dirty="0"/>
              <a:t>Permite que los usuarios encuentren rápidamente los datos disponibles a través de:</a:t>
            </a:r>
          </a:p>
          <a:p>
            <a:r>
              <a:rPr lang="es-ES" dirty="0"/>
              <a:t>Exploradores tipo Data Explorer</a:t>
            </a:r>
          </a:p>
          <a:p>
            <a:r>
              <a:rPr lang="es-ES" dirty="0"/>
              <a:t>Etiquetas (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TAGS</a:t>
            </a:r>
            <a:r>
              <a:rPr lang="es-ES" dirty="0"/>
              <a:t>) y comentarios (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COMMENT ON</a:t>
            </a:r>
            <a:r>
              <a:rPr lang="es-ES" dirty="0"/>
              <a:t>)</a:t>
            </a:r>
          </a:p>
          <a:p>
            <a:r>
              <a:rPr lang="es-ES" dirty="0"/>
              <a:t>Clasificación por dominios/catálogos/esquemas</a:t>
            </a:r>
          </a:p>
          <a:p>
            <a:endParaRPr lang="es-ES" dirty="0"/>
          </a:p>
          <a:p>
            <a:r>
              <a:rPr lang="es-ES" b="1" dirty="0"/>
              <a:t>4. 📊 </a:t>
            </a:r>
            <a:r>
              <a:rPr lang="es-ES" b="1" dirty="0" err="1"/>
              <a:t>Monitoring</a:t>
            </a:r>
            <a:r>
              <a:rPr lang="es-ES" b="1" dirty="0"/>
              <a:t> (Monitorización)</a:t>
            </a:r>
          </a:p>
          <a:p>
            <a:r>
              <a:rPr lang="es-ES" dirty="0"/>
              <a:t>Supervisión de uso de datos y comportamiento:</a:t>
            </a:r>
          </a:p>
          <a:p>
            <a:r>
              <a:rPr lang="es-ES" dirty="0"/>
              <a:t>Consultas ejecutadas</a:t>
            </a:r>
          </a:p>
          <a:p>
            <a:r>
              <a:rPr lang="es-ES" dirty="0"/>
              <a:t>Tiempo de ejecución</a:t>
            </a:r>
          </a:p>
          <a:p>
            <a:r>
              <a:rPr lang="es-ES" dirty="0"/>
              <a:t>Cargas de trabajo sobre cada tabla</a:t>
            </a:r>
          </a:p>
          <a:p>
            <a:endParaRPr lang="es-ES" dirty="0"/>
          </a:p>
          <a:p>
            <a:r>
              <a:rPr lang="es-ES" b="1" dirty="0"/>
              <a:t>5. 📁 </a:t>
            </a:r>
            <a:r>
              <a:rPr lang="es-ES" b="1" dirty="0" err="1"/>
              <a:t>Auditing</a:t>
            </a:r>
            <a:r>
              <a:rPr lang="es-ES" b="1" dirty="0"/>
              <a:t> (Auditoría)</a:t>
            </a:r>
          </a:p>
          <a:p>
            <a:r>
              <a:rPr lang="es-ES" dirty="0"/>
              <a:t>Registro detallado y persistente de todas las acciones sobre los datos:</a:t>
            </a:r>
          </a:p>
          <a:p>
            <a:r>
              <a:rPr lang="es-ES" dirty="0"/>
              <a:t>¿Quién accedió a qué, cuándo y cómo?</a:t>
            </a:r>
          </a:p>
          <a:p>
            <a:r>
              <a:rPr lang="es-ES" dirty="0"/>
              <a:t>¿Se modificó un esquema o una tabla?</a:t>
            </a:r>
          </a:p>
          <a:p>
            <a:r>
              <a:rPr lang="es-ES" dirty="0"/>
              <a:t>Crucial para cumplimiento normativo (GDPR, HIPAA…)</a:t>
            </a:r>
          </a:p>
          <a:p>
            <a:endParaRPr lang="es-ES" dirty="0"/>
          </a:p>
          <a:p>
            <a:r>
              <a:rPr lang="es-ES" b="1" dirty="0"/>
              <a:t>6. 🤝 </a:t>
            </a:r>
            <a:r>
              <a:rPr lang="es-ES" b="1" dirty="0" err="1"/>
              <a:t>Sharing</a:t>
            </a:r>
            <a:r>
              <a:rPr lang="es-ES" b="1" dirty="0"/>
              <a:t> (Compartición de datos)</a:t>
            </a:r>
          </a:p>
          <a:p>
            <a:r>
              <a:rPr lang="es-ES" dirty="0"/>
              <a:t>Gestión segura y gobernada del </a:t>
            </a:r>
            <a:r>
              <a:rPr lang="es-ES" b="1" dirty="0"/>
              <a:t>intercambio de datos entre entornos o empresas</a:t>
            </a:r>
            <a:r>
              <a:rPr lang="es-ES" dirty="0"/>
              <a:t>:</a:t>
            </a:r>
          </a:p>
          <a:p>
            <a:r>
              <a:rPr lang="es-ES" dirty="0"/>
              <a:t>Unity </a:t>
            </a:r>
            <a:r>
              <a:rPr lang="es-ES" dirty="0" err="1"/>
              <a:t>Catalog</a:t>
            </a:r>
            <a:r>
              <a:rPr lang="es-ES" dirty="0"/>
              <a:t> permite compartir datos entre </a:t>
            </a:r>
            <a:r>
              <a:rPr lang="es-ES" dirty="0" err="1"/>
              <a:t>workspaces</a:t>
            </a:r>
            <a:endParaRPr lang="es-ES" dirty="0"/>
          </a:p>
          <a:p>
            <a:r>
              <a:rPr lang="es-ES" dirty="0"/>
              <a:t>También soporta </a:t>
            </a:r>
            <a:r>
              <a:rPr lang="es-ES" b="1" dirty="0"/>
              <a:t>Delta </a:t>
            </a:r>
            <a:r>
              <a:rPr lang="es-ES" b="1" dirty="0" err="1"/>
              <a:t>Sharing</a:t>
            </a:r>
            <a:r>
              <a:rPr lang="es-ES" dirty="0"/>
              <a:t> para compartir </a:t>
            </a:r>
            <a:r>
              <a:rPr lang="es-ES" dirty="0" err="1"/>
              <a:t>datasets</a:t>
            </a:r>
            <a:r>
              <a:rPr lang="es-ES" dirty="0"/>
              <a:t> externos de forma segura y sin duplicación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90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s-ES" b="0" dirty="0">
                <a:effectLst/>
              </a:rPr>
            </a:br>
            <a:br>
              <a:rPr lang="es-ES" b="0" dirty="0">
                <a:effectLst/>
              </a:rPr>
            </a:br>
            <a:endParaRPr lang="es-ES" b="0" dirty="0">
              <a:effectLst/>
            </a:endParaRPr>
          </a:p>
          <a:p>
            <a:pPr rtl="0"/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 de las </a:t>
            </a:r>
            <a:r>
              <a:rPr lang="es-E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caracteristicas</a:t>
            </a:r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capacidades mas importantes de UC en </a:t>
            </a:r>
            <a:r>
              <a:rPr lang="es-E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Databricks</a:t>
            </a:r>
            <a:endParaRPr lang="es-ES" sz="12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capacidad de realmente unificar datos provenientes de diferentes entornos o fuentes.  No solo la </a:t>
            </a:r>
            <a:r>
              <a:rPr lang="es-E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informacion</a:t>
            </a:r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interna de </a:t>
            </a:r>
            <a:r>
              <a:rPr lang="es-E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databricks</a:t>
            </a:r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sino </a:t>
            </a:r>
            <a:r>
              <a:rPr lang="es-E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tambien</a:t>
            </a:r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informacion</a:t>
            </a:r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proveniente de otras plataformas como </a:t>
            </a:r>
            <a:r>
              <a:rPr lang="es-E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snowflake</a:t>
            </a:r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red shift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🔹 </a:t>
            </a:r>
            <a:r>
              <a:rPr lang="es-ES" b="1" dirty="0" err="1"/>
              <a:t>External</a:t>
            </a:r>
            <a:r>
              <a:rPr lang="es-ES" b="1" dirty="0"/>
              <a:t> Compute </a:t>
            </a:r>
            <a:r>
              <a:rPr lang="es-ES" b="1" dirty="0" err="1"/>
              <a:t>Platforms</a:t>
            </a:r>
            <a:endParaRPr lang="es-ES" b="1" dirty="0"/>
          </a:p>
          <a:p>
            <a:r>
              <a:rPr lang="es-ES" dirty="0"/>
              <a:t>Motores externos como Amazon </a:t>
            </a:r>
            <a:r>
              <a:rPr lang="es-ES" dirty="0" err="1"/>
              <a:t>Athena</a:t>
            </a:r>
            <a:r>
              <a:rPr lang="es-ES" dirty="0"/>
              <a:t>, EMR, Trino, Presto o Spark acceden a datos gobernados por Unity </a:t>
            </a:r>
            <a:r>
              <a:rPr lang="es-ES" dirty="0" err="1"/>
              <a:t>Catalog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➡️ Garantiza que la gobernanza (tags, permisos, máscaras) definida en Unity </a:t>
            </a:r>
            <a:r>
              <a:rPr lang="es-ES" dirty="0" err="1"/>
              <a:t>Catalog</a:t>
            </a:r>
            <a:r>
              <a:rPr lang="es-ES" dirty="0"/>
              <a:t> se respete incluso cuando los datos son consultados desde fuera de </a:t>
            </a:r>
            <a:r>
              <a:rPr lang="es-ES" dirty="0" err="1"/>
              <a:t>Databricks</a:t>
            </a:r>
            <a:r>
              <a:rPr lang="es-ES" dirty="0"/>
              <a:t>.</a:t>
            </a:r>
          </a:p>
          <a:p>
            <a:pPr marL="0" indent="0" rtl="0">
              <a:buFont typeface="Arial" panose="020B0604020202020204" pitchFamily="34" charset="0"/>
              <a:buNone/>
            </a:pPr>
            <a:endParaRPr lang="es-ES" b="1" dirty="0">
              <a:effectLst/>
            </a:endParaRPr>
          </a:p>
          <a:p>
            <a:r>
              <a:rPr lang="es-ES" b="1" dirty="0"/>
              <a:t>🔹 Cloud Data Lake</a:t>
            </a:r>
          </a:p>
          <a:p>
            <a:r>
              <a:rPr lang="es-ES" dirty="0"/>
              <a:t>Acceso directo a datos almacenados en S3, ADLS o GCS (almacenamiento en la nube).</a:t>
            </a:r>
            <a:br>
              <a:rPr lang="es-ES" dirty="0"/>
            </a:br>
            <a:r>
              <a:rPr lang="es-ES" dirty="0"/>
              <a:t>➡️ Permite lectura y escritura nativas sobre datos estructurados y no estructurados desde </a:t>
            </a:r>
            <a:r>
              <a:rPr lang="es-ES" dirty="0" err="1"/>
              <a:t>Databricks</a:t>
            </a:r>
            <a:r>
              <a:rPr lang="es-ES" dirty="0"/>
              <a:t>, con gobernanza aplicada por Unity </a:t>
            </a:r>
            <a:r>
              <a:rPr lang="es-ES" dirty="0" err="1"/>
              <a:t>Catalog</a:t>
            </a:r>
            <a:r>
              <a:rPr lang="es-ES" dirty="0"/>
              <a:t>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🔹 </a:t>
            </a:r>
            <a:r>
              <a:rPr lang="es-ES" b="1" dirty="0" err="1"/>
              <a:t>Catalog</a:t>
            </a:r>
            <a:r>
              <a:rPr lang="es-ES" b="1" dirty="0"/>
              <a:t> </a:t>
            </a:r>
            <a:r>
              <a:rPr lang="es-ES" b="1" dirty="0" err="1"/>
              <a:t>Federation</a:t>
            </a:r>
            <a:endParaRPr lang="es-ES" b="1" dirty="0"/>
          </a:p>
          <a:p>
            <a:r>
              <a:rPr lang="es-ES" dirty="0"/>
              <a:t>Unity </a:t>
            </a:r>
            <a:r>
              <a:rPr lang="es-ES" dirty="0" err="1"/>
              <a:t>Catalog</a:t>
            </a:r>
            <a:r>
              <a:rPr lang="es-ES" dirty="0"/>
              <a:t> se conecta a metadatos externos (como AWS </a:t>
            </a:r>
            <a:r>
              <a:rPr lang="es-ES" dirty="0" err="1"/>
              <a:t>Glue</a:t>
            </a:r>
            <a:r>
              <a:rPr lang="es-ES" dirty="0"/>
              <a:t> o Apache </a:t>
            </a:r>
            <a:r>
              <a:rPr lang="es-ES" dirty="0" err="1"/>
              <a:t>Hive</a:t>
            </a:r>
            <a:r>
              <a:rPr lang="es-ES" dirty="0"/>
              <a:t>).</a:t>
            </a:r>
            <a:br>
              <a:rPr lang="es-ES" dirty="0"/>
            </a:br>
            <a:r>
              <a:rPr lang="es-ES" dirty="0"/>
              <a:t>➡️ Expone catálogos ajenos dentro del entorno de </a:t>
            </a:r>
            <a:r>
              <a:rPr lang="es-ES" dirty="0" err="1"/>
              <a:t>Databricks</a:t>
            </a:r>
            <a:r>
              <a:rPr lang="es-ES" dirty="0"/>
              <a:t>, permitiendo exploración y descubrimiento, aunque los datos permanezcan fuera.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🔹 Data </a:t>
            </a:r>
            <a:r>
              <a:rPr lang="es-ES" b="1" dirty="0" err="1"/>
              <a:t>Federation</a:t>
            </a:r>
            <a:endParaRPr lang="es-ES" b="1" dirty="0"/>
          </a:p>
          <a:p>
            <a:r>
              <a:rPr lang="es-ES" dirty="0" err="1"/>
              <a:t>Databricks</a:t>
            </a:r>
            <a:r>
              <a:rPr lang="es-ES" dirty="0"/>
              <a:t> ejecuta consultas hacia fuentes externas como </a:t>
            </a:r>
            <a:r>
              <a:rPr lang="es-ES" dirty="0" err="1"/>
              <a:t>Snowflake</a:t>
            </a:r>
            <a:r>
              <a:rPr lang="es-ES" dirty="0"/>
              <a:t>, </a:t>
            </a:r>
            <a:r>
              <a:rPr lang="es-ES" dirty="0" err="1"/>
              <a:t>Redshift</a:t>
            </a:r>
            <a:r>
              <a:rPr lang="es-ES" dirty="0"/>
              <a:t>, </a:t>
            </a:r>
            <a:r>
              <a:rPr lang="es-ES" dirty="0" err="1"/>
              <a:t>BigQuery</a:t>
            </a:r>
            <a:r>
              <a:rPr lang="es-ES" dirty="0"/>
              <a:t>, PostgreSQL, etc.</a:t>
            </a:r>
            <a:br>
              <a:rPr lang="es-ES" dirty="0"/>
            </a:br>
            <a:r>
              <a:rPr lang="es-ES" dirty="0"/>
              <a:t>➡️ Permite análisis desde </a:t>
            </a:r>
            <a:r>
              <a:rPr lang="es-ES" dirty="0" err="1"/>
              <a:t>Databricks</a:t>
            </a:r>
            <a:r>
              <a:rPr lang="es-ES" dirty="0"/>
              <a:t> sin mover los datos, integrando múltiples orígenes bajo una única capa lógica.</a:t>
            </a:r>
          </a:p>
          <a:p>
            <a:endParaRPr lang="es-ES" b="1" dirty="0"/>
          </a:p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30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latin typeface="Montserrat" panose="00000500000000000000" pitchFamily="2" charset="0"/>
              </a:rPr>
              <a:t>Comprender la estructura jerárquica de Unity </a:t>
            </a:r>
            <a:r>
              <a:rPr lang="es-ES" sz="1200" b="1" dirty="0" err="1">
                <a:latin typeface="Montserrat" panose="00000500000000000000" pitchFamily="2" charset="0"/>
              </a:rPr>
              <a:t>Catalog</a:t>
            </a:r>
            <a:r>
              <a:rPr lang="es-ES" sz="1200" b="1" dirty="0">
                <a:latin typeface="Montserrat" panose="00000500000000000000" pitchFamily="2" charset="0"/>
              </a:rPr>
              <a:t> es clave para organizar, asegurar y gobernar los datos: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dirty="0">
                <a:latin typeface="Montserrat" panose="00000500000000000000" pitchFamily="2" charset="0"/>
              </a:rPr>
              <a:t>desde el </a:t>
            </a:r>
            <a:r>
              <a:rPr lang="es-ES" sz="1200" b="1" dirty="0">
                <a:latin typeface="Montserrat" panose="00000500000000000000" pitchFamily="2" charset="0"/>
              </a:rPr>
              <a:t>nivel global (catálogo)</a:t>
            </a:r>
            <a:r>
              <a:rPr lang="es-ES" sz="1200" b="0" dirty="0">
                <a:latin typeface="Montserrat" panose="00000500000000000000" pitchFamily="2" charset="0"/>
              </a:rPr>
              <a:t>, pasando por el </a:t>
            </a:r>
            <a:r>
              <a:rPr lang="es-ES" sz="1200" b="1" dirty="0">
                <a:latin typeface="Montserrat" panose="00000500000000000000" pitchFamily="2" charset="0"/>
              </a:rPr>
              <a:t>espacio de trabajo lógico (</a:t>
            </a:r>
            <a:r>
              <a:rPr lang="es-ES" sz="1200" b="1" dirty="0" err="1">
                <a:latin typeface="Montserrat" panose="00000500000000000000" pitchFamily="2" charset="0"/>
              </a:rPr>
              <a:t>schema</a:t>
            </a:r>
            <a:r>
              <a:rPr lang="es-ES" sz="1200" b="1" dirty="0">
                <a:latin typeface="Montserrat" panose="00000500000000000000" pitchFamily="2" charset="0"/>
              </a:rPr>
              <a:t>)</a:t>
            </a:r>
            <a:r>
              <a:rPr lang="es-ES" sz="1200" b="0" dirty="0">
                <a:latin typeface="Montserrat" panose="00000500000000000000" pitchFamily="2" charset="0"/>
              </a:rPr>
              <a:t>, hasta los objetos concretos donde residen y se consumen los datos (tablas, vistas, volúmenes y funciones).</a:t>
            </a:r>
          </a:p>
          <a:p>
            <a:endParaRPr lang="es-ES" b="1" dirty="0"/>
          </a:p>
          <a:p>
            <a:endParaRPr lang="es-ES" b="1" dirty="0"/>
          </a:p>
          <a:p>
            <a:r>
              <a:rPr lang="es-ES" b="1" dirty="0"/>
              <a:t>📝 ¿Cuándo usar varios </a:t>
            </a:r>
            <a:r>
              <a:rPr lang="es-ES" b="1" dirty="0" err="1"/>
              <a:t>metastores</a:t>
            </a:r>
            <a:r>
              <a:rPr lang="es-ES" b="1" dirty="0"/>
              <a:t> en una empresa?</a:t>
            </a:r>
          </a:p>
          <a:p>
            <a:r>
              <a:rPr lang="es-ES" dirty="0"/>
              <a:t>Aunque lo recomendable es gestionar todo desde un único </a:t>
            </a:r>
            <a:r>
              <a:rPr lang="es-ES" dirty="0" err="1"/>
              <a:t>metastore</a:t>
            </a:r>
            <a:r>
              <a:rPr lang="es-ES" dirty="0"/>
              <a:t> (Unity </a:t>
            </a:r>
            <a:r>
              <a:rPr lang="es-ES" dirty="0" err="1"/>
              <a:t>Catalog</a:t>
            </a:r>
            <a:r>
              <a:rPr lang="es-ES" dirty="0"/>
              <a:t>), hay </a:t>
            </a:r>
            <a:r>
              <a:rPr lang="es-ES" b="1" dirty="0"/>
              <a:t>casos justificados</a:t>
            </a:r>
            <a:r>
              <a:rPr lang="es-ES" dirty="0"/>
              <a:t> donde tener más de uno es necesario:</a:t>
            </a:r>
          </a:p>
          <a:p>
            <a:r>
              <a:rPr lang="es-ES" b="1" dirty="0"/>
              <a:t>🌍 Requisitos de residencia de datos</a:t>
            </a:r>
            <a:br>
              <a:rPr lang="es-ES" dirty="0"/>
            </a:br>
            <a:r>
              <a:rPr lang="es-ES" dirty="0"/>
              <a:t>Cuando una empresa opera en varias regiones con leyes distintas (por ejemplo, GDPR en la UE), puede ser obligatorio mantener los datos en </a:t>
            </a:r>
            <a:r>
              <a:rPr lang="es-ES" dirty="0" err="1"/>
              <a:t>metastores</a:t>
            </a:r>
            <a:r>
              <a:rPr lang="es-ES" dirty="0"/>
              <a:t> separados por región.</a:t>
            </a:r>
          </a:p>
          <a:p>
            <a:r>
              <a:rPr lang="es-ES" b="1" dirty="0"/>
              <a:t>🔐 Necesidad de aislamiento total</a:t>
            </a:r>
            <a:br>
              <a:rPr lang="es-ES" dirty="0"/>
            </a:br>
            <a:r>
              <a:rPr lang="es-ES" dirty="0"/>
              <a:t>En grandes organizaciones con unidades de negocio independientes o altamente reguladas, puede ser necesario que cada una tenga su propio </a:t>
            </a:r>
            <a:r>
              <a:rPr lang="es-ES" dirty="0" err="1"/>
              <a:t>metastore</a:t>
            </a:r>
            <a:r>
              <a:rPr lang="es-ES" dirty="0"/>
              <a:t> para garantizar separación de permisos, políticas y administración.</a:t>
            </a:r>
          </a:p>
          <a:p>
            <a:r>
              <a:rPr lang="es-ES" b="1" dirty="0"/>
              <a:t>☁️ Restricciones </a:t>
            </a:r>
            <a:r>
              <a:rPr lang="es-ES" b="1" dirty="0" err="1"/>
              <a:t>multicloud</a:t>
            </a:r>
            <a:br>
              <a:rPr lang="es-ES" dirty="0"/>
            </a:br>
            <a:r>
              <a:rPr lang="es-ES" dirty="0"/>
              <a:t>Si la empresa opera en distintas nubes (AWS, Azure, GCP), y hay restricciones que impiden compartir un único </a:t>
            </a:r>
            <a:r>
              <a:rPr lang="es-ES" dirty="0" err="1"/>
              <a:t>metastore</a:t>
            </a:r>
            <a:r>
              <a:rPr lang="es-ES" dirty="0"/>
              <a:t> entre nubes, se puede asignar uno por proveedor </a:t>
            </a:r>
            <a:r>
              <a:rPr lang="es-ES" dirty="0" err="1"/>
              <a:t>cloud</a:t>
            </a:r>
            <a:r>
              <a:rPr lang="es-ES" dirty="0"/>
              <a:t>.</a:t>
            </a:r>
          </a:p>
          <a:p>
            <a:r>
              <a:rPr lang="es-ES" b="1" dirty="0"/>
              <a:t>🧪 Entornos críticos de prueba o seguridad</a:t>
            </a:r>
            <a:br>
              <a:rPr lang="es-ES" dirty="0"/>
            </a:br>
            <a:r>
              <a:rPr lang="es-ES" dirty="0"/>
              <a:t>Para ciertos entornos de </a:t>
            </a:r>
            <a:r>
              <a:rPr lang="es-ES" dirty="0" err="1"/>
              <a:t>sandbox</a:t>
            </a:r>
            <a:r>
              <a:rPr lang="es-ES" dirty="0"/>
              <a:t>, pruebas sensibles o desarrollo aislado, puede tener sentido usar un </a:t>
            </a:r>
            <a:r>
              <a:rPr lang="es-ES" dirty="0" err="1"/>
              <a:t>metastore</a:t>
            </a:r>
            <a:r>
              <a:rPr lang="es-ES" dirty="0"/>
              <a:t> separado, aunque no es lo habitual.</a:t>
            </a:r>
          </a:p>
          <a:p>
            <a:r>
              <a:rPr lang="es-ES" dirty="0"/>
              <a:t>📌 </a:t>
            </a:r>
            <a:r>
              <a:rPr lang="es-ES" b="1" dirty="0"/>
              <a:t>Conclusión:</a:t>
            </a:r>
            <a:endParaRPr lang="es-ES" dirty="0"/>
          </a:p>
          <a:p>
            <a:r>
              <a:rPr lang="es-ES" dirty="0"/>
              <a:t>Usar múltiples </a:t>
            </a:r>
            <a:r>
              <a:rPr lang="es-ES" dirty="0" err="1"/>
              <a:t>metastores</a:t>
            </a:r>
            <a:r>
              <a:rPr lang="es-ES" dirty="0"/>
              <a:t> es posible, pero debe ser una </a:t>
            </a:r>
            <a:r>
              <a:rPr lang="es-ES" b="1" dirty="0"/>
              <a:t>decisión estratégica bien justificada</a:t>
            </a:r>
            <a:r>
              <a:rPr lang="es-ES" dirty="0"/>
              <a:t>. Siempre que se pueda, se recomienda mantener un </a:t>
            </a:r>
            <a:r>
              <a:rPr lang="es-ES" b="1" dirty="0"/>
              <a:t>modelo centralizado</a:t>
            </a:r>
            <a:r>
              <a:rPr lang="es-ES" dirty="0"/>
              <a:t> con un único </a:t>
            </a:r>
            <a:r>
              <a:rPr lang="es-ES" dirty="0" err="1"/>
              <a:t>metastore</a:t>
            </a:r>
            <a:r>
              <a:rPr lang="es-ES" dirty="0"/>
              <a:t> para simplificar la gobernanza.</a:t>
            </a:r>
          </a:p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7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459D4-BCCB-8569-076D-B85E13888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0DDC960-57B5-6D75-B50C-B4FBB2085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7DDD42-0FA8-7342-9A30-B01825DD6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Una estructura jerárquica de gobernanza de datos con </a:t>
            </a:r>
            <a:r>
              <a:rPr lang="es-ES" b="1" dirty="0"/>
              <a:t>un único </a:t>
            </a:r>
            <a:r>
              <a:rPr lang="es-ES" b="1" dirty="0" err="1"/>
              <a:t>metastorer</a:t>
            </a:r>
            <a:r>
              <a:rPr lang="es-ES" b="1" dirty="0"/>
              <a:t> </a:t>
            </a:r>
            <a:r>
              <a:rPr lang="es-ES" b="0" dirty="0"/>
              <a:t>pueden utilizarse varios enfo</a:t>
            </a:r>
            <a:r>
              <a:rPr lang="es-ES" dirty="0"/>
              <a:t>ques:</a:t>
            </a:r>
          </a:p>
          <a:p>
            <a:r>
              <a:rPr lang="es-ES" b="1" dirty="0"/>
              <a:t>Centralizados</a:t>
            </a:r>
            <a:r>
              <a:rPr lang="es-ES" dirty="0"/>
              <a:t> → todo lo controla el </a:t>
            </a:r>
            <a:r>
              <a:rPr lang="es-ES" b="1" dirty="0" err="1"/>
              <a:t>Metastore</a:t>
            </a:r>
            <a:r>
              <a:rPr lang="es-ES" b="1" dirty="0"/>
              <a:t> </a:t>
            </a:r>
            <a:r>
              <a:rPr lang="es-ES" b="1" dirty="0" err="1"/>
              <a:t>Admin</a:t>
            </a:r>
            <a:endParaRPr lang="es-ES" dirty="0"/>
          </a:p>
          <a:p>
            <a:r>
              <a:rPr lang="es-ES" b="1" dirty="0"/>
              <a:t>Distribuidos</a:t>
            </a:r>
            <a:r>
              <a:rPr lang="es-ES" dirty="0"/>
              <a:t> → se delega la gobernanza a distintos </a:t>
            </a:r>
            <a:r>
              <a:rPr lang="es-ES" b="1" dirty="0" err="1"/>
              <a:t>Catalog</a:t>
            </a:r>
            <a:r>
              <a:rPr lang="es-ES" b="1" dirty="0"/>
              <a:t> </a:t>
            </a:r>
            <a:r>
              <a:rPr lang="es-ES" b="1" dirty="0" err="1"/>
              <a:t>Admins</a:t>
            </a:r>
            <a:endParaRPr lang="es-ES" dirty="0"/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🧩 Elementos clave explicados</a:t>
            </a:r>
          </a:p>
          <a:p>
            <a:r>
              <a:rPr lang="es-ES" b="1" dirty="0"/>
              <a:t>1. 🗂 Unity </a:t>
            </a:r>
            <a:r>
              <a:rPr lang="es-ES" b="1" dirty="0" err="1"/>
              <a:t>Catalog</a:t>
            </a:r>
            <a:endParaRPr lang="es-ES" b="1" dirty="0"/>
          </a:p>
          <a:p>
            <a:r>
              <a:rPr lang="es-ES" dirty="0"/>
              <a:t>Es la capa lógica de gobernanza, que se gestiona desde un </a:t>
            </a:r>
            <a:r>
              <a:rPr lang="es-ES" b="1" dirty="0" err="1"/>
              <a:t>metastore</a:t>
            </a:r>
            <a:r>
              <a:rPr lang="es-ES" dirty="0"/>
              <a:t> centralizado.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2. 🧱 </a:t>
            </a:r>
            <a:r>
              <a:rPr lang="es-ES" b="1" dirty="0" err="1"/>
              <a:t>Metastore</a:t>
            </a:r>
            <a:endParaRPr lang="es-ES" b="1" dirty="0"/>
          </a:p>
          <a:p>
            <a:r>
              <a:rPr lang="es-ES" dirty="0"/>
              <a:t>Es el </a:t>
            </a:r>
            <a:r>
              <a:rPr lang="es-ES" b="1" dirty="0"/>
              <a:t>núcleo</a:t>
            </a:r>
            <a:r>
              <a:rPr lang="es-ES" dirty="0"/>
              <a:t> donde se guardan todos los metadatos: catálogos, esquemas, tablas, funciones, permisos, etc.</a:t>
            </a:r>
          </a:p>
          <a:p>
            <a:r>
              <a:rPr lang="es-ES" dirty="0"/>
              <a:t>Tiene un rol especial: </a:t>
            </a:r>
            <a:r>
              <a:rPr lang="es-ES" b="1" dirty="0" err="1"/>
              <a:t>Metastore</a:t>
            </a:r>
            <a:r>
              <a:rPr lang="es-ES" b="1" dirty="0"/>
              <a:t> </a:t>
            </a:r>
            <a:r>
              <a:rPr lang="es-ES" b="1" dirty="0" err="1"/>
              <a:t>Admin</a:t>
            </a:r>
            <a:endParaRPr lang="es-ES" dirty="0"/>
          </a:p>
          <a:p>
            <a:pPr lvl="1"/>
            <a:r>
              <a:rPr lang="es-ES" dirty="0"/>
              <a:t>🛠 Puede gestionar el </a:t>
            </a:r>
            <a:r>
              <a:rPr lang="es-ES" dirty="0" err="1"/>
              <a:t>metastore</a:t>
            </a:r>
            <a:r>
              <a:rPr lang="es-ES" dirty="0"/>
              <a:t> por completo</a:t>
            </a:r>
          </a:p>
          <a:p>
            <a:pPr lvl="1"/>
            <a:r>
              <a:rPr lang="es-ES" dirty="0"/>
              <a:t>❌ Pero </a:t>
            </a:r>
            <a:r>
              <a:rPr lang="es-ES" b="1" dirty="0"/>
              <a:t>no puede acceder a los datos</a:t>
            </a:r>
            <a:r>
              <a:rPr lang="es-ES" dirty="0"/>
              <a:t> a menos que se le otorgue explícitamente acceso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3. 📦 Catálogos (Catalog1, Catalog2)</a:t>
            </a:r>
          </a:p>
          <a:p>
            <a:r>
              <a:rPr lang="es-ES" dirty="0"/>
              <a:t>Agrupan esquemas y objetos (tablas, vistas, funciones…). Cada catálogo puede tener un </a:t>
            </a:r>
            <a:r>
              <a:rPr lang="es-ES" b="1" dirty="0" err="1"/>
              <a:t>Catalog</a:t>
            </a:r>
            <a:r>
              <a:rPr lang="es-ES" b="1" dirty="0"/>
              <a:t> </a:t>
            </a:r>
            <a:r>
              <a:rPr lang="es-ES" b="1" dirty="0" err="1"/>
              <a:t>Admin</a:t>
            </a:r>
            <a:r>
              <a:rPr lang="es-ES" dirty="0"/>
              <a:t> distinto.</a:t>
            </a:r>
          </a:p>
          <a:p>
            <a:r>
              <a:rPr lang="es-ES" b="1" dirty="0" err="1"/>
              <a:t>Catalog</a:t>
            </a:r>
            <a:r>
              <a:rPr lang="es-ES" b="1" dirty="0"/>
              <a:t> </a:t>
            </a:r>
            <a:r>
              <a:rPr lang="es-ES" b="1" dirty="0" err="1"/>
              <a:t>Admin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✅ Puede crear esquemas dentro de su catálogo</a:t>
            </a:r>
          </a:p>
          <a:p>
            <a:pPr lvl="1"/>
            <a:r>
              <a:rPr lang="es-ES" dirty="0"/>
              <a:t>✅ Puede gestionar accesos dentro de su catálogo</a:t>
            </a:r>
          </a:p>
          <a:p>
            <a:pPr lvl="1"/>
            <a:r>
              <a:rPr lang="es-ES" dirty="0"/>
              <a:t>Esto permite </a:t>
            </a:r>
            <a:r>
              <a:rPr lang="es-ES" b="1" dirty="0"/>
              <a:t>delegar</a:t>
            </a:r>
            <a:r>
              <a:rPr lang="es-ES" dirty="0"/>
              <a:t> la gobernanza por dominio o unidad de negocio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4. 📁 Storage </a:t>
            </a:r>
            <a:r>
              <a:rPr lang="es-ES" b="1" dirty="0" err="1"/>
              <a:t>Credentials</a:t>
            </a:r>
            <a:r>
              <a:rPr lang="es-ES" b="1" dirty="0"/>
              <a:t>, Shares y </a:t>
            </a:r>
            <a:r>
              <a:rPr lang="es-ES" b="1" dirty="0" err="1"/>
              <a:t>External</a:t>
            </a:r>
            <a:r>
              <a:rPr lang="es-ES" b="1" dirty="0"/>
              <a:t> </a:t>
            </a:r>
            <a:r>
              <a:rPr lang="es-ES" b="1" dirty="0" err="1"/>
              <a:t>Locations</a:t>
            </a:r>
            <a:endParaRPr lang="es-ES" b="1" dirty="0"/>
          </a:p>
          <a:p>
            <a:r>
              <a:rPr lang="es-ES" dirty="0"/>
              <a:t>Recursos críticos que también se gobiernan desde el </a:t>
            </a:r>
            <a:r>
              <a:rPr lang="es-ES" dirty="0" err="1"/>
              <a:t>metastore</a:t>
            </a:r>
            <a:r>
              <a:rPr lang="es-ES" dirty="0"/>
              <a:t>:</a:t>
            </a:r>
          </a:p>
          <a:p>
            <a:r>
              <a:rPr lang="es-ES" dirty="0"/>
              <a:t>🔐 </a:t>
            </a:r>
            <a:r>
              <a:rPr lang="es-ES" b="1" dirty="0"/>
              <a:t>Storage </a:t>
            </a:r>
            <a:r>
              <a:rPr lang="es-ES" b="1" dirty="0" err="1"/>
              <a:t>Credentials</a:t>
            </a:r>
            <a:r>
              <a:rPr lang="es-ES" dirty="0"/>
              <a:t> → credenciales para acceder a los </a:t>
            </a:r>
            <a:r>
              <a:rPr lang="es-ES" dirty="0" err="1"/>
              <a:t>buckets</a:t>
            </a:r>
            <a:r>
              <a:rPr lang="es-ES" dirty="0"/>
              <a:t> (S3, ADLS...)</a:t>
            </a:r>
          </a:p>
          <a:p>
            <a:r>
              <a:rPr lang="es-ES" dirty="0"/>
              <a:t>🔄 </a:t>
            </a:r>
            <a:r>
              <a:rPr lang="es-ES" b="1" dirty="0"/>
              <a:t>Shares</a:t>
            </a:r>
            <a:r>
              <a:rPr lang="es-ES" dirty="0"/>
              <a:t> → para compartir datos mediante </a:t>
            </a:r>
            <a:r>
              <a:rPr lang="es-ES" b="1" dirty="0"/>
              <a:t>Delta </a:t>
            </a:r>
            <a:r>
              <a:rPr lang="es-ES" b="1" dirty="0" err="1"/>
              <a:t>Sharing</a:t>
            </a:r>
            <a:endParaRPr lang="es-ES" dirty="0"/>
          </a:p>
          <a:p>
            <a:r>
              <a:rPr lang="es-ES" dirty="0"/>
              <a:t>🌐 </a:t>
            </a:r>
            <a:r>
              <a:rPr lang="es-ES" b="1" dirty="0" err="1"/>
              <a:t>External</a:t>
            </a:r>
            <a:r>
              <a:rPr lang="es-ES" b="1" dirty="0"/>
              <a:t> </a:t>
            </a:r>
            <a:r>
              <a:rPr lang="es-ES" b="1" dirty="0" err="1"/>
              <a:t>Locations</a:t>
            </a:r>
            <a:r>
              <a:rPr lang="es-ES" dirty="0"/>
              <a:t> → definiciones de rutas externas para tablas/volúmenes</a:t>
            </a:r>
          </a:p>
          <a:p>
            <a:r>
              <a:rPr lang="es-ES" dirty="0"/>
              <a:t>Todos estos objetos </a:t>
            </a:r>
            <a:r>
              <a:rPr lang="es-ES" b="1" dirty="0"/>
              <a:t>pueden ser delegados también por </a:t>
            </a:r>
            <a:r>
              <a:rPr lang="es-ES" b="1" dirty="0" err="1"/>
              <a:t>scope</a:t>
            </a:r>
            <a:r>
              <a:rPr lang="es-ES" dirty="0"/>
              <a:t>, es decir, no todo debe gestionarse solo por el </a:t>
            </a:r>
            <a:r>
              <a:rPr lang="es-ES" dirty="0" err="1"/>
              <a:t>Metastore</a:t>
            </a:r>
            <a:r>
              <a:rPr lang="es-ES" dirty="0"/>
              <a:t> </a:t>
            </a:r>
            <a:r>
              <a:rPr lang="es-ES" dirty="0" err="1"/>
              <a:t>Admin</a:t>
            </a:r>
            <a:r>
              <a:rPr lang="es-ES" dirty="0"/>
              <a:t>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b="1" dirty="0"/>
              <a:t>🧭 Idea principal de la diapositiva</a:t>
            </a:r>
          </a:p>
          <a:p>
            <a:r>
              <a:rPr lang="es-ES" dirty="0"/>
              <a:t>Unity </a:t>
            </a:r>
            <a:r>
              <a:rPr lang="es-ES" dirty="0" err="1"/>
              <a:t>Catalog</a:t>
            </a:r>
            <a:r>
              <a:rPr lang="es-ES" dirty="0"/>
              <a:t> permite una </a:t>
            </a:r>
            <a:r>
              <a:rPr lang="es-ES" b="1" dirty="0"/>
              <a:t>gobernanza flexible</a:t>
            </a:r>
            <a:r>
              <a:rPr lang="es-ES" dirty="0"/>
              <a:t>:</a:t>
            </a:r>
            <a:br>
              <a:rPr lang="es-ES" dirty="0"/>
            </a:br>
            <a:r>
              <a:rPr lang="es-ES" dirty="0"/>
              <a:t>puedes centralizar el control en el </a:t>
            </a:r>
            <a:r>
              <a:rPr lang="es-ES" b="1" dirty="0" err="1"/>
              <a:t>Metastore</a:t>
            </a:r>
            <a:r>
              <a:rPr lang="es-ES" b="1" dirty="0"/>
              <a:t> </a:t>
            </a:r>
            <a:r>
              <a:rPr lang="es-ES" b="1" dirty="0" err="1"/>
              <a:t>Admin</a:t>
            </a:r>
            <a:r>
              <a:rPr lang="es-ES" dirty="0"/>
              <a:t>, o delegar la responsabilidad por catálogo a diferentes </a:t>
            </a:r>
            <a:r>
              <a:rPr lang="es-ES" b="1" dirty="0" err="1"/>
              <a:t>Catalog</a:t>
            </a:r>
            <a:r>
              <a:rPr lang="es-ES" b="1" dirty="0"/>
              <a:t> </a:t>
            </a:r>
            <a:r>
              <a:rPr lang="es-ES" b="1" dirty="0" err="1"/>
              <a:t>Admins</a:t>
            </a:r>
            <a:r>
              <a:rPr lang="es-ES" dirty="0"/>
              <a:t>, según el modelo organizativo de tu empresa.</a:t>
            </a:r>
          </a:p>
          <a:p>
            <a:endParaRPr lang="es-ES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EAD584-116A-3AC2-2FE1-D5B4F14CD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2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D8254-336D-8404-2C97-4F966343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AB38047-7986-886B-BDD4-F7A34BE64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260C85-3B1D-B864-A571-E655EBDC0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 err="1"/>
              <a:t>Databricks</a:t>
            </a:r>
            <a:r>
              <a:rPr lang="es-ES" b="1" dirty="0"/>
              <a:t> explica que UC es capaz de ofrecer gestión en estas </a:t>
            </a:r>
            <a:r>
              <a:rPr lang="es-ES" b="1" dirty="0" err="1"/>
              <a:t>areas</a:t>
            </a:r>
            <a:br>
              <a:rPr lang="es-ES" b="1" dirty="0"/>
            </a:br>
            <a:endParaRPr lang="es-ES" b="1" dirty="0"/>
          </a:p>
          <a:p>
            <a:r>
              <a:rPr lang="es-ES" b="1" dirty="0"/>
              <a:t>1. 🔐 Access </a:t>
            </a:r>
            <a:r>
              <a:rPr lang="es-ES" b="1" dirty="0" err="1"/>
              <a:t>Controls</a:t>
            </a:r>
            <a:r>
              <a:rPr lang="es-ES" b="1" dirty="0"/>
              <a:t> (Controles de acceso)</a:t>
            </a:r>
          </a:p>
          <a:p>
            <a:r>
              <a:rPr lang="es-ES" dirty="0"/>
              <a:t>Permite definir y aplicar </a:t>
            </a:r>
            <a:r>
              <a:rPr lang="es-ES" b="1" dirty="0"/>
              <a:t>quién puede ver o modificar qué</a:t>
            </a:r>
            <a:r>
              <a:rPr lang="es-ES" dirty="0"/>
              <a:t>, desde catálogos y esquemas hasta columnas concretas.</a:t>
            </a:r>
          </a:p>
          <a:p>
            <a:r>
              <a:rPr lang="es-ES" dirty="0"/>
              <a:t>Se basa en </a:t>
            </a:r>
            <a:r>
              <a:rPr lang="es-ES" b="1" dirty="0" err="1"/>
              <a:t>ACLs</a:t>
            </a:r>
            <a:r>
              <a:rPr lang="es-ES" dirty="0"/>
              <a:t> (Listas de Control de Acceso) y soporta nivel </a:t>
            </a:r>
            <a:r>
              <a:rPr lang="es-ES" b="1" dirty="0"/>
              <a:t>tabla, vista, función, columna</a:t>
            </a:r>
            <a:r>
              <a:rPr lang="es-ES" dirty="0"/>
              <a:t>.</a:t>
            </a:r>
          </a:p>
          <a:p>
            <a:r>
              <a:rPr lang="es-ES" dirty="0"/>
              <a:t>Compatible con RBAC (roles/grupos) y SCIM.</a:t>
            </a:r>
          </a:p>
          <a:p>
            <a:endParaRPr lang="es-ES" dirty="0"/>
          </a:p>
          <a:p>
            <a:r>
              <a:rPr lang="es-ES" b="1" dirty="0"/>
              <a:t>2. 🔗 </a:t>
            </a:r>
            <a:r>
              <a:rPr lang="es-ES" b="1" dirty="0" err="1"/>
              <a:t>Lineage</a:t>
            </a:r>
            <a:r>
              <a:rPr lang="es-ES" b="1" dirty="0"/>
              <a:t> (Linaje de datos)</a:t>
            </a:r>
          </a:p>
          <a:p>
            <a:r>
              <a:rPr lang="es-ES" dirty="0"/>
              <a:t>Rastrea automáticamente el </a:t>
            </a:r>
            <a:r>
              <a:rPr lang="es-ES" b="1" dirty="0"/>
              <a:t>origen y transformación</a:t>
            </a:r>
            <a:r>
              <a:rPr lang="es-ES" dirty="0"/>
              <a:t> de los datos:</a:t>
            </a:r>
          </a:p>
          <a:p>
            <a:r>
              <a:rPr lang="es-ES" dirty="0"/>
              <a:t>Desde los notebooks y </a:t>
            </a:r>
            <a:r>
              <a:rPr lang="es-ES" dirty="0" err="1"/>
              <a:t>jobs</a:t>
            </a:r>
            <a:r>
              <a:rPr lang="es-ES" dirty="0"/>
              <a:t> que los generan</a:t>
            </a:r>
          </a:p>
          <a:p>
            <a:r>
              <a:rPr lang="es-ES" dirty="0"/>
              <a:t>Hasta los </a:t>
            </a:r>
            <a:r>
              <a:rPr lang="es-ES" dirty="0" err="1"/>
              <a:t>dashboards</a:t>
            </a:r>
            <a:r>
              <a:rPr lang="es-ES" dirty="0"/>
              <a:t> o usuarios que los consumen</a:t>
            </a:r>
          </a:p>
          <a:p>
            <a:r>
              <a:rPr lang="es-ES" dirty="0"/>
              <a:t>Aplica tanto a </a:t>
            </a:r>
            <a:r>
              <a:rPr lang="es-ES" b="1" dirty="0"/>
              <a:t>tablas como columnas</a:t>
            </a:r>
            <a:endParaRPr lang="es-ES" dirty="0"/>
          </a:p>
          <a:p>
            <a:endParaRPr lang="es-ES" dirty="0"/>
          </a:p>
          <a:p>
            <a:r>
              <a:rPr lang="es-ES" b="1" dirty="0"/>
              <a:t>3. 🔍 Discovery (Descubrimiento)</a:t>
            </a:r>
          </a:p>
          <a:p>
            <a:r>
              <a:rPr lang="es-ES" dirty="0"/>
              <a:t>Permite que los usuarios encuentren rápidamente los datos disponibles a través de:</a:t>
            </a:r>
          </a:p>
          <a:p>
            <a:r>
              <a:rPr lang="es-ES" dirty="0"/>
              <a:t>Exploradores tipo Data Explorer</a:t>
            </a:r>
          </a:p>
          <a:p>
            <a:r>
              <a:rPr lang="es-ES" dirty="0"/>
              <a:t>Etiquetas (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TAGS</a:t>
            </a:r>
            <a:r>
              <a:rPr lang="es-ES" dirty="0"/>
              <a:t>) y comentarios (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COMMENT ON</a:t>
            </a:r>
            <a:r>
              <a:rPr lang="es-ES" dirty="0"/>
              <a:t>)</a:t>
            </a:r>
          </a:p>
          <a:p>
            <a:r>
              <a:rPr lang="es-ES" dirty="0"/>
              <a:t>Clasificación por dominios/catálogos/esquemas</a:t>
            </a:r>
          </a:p>
          <a:p>
            <a:endParaRPr lang="es-ES" dirty="0"/>
          </a:p>
          <a:p>
            <a:r>
              <a:rPr lang="es-ES" b="1" dirty="0"/>
              <a:t>4. 📊 </a:t>
            </a:r>
            <a:r>
              <a:rPr lang="es-ES" b="1" dirty="0" err="1"/>
              <a:t>Monitoring</a:t>
            </a:r>
            <a:r>
              <a:rPr lang="es-ES" b="1" dirty="0"/>
              <a:t> (Monitorización)</a:t>
            </a:r>
          </a:p>
          <a:p>
            <a:r>
              <a:rPr lang="es-ES" dirty="0"/>
              <a:t>Supervisión de uso de datos y comportamiento:</a:t>
            </a:r>
          </a:p>
          <a:p>
            <a:r>
              <a:rPr lang="es-ES" dirty="0"/>
              <a:t>Consultas ejecutadas</a:t>
            </a:r>
          </a:p>
          <a:p>
            <a:r>
              <a:rPr lang="es-ES" dirty="0"/>
              <a:t>Tiempo de ejecución</a:t>
            </a:r>
          </a:p>
          <a:p>
            <a:r>
              <a:rPr lang="es-ES" dirty="0"/>
              <a:t>Cargas de trabajo sobre cada tabla</a:t>
            </a:r>
          </a:p>
          <a:p>
            <a:endParaRPr lang="es-ES" dirty="0"/>
          </a:p>
          <a:p>
            <a:r>
              <a:rPr lang="es-ES" b="1" dirty="0"/>
              <a:t>5. 📁 </a:t>
            </a:r>
            <a:r>
              <a:rPr lang="es-ES" b="1" dirty="0" err="1"/>
              <a:t>Auditing</a:t>
            </a:r>
            <a:r>
              <a:rPr lang="es-ES" b="1" dirty="0"/>
              <a:t> (Auditoría)</a:t>
            </a:r>
          </a:p>
          <a:p>
            <a:r>
              <a:rPr lang="es-ES" dirty="0"/>
              <a:t>Registro detallado y persistente de todas las acciones sobre los datos:</a:t>
            </a:r>
          </a:p>
          <a:p>
            <a:r>
              <a:rPr lang="es-ES" dirty="0"/>
              <a:t>¿Quién accedió a qué, cuándo y cómo?</a:t>
            </a:r>
          </a:p>
          <a:p>
            <a:r>
              <a:rPr lang="es-ES" dirty="0"/>
              <a:t>¿Se modificó un esquema o una tabla?</a:t>
            </a:r>
          </a:p>
          <a:p>
            <a:r>
              <a:rPr lang="es-ES" dirty="0"/>
              <a:t>Crucial para cumplimiento normativo (GDPR, HIPAA…)</a:t>
            </a:r>
          </a:p>
          <a:p>
            <a:endParaRPr lang="es-ES" dirty="0"/>
          </a:p>
          <a:p>
            <a:r>
              <a:rPr lang="es-ES" b="1" dirty="0"/>
              <a:t>6. 🤝 </a:t>
            </a:r>
            <a:r>
              <a:rPr lang="es-ES" b="1" dirty="0" err="1"/>
              <a:t>Sharing</a:t>
            </a:r>
            <a:r>
              <a:rPr lang="es-ES" b="1" dirty="0"/>
              <a:t> (Compartición de datos)</a:t>
            </a:r>
          </a:p>
          <a:p>
            <a:r>
              <a:rPr lang="es-ES" dirty="0"/>
              <a:t>Gestión segura y gobernada del </a:t>
            </a:r>
            <a:r>
              <a:rPr lang="es-ES" b="1" dirty="0"/>
              <a:t>intercambio de datos entre entornos o empresas</a:t>
            </a:r>
            <a:r>
              <a:rPr lang="es-ES" dirty="0"/>
              <a:t>:</a:t>
            </a:r>
          </a:p>
          <a:p>
            <a:r>
              <a:rPr lang="es-ES" dirty="0"/>
              <a:t>Unity </a:t>
            </a:r>
            <a:r>
              <a:rPr lang="es-ES" dirty="0" err="1"/>
              <a:t>Catalog</a:t>
            </a:r>
            <a:r>
              <a:rPr lang="es-ES" dirty="0"/>
              <a:t> permite compartir datos entre </a:t>
            </a:r>
            <a:r>
              <a:rPr lang="es-ES" dirty="0" err="1"/>
              <a:t>workspaces</a:t>
            </a:r>
            <a:endParaRPr lang="es-ES" dirty="0"/>
          </a:p>
          <a:p>
            <a:r>
              <a:rPr lang="es-ES" dirty="0"/>
              <a:t>También soporta </a:t>
            </a:r>
            <a:r>
              <a:rPr lang="es-ES" b="1" dirty="0"/>
              <a:t>Delta </a:t>
            </a:r>
            <a:r>
              <a:rPr lang="es-ES" b="1" dirty="0" err="1"/>
              <a:t>Sharing</a:t>
            </a:r>
            <a:r>
              <a:rPr lang="es-ES" dirty="0"/>
              <a:t> para compartir </a:t>
            </a:r>
            <a:r>
              <a:rPr lang="es-ES" dirty="0" err="1"/>
              <a:t>datasets</a:t>
            </a:r>
            <a:r>
              <a:rPr lang="es-ES" dirty="0"/>
              <a:t> externos de forma segura y sin duplicación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52F817-CD68-72D7-DF1B-CB824D771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431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3A40-D0D6-8F67-C380-97567C2B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A7E480-0AA0-844C-BCFB-5EE5E4DBB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59A1D3-BDE5-B408-54FC-83AB800D0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00B59F-0472-502E-F01E-95F470A87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93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033B9-B6D6-5967-3AFC-FF14E1FDF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21A37F-4C3A-B61A-400E-B0DE52BCA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643288-799C-482A-4357-426D2087F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7A76-1DEC-4F2B-B6B1-CE02986A4660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1CD0B9-F484-D155-F29E-A1331B48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C55C7C-539F-5ECC-3BD8-C9AB3F4F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19FB-20B0-4AFA-9AA3-A84CA826E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373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494CE-D7F4-8541-89F3-33F12DA9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723E65-2859-3EFD-7D21-C5F6A15A0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245660-DC29-5290-BC26-9ECFF19B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7A76-1DEC-4F2B-B6B1-CE02986A4660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AD61C8-4922-67B0-9362-D086AB541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0C39C5-D7E0-D06A-82E8-F9E742B14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19FB-20B0-4AFA-9AA3-A84CA826E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257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FE1D4-AC6B-C16D-CF74-559F417F4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77C11B-58C0-DFA4-7FF5-19CBA3C2C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029338-D18F-4E6D-231F-8BDBA884D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7A76-1DEC-4F2B-B6B1-CE02986A4660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DA9EC1-47F0-45DE-D7D8-82CF71F3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0FF0CF-DDE4-5577-133E-0C138B34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19FB-20B0-4AFA-9AA3-A84CA826E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037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0702E-B041-6185-B619-05AF824CA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FE657B-2275-E72E-96CD-7B1B18808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F28CDC-8694-034B-24D4-D6BC43C26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B0688D-8435-3D25-EF29-7F3F257A0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7A76-1DEC-4F2B-B6B1-CE02986A4660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48756C-F3F5-7948-4E3E-29112D2C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41BDF7-E287-A4BF-EC71-546D3B23D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19FB-20B0-4AFA-9AA3-A84CA826E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6053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62523-A096-A90C-C02D-6C6D927EB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570B89-11BE-E4D8-0A4C-A9C646D45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5139C0-FAA8-3FD5-3267-38FE1D7DF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A759060-E804-683C-0D4D-525C95476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E0CD6A6-89D9-4A33-D336-706C2A2C28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01E2B1E-3CEC-6920-58E1-BE62CE8AB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7A76-1DEC-4F2B-B6B1-CE02986A4660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E33F2E2-0E34-AD3B-1FAD-3F829A39A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849386E-0AFF-BD86-212E-4814E773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19FB-20B0-4AFA-9AA3-A84CA826E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66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ADC8D2-2EB5-F675-6E93-2FB4ACECE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542180-B31F-28E0-1E1D-2F7C56A5F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7A76-1DEC-4F2B-B6B1-CE02986A4660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2EFF62-91A9-0F5B-572E-F89590208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328EE3-0AFD-2D26-D549-AB3778D97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19FB-20B0-4AFA-9AA3-A84CA826E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6857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8E7229A-3DE7-4825-525D-A28A211BA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7A76-1DEC-4F2B-B6B1-CE02986A4660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D1DFBCA-1AF5-4413-6483-9EDC23EC5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44E24B-DD93-8F22-FC36-37BBC758D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19FB-20B0-4AFA-9AA3-A84CA826E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5775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BBF4C-5E10-C55E-A7E1-F28261FA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16D889-B440-AAAC-E7DA-16F04D34B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DC39A4-914B-6167-E0F5-B1265CDF2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177A90-5BBF-24E7-B9DB-6F99B6083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7A76-1DEC-4F2B-B6B1-CE02986A4660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99A1B4-FA75-85BB-519E-3B840A9D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638E44-E86A-5BC4-9633-D353276B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19FB-20B0-4AFA-9AA3-A84CA826E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248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3B09D-552D-6641-FD30-2FA8DD6A1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C354363-61B0-7E67-B842-BB95582E66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33FA5A-0C33-F9D8-EF64-5BF5D0EA1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D4977E-558E-645B-78DF-42D02DBE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7A76-1DEC-4F2B-B6B1-CE02986A4660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BC9091-3FA5-E671-F246-E690279E6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E9700B-DA50-A5C7-8ACC-ABD230774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19FB-20B0-4AFA-9AA3-A84CA826E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018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8F313-5D92-0B08-C90B-D4DB495C7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764153A-3685-F767-BF80-82FDBA2C7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31310E-45C9-4210-9AB4-4343AC814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7A76-1DEC-4F2B-B6B1-CE02986A4660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DA1AFA-EBF3-71D0-FDBF-E425ECEA0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4D885F-3ADD-3119-5517-20C56456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19FB-20B0-4AFA-9AA3-A84CA826E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7661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1DE95F-D151-F5A8-0E86-D0CCAC201F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8C8325-DFF7-3D39-B713-EB37F0D11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70ECFE-723D-F1DE-FEE3-6C2204B19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47A76-1DEC-4F2B-B6B1-CE02986A4660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D60517-B2ED-37B6-BB99-6502A1C6C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36C5E-2D69-86C3-D889-EA3B04C29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19FB-20B0-4AFA-9AA3-A84CA826E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1319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7117724-9C40-5665-D939-E6A2911E0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276C4F-557B-C1E6-697E-59BB40AA4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4787DC-33D6-62CA-76AB-8B07C9B18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347A76-1DEC-4F2B-B6B1-CE02986A4660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190959-6E53-C63F-BF95-8CA8B2B65D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1079C8-8FB3-A445-8641-9AEAC0116D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219FB-20B0-4AFA-9AA3-A84CA826E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1852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DA37F68-4E6A-5F9E-6C93-88A502DF2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876" y="877763"/>
            <a:ext cx="5194249" cy="344062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CBC6816-9B5E-4C9D-5356-A574E00D2C66}"/>
              </a:ext>
            </a:extLst>
          </p:cNvPr>
          <p:cNvSpPr txBox="1"/>
          <p:nvPr/>
        </p:nvSpPr>
        <p:spPr>
          <a:xfrm>
            <a:off x="3498875" y="5756114"/>
            <a:ext cx="519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Montserrat" panose="00000500000000000000" pitchFamily="2" charset="0"/>
              </a:rPr>
              <a:t>Curso </a:t>
            </a:r>
            <a:r>
              <a:rPr lang="es-ES" dirty="0" err="1">
                <a:latin typeface="Montserrat" panose="00000500000000000000" pitchFamily="2" charset="0"/>
              </a:rPr>
              <a:t>Databricks</a:t>
            </a:r>
            <a:r>
              <a:rPr lang="es-ES" dirty="0">
                <a:latin typeface="Montserrat" panose="00000500000000000000" pitchFamily="2" charset="0"/>
              </a:rPr>
              <a:t> de Inicio a Avanzado 360º</a:t>
            </a:r>
          </a:p>
        </p:txBody>
      </p:sp>
    </p:spTree>
    <p:extLst>
      <p:ext uri="{BB962C8B-B14F-4D97-AF65-F5344CB8AC3E}">
        <p14:creationId xmlns:p14="http://schemas.microsoft.com/office/powerpoint/2010/main" val="1894484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81FDB-332D-FDBA-F0A1-4F73A130B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A7D9A56-9108-B211-0757-4E0E49E75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029" y="1629086"/>
            <a:ext cx="7886700" cy="4680520"/>
          </a:xfrm>
        </p:spPr>
        <p:txBody>
          <a:bodyPr>
            <a:normAutofit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es-ES" sz="1800" dirty="0">
                <a:latin typeface="Montserrat SemiBold" panose="00000700000000000000" pitchFamily="2" charset="0"/>
              </a:rPr>
              <a:t>Gobernanza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600" dirty="0">
                <a:latin typeface="Montserrat" panose="00000500000000000000" pitchFamily="2" charset="0"/>
              </a:rPr>
              <a:t>Qué es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600" dirty="0">
                <a:latin typeface="Montserrat" panose="00000500000000000000" pitchFamily="2" charset="0"/>
              </a:rPr>
              <a:t>Espectro de Gobernanza</a:t>
            </a:r>
          </a:p>
          <a:p>
            <a:pPr marL="1257300" lvl="2" indent="-342900">
              <a:buFont typeface="+mj-lt"/>
              <a:buAutoNum type="arabicPeriod"/>
            </a:pPr>
            <a:endParaRPr lang="es-ES" sz="1600" dirty="0">
              <a:latin typeface="Montserrat SemiBold" panose="000007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sz="1800" dirty="0">
                <a:latin typeface="Montserrat SemiBold" panose="00000700000000000000" pitchFamily="2" charset="0"/>
              </a:rPr>
              <a:t>Unity </a:t>
            </a:r>
            <a:r>
              <a:rPr lang="es-ES" sz="1800" dirty="0" err="1">
                <a:latin typeface="Montserrat SemiBold" panose="00000700000000000000" pitchFamily="2" charset="0"/>
              </a:rPr>
              <a:t>Catalog</a:t>
            </a:r>
            <a:endParaRPr lang="es-ES" sz="1800" dirty="0">
              <a:latin typeface="Montserrat SemiBold" panose="00000700000000000000" pitchFamily="2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es-ES" sz="1600" dirty="0">
                <a:latin typeface="Montserrat" panose="00000500000000000000" pitchFamily="2" charset="0"/>
              </a:rPr>
              <a:t>Qué es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600" dirty="0">
                <a:latin typeface="Montserrat" panose="00000500000000000000" pitchFamily="2" charset="0"/>
              </a:rPr>
              <a:t>UC desde la perspectiva de Gobernanza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600" dirty="0">
                <a:latin typeface="Montserrat" panose="00000500000000000000" pitchFamily="2" charset="0"/>
              </a:rPr>
              <a:t>Claves de UC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600" dirty="0">
                <a:latin typeface="Montserrat" panose="00000500000000000000" pitchFamily="2" charset="0"/>
              </a:rPr>
              <a:t>Repaso de objetos en UC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sz="1600" dirty="0" err="1">
                <a:latin typeface="Montserrat" panose="00000500000000000000" pitchFamily="2" charset="0"/>
              </a:rPr>
              <a:t>Intro</a:t>
            </a:r>
            <a:r>
              <a:rPr lang="es-ES" sz="1600" dirty="0">
                <a:latin typeface="Montserrat" panose="00000500000000000000" pitchFamily="2" charset="0"/>
              </a:rPr>
              <a:t> control de accesos</a:t>
            </a:r>
          </a:p>
          <a:p>
            <a:pPr marL="1257300" lvl="2" indent="-342900">
              <a:buFont typeface="+mj-lt"/>
              <a:buAutoNum type="arabicPeriod"/>
            </a:pPr>
            <a:endParaRPr lang="es-ES" sz="1600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sz="1800" dirty="0">
                <a:latin typeface="Montserrat SemiBold" panose="00000700000000000000" pitchFamily="2" charset="0"/>
              </a:rPr>
              <a:t>DEMO</a:t>
            </a:r>
          </a:p>
          <a:p>
            <a:pPr marL="1257300" lvl="2" indent="-342900">
              <a:buFont typeface="+mj-lt"/>
              <a:buAutoNum type="arabicPeriod"/>
            </a:pPr>
            <a:endParaRPr lang="es-ES" sz="1600" dirty="0">
              <a:latin typeface="Montserrat" panose="00000500000000000000" pitchFamily="2" charset="0"/>
            </a:endParaRPr>
          </a:p>
        </p:txBody>
      </p: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496E1169-C0B8-83B0-8FF3-4E2F4900E70A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Indice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de la Sesión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721B270-6238-C0B6-0F78-C4F7BD4CFD2C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8CD500D0-B98F-B81A-935A-80ED53F84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03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30D9C47-C0B8-5576-6621-2E91145DC431}"/>
              </a:ext>
            </a:extLst>
          </p:cNvPr>
          <p:cNvSpPr txBox="1"/>
          <p:nvPr/>
        </p:nvSpPr>
        <p:spPr>
          <a:xfrm>
            <a:off x="4096258" y="2905780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GOBERNANZA</a:t>
            </a:r>
          </a:p>
        </p:txBody>
      </p:sp>
    </p:spTree>
    <p:extLst>
      <p:ext uri="{BB962C8B-B14F-4D97-AF65-F5344CB8AC3E}">
        <p14:creationId xmlns:p14="http://schemas.microsoft.com/office/powerpoint/2010/main" val="412129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17876-4C6A-7FD3-421D-5E5CBC245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rco de bloque 43">
            <a:extLst>
              <a:ext uri="{FF2B5EF4-FFF2-40B4-BE49-F238E27FC236}">
                <a16:creationId xmlns:a16="http://schemas.microsoft.com/office/drawing/2014/main" id="{8B17E040-1ED0-3B13-BD9C-729D973FBE00}"/>
              </a:ext>
            </a:extLst>
          </p:cNvPr>
          <p:cNvSpPr/>
          <p:nvPr/>
        </p:nvSpPr>
        <p:spPr>
          <a:xfrm>
            <a:off x="3526003" y="1562735"/>
            <a:ext cx="4405155" cy="4405155"/>
          </a:xfrm>
          <a:prstGeom prst="blockArc">
            <a:avLst>
              <a:gd name="adj1" fmla="val 10800000"/>
              <a:gd name="adj2" fmla="val 16099579"/>
              <a:gd name="adj3" fmla="val 23486"/>
            </a:avLst>
          </a:prstGeom>
          <a:gradFill flip="none" rotWithShape="1">
            <a:gsLst>
              <a:gs pos="0">
                <a:srgbClr val="9E89AD">
                  <a:tint val="66000"/>
                  <a:satMod val="160000"/>
                </a:srgbClr>
              </a:gs>
              <a:gs pos="50000">
                <a:srgbClr val="9E89AD">
                  <a:tint val="44500"/>
                  <a:satMod val="160000"/>
                </a:srgbClr>
              </a:gs>
              <a:gs pos="100000">
                <a:srgbClr val="9E89AD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5" name="Arco de bloque 44">
            <a:extLst>
              <a:ext uri="{FF2B5EF4-FFF2-40B4-BE49-F238E27FC236}">
                <a16:creationId xmlns:a16="http://schemas.microsoft.com/office/drawing/2014/main" id="{30EB41EB-9038-5035-5739-D0A590A0B6A1}"/>
              </a:ext>
            </a:extLst>
          </p:cNvPr>
          <p:cNvSpPr/>
          <p:nvPr/>
        </p:nvSpPr>
        <p:spPr>
          <a:xfrm rot="10800000">
            <a:off x="3542241" y="1565733"/>
            <a:ext cx="4405155" cy="4405155"/>
          </a:xfrm>
          <a:prstGeom prst="blockArc">
            <a:avLst>
              <a:gd name="adj1" fmla="val 16176085"/>
              <a:gd name="adj2" fmla="val 21576799"/>
              <a:gd name="adj3" fmla="val 23022"/>
            </a:avLst>
          </a:prstGeom>
          <a:gradFill flip="none" rotWithShape="1">
            <a:gsLst>
              <a:gs pos="0">
                <a:srgbClr val="C87676">
                  <a:tint val="66000"/>
                  <a:satMod val="160000"/>
                </a:srgbClr>
              </a:gs>
              <a:gs pos="50000">
                <a:srgbClr val="C87676">
                  <a:tint val="44500"/>
                  <a:satMod val="160000"/>
                </a:srgbClr>
              </a:gs>
              <a:gs pos="100000">
                <a:srgbClr val="C87676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A7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6" name="Arco de bloque 45">
            <a:extLst>
              <a:ext uri="{FF2B5EF4-FFF2-40B4-BE49-F238E27FC236}">
                <a16:creationId xmlns:a16="http://schemas.microsoft.com/office/drawing/2014/main" id="{7DF110E5-7A5C-59B0-C7DC-972058EC4290}"/>
              </a:ext>
            </a:extLst>
          </p:cNvPr>
          <p:cNvSpPr/>
          <p:nvPr/>
        </p:nvSpPr>
        <p:spPr>
          <a:xfrm rot="10800000">
            <a:off x="3520124" y="1562734"/>
            <a:ext cx="4405155" cy="4405155"/>
          </a:xfrm>
          <a:prstGeom prst="blockArc">
            <a:avLst>
              <a:gd name="adj1" fmla="val 10791155"/>
              <a:gd name="adj2" fmla="val 16112166"/>
              <a:gd name="adj3" fmla="val 23272"/>
            </a:avLst>
          </a:prstGeom>
          <a:gradFill flip="none" rotWithShape="1">
            <a:gsLst>
              <a:gs pos="0">
                <a:srgbClr val="B9D9A3">
                  <a:tint val="66000"/>
                  <a:satMod val="160000"/>
                </a:srgbClr>
              </a:gs>
              <a:gs pos="50000">
                <a:srgbClr val="B9D9A3">
                  <a:tint val="44500"/>
                  <a:satMod val="160000"/>
                </a:srgbClr>
              </a:gs>
              <a:gs pos="100000">
                <a:srgbClr val="B9D9A3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" name="Arco de bloque 1">
            <a:extLst>
              <a:ext uri="{FF2B5EF4-FFF2-40B4-BE49-F238E27FC236}">
                <a16:creationId xmlns:a16="http://schemas.microsoft.com/office/drawing/2014/main" id="{296B6CDC-15D9-90C8-4FDD-B76DDAB95455}"/>
              </a:ext>
            </a:extLst>
          </p:cNvPr>
          <p:cNvSpPr/>
          <p:nvPr/>
        </p:nvSpPr>
        <p:spPr>
          <a:xfrm>
            <a:off x="3514244" y="1562735"/>
            <a:ext cx="4405155" cy="4405155"/>
          </a:xfrm>
          <a:prstGeom prst="blockArc">
            <a:avLst>
              <a:gd name="adj1" fmla="val 16098041"/>
              <a:gd name="adj2" fmla="val 43016"/>
              <a:gd name="adj3" fmla="val 23078"/>
            </a:avLst>
          </a:prstGeom>
          <a:gradFill flip="none" rotWithShape="1">
            <a:gsLst>
              <a:gs pos="0">
                <a:srgbClr val="9B8ED2">
                  <a:tint val="66000"/>
                  <a:satMod val="160000"/>
                </a:srgbClr>
              </a:gs>
              <a:gs pos="50000">
                <a:srgbClr val="9B8ED2">
                  <a:tint val="44500"/>
                  <a:satMod val="160000"/>
                </a:srgbClr>
              </a:gs>
              <a:gs pos="100000">
                <a:srgbClr val="9B8ED2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DBD668-F43F-07E4-75CB-232C3F6BD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644" y="852887"/>
            <a:ext cx="8222299" cy="403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200" b="1" dirty="0">
                <a:latin typeface="Montserrat" panose="00000500000000000000" pitchFamily="2" charset="0"/>
              </a:rPr>
              <a:t>Gobernanza de datos</a:t>
            </a:r>
            <a:r>
              <a:rPr lang="es-ES" sz="1200" dirty="0">
                <a:latin typeface="Montserrat" panose="00000500000000000000" pitchFamily="2" charset="0"/>
              </a:rPr>
              <a:t> = políticas + procesos + responsabilidades + herramientas para que los datos sean:</a:t>
            </a:r>
          </a:p>
        </p:txBody>
      </p:sp>
      <p:grpSp>
        <p:nvGrpSpPr>
          <p:cNvPr id="33" name="SEGUROS">
            <a:extLst>
              <a:ext uri="{FF2B5EF4-FFF2-40B4-BE49-F238E27FC236}">
                <a16:creationId xmlns:a16="http://schemas.microsoft.com/office/drawing/2014/main" id="{AE732A95-3775-07F4-A62B-0237E6D21F65}"/>
              </a:ext>
            </a:extLst>
          </p:cNvPr>
          <p:cNvGrpSpPr/>
          <p:nvPr/>
        </p:nvGrpSpPr>
        <p:grpSpPr>
          <a:xfrm>
            <a:off x="3335815" y="3182758"/>
            <a:ext cx="1213979" cy="1213979"/>
            <a:chOff x="2195736" y="4125844"/>
            <a:chExt cx="1322432" cy="1322432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BBD1100-2D0F-D87F-A52E-E51CAA89E048}"/>
                </a:ext>
              </a:extLst>
            </p:cNvPr>
            <p:cNvSpPr/>
            <p:nvPr/>
          </p:nvSpPr>
          <p:spPr>
            <a:xfrm>
              <a:off x="2195736" y="4125844"/>
              <a:ext cx="1322432" cy="1322432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B347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ln>
                  <a:solidFill>
                    <a:schemeClr val="bg1"/>
                  </a:solidFill>
                </a:ln>
              </a:endParaRPr>
            </a:p>
            <a:p>
              <a:pPr algn="ctr"/>
              <a:endParaRPr lang="es-ES" sz="1600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EE2C0D3B-2916-42D2-0154-24897F05304F}"/>
                </a:ext>
              </a:extLst>
            </p:cNvPr>
            <p:cNvSpPr txBox="1"/>
            <p:nvPr/>
          </p:nvSpPr>
          <p:spPr>
            <a:xfrm>
              <a:off x="2344424" y="4908555"/>
              <a:ext cx="1032805" cy="268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dirty="0">
                  <a:latin typeface="Montserrat" panose="00000500000000000000" pitchFamily="2" charset="0"/>
                </a:rPr>
                <a:t>SEGUROS</a:t>
              </a:r>
            </a:p>
          </p:txBody>
        </p:sp>
        <p:pic>
          <p:nvPicPr>
            <p:cNvPr id="20" name="Gráfico 19" descr="Escudo contorno">
              <a:extLst>
                <a:ext uri="{FF2B5EF4-FFF2-40B4-BE49-F238E27FC236}">
                  <a16:creationId xmlns:a16="http://schemas.microsoft.com/office/drawing/2014/main" id="{2AC7B37C-648C-0768-C15E-52142C3B6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76161" y="4179183"/>
              <a:ext cx="720067" cy="720067"/>
            </a:xfrm>
            <a:prstGeom prst="rect">
              <a:avLst/>
            </a:prstGeom>
          </p:spPr>
        </p:pic>
        <p:pic>
          <p:nvPicPr>
            <p:cNvPr id="22" name="Gráfico 21" descr="Marca de verificación contorno">
              <a:extLst>
                <a:ext uri="{FF2B5EF4-FFF2-40B4-BE49-F238E27FC236}">
                  <a16:creationId xmlns:a16="http://schemas.microsoft.com/office/drawing/2014/main" id="{8B9A5290-D7A7-560C-E130-FD540665D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715032" y="4326989"/>
              <a:ext cx="276999" cy="276999"/>
            </a:xfrm>
            <a:prstGeom prst="rect">
              <a:avLst/>
            </a:prstGeom>
          </p:spPr>
        </p:pic>
      </p:grpSp>
      <p:grpSp>
        <p:nvGrpSpPr>
          <p:cNvPr id="32" name="ACCESIBLES">
            <a:extLst>
              <a:ext uri="{FF2B5EF4-FFF2-40B4-BE49-F238E27FC236}">
                <a16:creationId xmlns:a16="http://schemas.microsoft.com/office/drawing/2014/main" id="{0B37D8B1-3BFA-EA41-7DFB-B046C9E92E6B}"/>
              </a:ext>
            </a:extLst>
          </p:cNvPr>
          <p:cNvGrpSpPr/>
          <p:nvPr/>
        </p:nvGrpSpPr>
        <p:grpSpPr>
          <a:xfrm>
            <a:off x="5109831" y="1358191"/>
            <a:ext cx="1213979" cy="1213979"/>
            <a:chOff x="3491880" y="1769393"/>
            <a:chExt cx="1322432" cy="1322432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9ABB0A11-3094-17E4-D960-E6DAC7688664}"/>
                </a:ext>
              </a:extLst>
            </p:cNvPr>
            <p:cNvSpPr/>
            <p:nvPr/>
          </p:nvSpPr>
          <p:spPr>
            <a:xfrm>
              <a:off x="3491880" y="1769393"/>
              <a:ext cx="1322432" cy="1322432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5E4B6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  <a:p>
              <a:pPr algn="ctr"/>
              <a:endParaRPr lang="es-ES" sz="1600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867B9CFD-3B88-D5FD-5432-4BDCBA2061AC}"/>
                </a:ext>
              </a:extLst>
            </p:cNvPr>
            <p:cNvSpPr txBox="1"/>
            <p:nvPr/>
          </p:nvSpPr>
          <p:spPr>
            <a:xfrm>
              <a:off x="3537962" y="2517695"/>
              <a:ext cx="1228327" cy="268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dirty="0">
                  <a:latin typeface="Montserrat" panose="00000500000000000000" pitchFamily="2" charset="0"/>
                </a:rPr>
                <a:t>ACCESIBLES</a:t>
              </a:r>
            </a:p>
          </p:txBody>
        </p:sp>
        <p:pic>
          <p:nvPicPr>
            <p:cNvPr id="24" name="Gráfico 23" descr="Filtro contorno">
              <a:extLst>
                <a:ext uri="{FF2B5EF4-FFF2-40B4-BE49-F238E27FC236}">
                  <a16:creationId xmlns:a16="http://schemas.microsoft.com/office/drawing/2014/main" id="{E8D5C5DE-7F48-F947-E6A5-286720B1A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27120" y="1867684"/>
              <a:ext cx="650012" cy="650012"/>
            </a:xfrm>
            <a:prstGeom prst="rect">
              <a:avLst/>
            </a:prstGeom>
          </p:spPr>
        </p:pic>
      </p:grpSp>
      <p:grpSp>
        <p:nvGrpSpPr>
          <p:cNvPr id="29" name="CONFIABLES">
            <a:extLst>
              <a:ext uri="{FF2B5EF4-FFF2-40B4-BE49-F238E27FC236}">
                <a16:creationId xmlns:a16="http://schemas.microsoft.com/office/drawing/2014/main" id="{0BE2B750-16D3-4EDD-7C1E-B90B7BA1963D}"/>
              </a:ext>
            </a:extLst>
          </p:cNvPr>
          <p:cNvGrpSpPr/>
          <p:nvPr/>
        </p:nvGrpSpPr>
        <p:grpSpPr>
          <a:xfrm>
            <a:off x="6931196" y="3151127"/>
            <a:ext cx="1228975" cy="1213979"/>
            <a:chOff x="4914917" y="4089419"/>
            <a:chExt cx="1338767" cy="1322431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B4AA6AAC-C15E-2FC0-0340-59599EAD7E21}"/>
                </a:ext>
              </a:extLst>
            </p:cNvPr>
            <p:cNvSpPr/>
            <p:nvPr/>
          </p:nvSpPr>
          <p:spPr>
            <a:xfrm>
              <a:off x="4914917" y="4089419"/>
              <a:ext cx="1322431" cy="1322431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8676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56E61482-49FC-FDBB-A767-04EAF55CB050}"/>
                </a:ext>
              </a:extLst>
            </p:cNvPr>
            <p:cNvSpPr txBox="1"/>
            <p:nvPr/>
          </p:nvSpPr>
          <p:spPr>
            <a:xfrm>
              <a:off x="4965925" y="4851024"/>
              <a:ext cx="1287759" cy="268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dirty="0">
                  <a:latin typeface="Montserrat" panose="00000500000000000000" pitchFamily="2" charset="0"/>
                </a:rPr>
                <a:t>CONFIABLES</a:t>
              </a:r>
            </a:p>
          </p:txBody>
        </p:sp>
        <p:pic>
          <p:nvPicPr>
            <p:cNvPr id="28" name="Gráfico 27" descr="Bombilla contorno">
              <a:extLst>
                <a:ext uri="{FF2B5EF4-FFF2-40B4-BE49-F238E27FC236}">
                  <a16:creationId xmlns:a16="http://schemas.microsoft.com/office/drawing/2014/main" id="{AA4BC7BE-3501-90F4-B203-65FBE0F34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237467" y="4168190"/>
              <a:ext cx="687003" cy="687003"/>
            </a:xfrm>
            <a:prstGeom prst="rect">
              <a:avLst/>
            </a:prstGeom>
          </p:spPr>
        </p:pic>
      </p:grpSp>
      <p:grpSp>
        <p:nvGrpSpPr>
          <p:cNvPr id="42" name="CONECTADOS">
            <a:extLst>
              <a:ext uri="{FF2B5EF4-FFF2-40B4-BE49-F238E27FC236}">
                <a16:creationId xmlns:a16="http://schemas.microsoft.com/office/drawing/2014/main" id="{FE4F8573-72EE-E935-A091-47DE9E99F407}"/>
              </a:ext>
            </a:extLst>
          </p:cNvPr>
          <p:cNvGrpSpPr/>
          <p:nvPr/>
        </p:nvGrpSpPr>
        <p:grpSpPr>
          <a:xfrm>
            <a:off x="5125017" y="4968475"/>
            <a:ext cx="1284108" cy="1213979"/>
            <a:chOff x="3536226" y="4681520"/>
            <a:chExt cx="1398826" cy="1322432"/>
          </a:xfrm>
        </p:grpSpPr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F8ABF363-01BA-2099-143E-A6C70D3241F4}"/>
                </a:ext>
              </a:extLst>
            </p:cNvPr>
            <p:cNvSpPr/>
            <p:nvPr/>
          </p:nvSpPr>
          <p:spPr>
            <a:xfrm>
              <a:off x="3547462" y="4681520"/>
              <a:ext cx="1322432" cy="1322432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endParaRPr>
            </a:p>
          </p:txBody>
        </p:sp>
        <p:pic>
          <p:nvPicPr>
            <p:cNvPr id="40" name="Gráfico 39" descr="Rompecabezas contorno">
              <a:extLst>
                <a:ext uri="{FF2B5EF4-FFF2-40B4-BE49-F238E27FC236}">
                  <a16:creationId xmlns:a16="http://schemas.microsoft.com/office/drawing/2014/main" id="{4BAD84FB-C16B-D16B-D36E-F1B0D118C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883064" y="4820676"/>
              <a:ext cx="624548" cy="624548"/>
            </a:xfrm>
            <a:prstGeom prst="rect">
              <a:avLst/>
            </a:prstGeom>
          </p:spPr>
        </p:pic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06FB35BC-A75A-46E5-99D1-884C4830D696}"/>
                </a:ext>
              </a:extLst>
            </p:cNvPr>
            <p:cNvSpPr txBox="1"/>
            <p:nvPr/>
          </p:nvSpPr>
          <p:spPr>
            <a:xfrm>
              <a:off x="3536226" y="5432621"/>
              <a:ext cx="1398826" cy="268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dirty="0">
                  <a:latin typeface="Montserrat" panose="00000500000000000000" pitchFamily="2" charset="0"/>
                </a:rPr>
                <a:t>CONECTADOS</a:t>
              </a: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28D3E3D7-C208-B1D4-DE31-E3A1FF824FFC}"/>
              </a:ext>
            </a:extLst>
          </p:cNvPr>
          <p:cNvSpPr txBox="1"/>
          <p:nvPr/>
        </p:nvSpPr>
        <p:spPr>
          <a:xfrm>
            <a:off x="4098166" y="2140865"/>
            <a:ext cx="936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Control </a:t>
            </a:r>
          </a:p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de acceso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945925-7838-5D4E-2BA4-9A62C449E42B}"/>
              </a:ext>
            </a:extLst>
          </p:cNvPr>
          <p:cNvSpPr txBox="1"/>
          <p:nvPr/>
        </p:nvSpPr>
        <p:spPr>
          <a:xfrm>
            <a:off x="3811306" y="4426556"/>
            <a:ext cx="1092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Seguridad y Cumplimiento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D8E4E92-C550-444E-1CC1-C0A874B8AE7E}"/>
              </a:ext>
            </a:extLst>
          </p:cNvPr>
          <p:cNvSpPr txBox="1"/>
          <p:nvPr/>
        </p:nvSpPr>
        <p:spPr>
          <a:xfrm>
            <a:off x="6249831" y="5028327"/>
            <a:ext cx="1092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Calidad y Trazabilidad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E6BDDCC-B4DC-E77C-6301-19C0C49F05D0}"/>
              </a:ext>
            </a:extLst>
          </p:cNvPr>
          <p:cNvSpPr txBox="1"/>
          <p:nvPr/>
        </p:nvSpPr>
        <p:spPr>
          <a:xfrm>
            <a:off x="6579424" y="2645995"/>
            <a:ext cx="12070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Catalogación y descubrimiento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C100397-7711-CA24-A2CA-7E9DDB16BBCE}"/>
              </a:ext>
            </a:extLst>
          </p:cNvPr>
          <p:cNvSpPr txBox="1"/>
          <p:nvPr/>
        </p:nvSpPr>
        <p:spPr>
          <a:xfrm>
            <a:off x="5955329" y="2140866"/>
            <a:ext cx="1595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Silos de datos Consistencia en definiciones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AEA5075-9E62-2ADF-F4B3-AAEA6EEC03D2}"/>
              </a:ext>
            </a:extLst>
          </p:cNvPr>
          <p:cNvSpPr txBox="1"/>
          <p:nvPr/>
        </p:nvSpPr>
        <p:spPr>
          <a:xfrm>
            <a:off x="4032113" y="5028327"/>
            <a:ext cx="1092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Entornos</a:t>
            </a:r>
          </a:p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distribuidos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DF129D4-AB88-6C12-DEEA-2E8C645F6F9B}"/>
              </a:ext>
            </a:extLst>
          </p:cNvPr>
          <p:cNvSpPr txBox="1"/>
          <p:nvPr/>
        </p:nvSpPr>
        <p:spPr>
          <a:xfrm>
            <a:off x="6530218" y="4394267"/>
            <a:ext cx="1325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Versionado y</a:t>
            </a:r>
          </a:p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Trazabilidad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76E667A-4AED-4A1C-1834-BF0DBCB36305}"/>
              </a:ext>
            </a:extLst>
          </p:cNvPr>
          <p:cNvSpPr txBox="1"/>
          <p:nvPr/>
        </p:nvSpPr>
        <p:spPr>
          <a:xfrm>
            <a:off x="3689302" y="2690930"/>
            <a:ext cx="11827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Clasificación</a:t>
            </a:r>
          </a:p>
          <a:p>
            <a:pPr algn="ctr"/>
            <a:r>
              <a:rPr lang="es-ES" sz="800" b="1" i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rPr>
              <a:t>Datos Sensibles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8BBA1025-107A-9B1F-3201-CECF2EADC538}"/>
              </a:ext>
            </a:extLst>
          </p:cNvPr>
          <p:cNvSpPr/>
          <p:nvPr/>
        </p:nvSpPr>
        <p:spPr>
          <a:xfrm>
            <a:off x="8544273" y="5092728"/>
            <a:ext cx="1910203" cy="79208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  <a:latin typeface="Montserrat" panose="00000500000000000000" pitchFamily="2" charset="0"/>
              </a:rPr>
              <a:t>Gobernar datos no es solo protegerlos, es también hacerlos utilizables con confianza.</a:t>
            </a:r>
          </a:p>
        </p:txBody>
      </p:sp>
      <p:sp>
        <p:nvSpPr>
          <p:cNvPr id="19" name="Google Shape;274;g35ee5cc475b_0_15">
            <a:extLst>
              <a:ext uri="{FF2B5EF4-FFF2-40B4-BE49-F238E27FC236}">
                <a16:creationId xmlns:a16="http://schemas.microsoft.com/office/drawing/2014/main" id="{70607504-17E6-84AD-E2FC-F8066633932B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Gobernanza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¿Qué es la Gobernanza?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BCA59DC-D0C8-A181-45FB-24E6686E4D24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4" name="Imagen 33" descr="Texto&#10;&#10;El contenido generado por IA puede ser incorrecto.">
            <a:extLst>
              <a:ext uri="{FF2B5EF4-FFF2-40B4-BE49-F238E27FC236}">
                <a16:creationId xmlns:a16="http://schemas.microsoft.com/office/drawing/2014/main" id="{471AD38B-3475-3F84-0D9E-C142046369E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75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3" name="Grupo 1072">
            <a:extLst>
              <a:ext uri="{FF2B5EF4-FFF2-40B4-BE49-F238E27FC236}">
                <a16:creationId xmlns:a16="http://schemas.microsoft.com/office/drawing/2014/main" id="{42257D88-1940-E2B9-2937-6ED945CDE4A3}"/>
              </a:ext>
            </a:extLst>
          </p:cNvPr>
          <p:cNvGrpSpPr/>
          <p:nvPr/>
        </p:nvGrpSpPr>
        <p:grpSpPr>
          <a:xfrm>
            <a:off x="2435240" y="3008978"/>
            <a:ext cx="6922684" cy="318585"/>
            <a:chOff x="1187624" y="4797137"/>
            <a:chExt cx="5721226" cy="289623"/>
          </a:xfrm>
        </p:grpSpPr>
        <p:grpSp>
          <p:nvGrpSpPr>
            <p:cNvPr id="1064" name="Grupo 1063">
              <a:extLst>
                <a:ext uri="{FF2B5EF4-FFF2-40B4-BE49-F238E27FC236}">
                  <a16:creationId xmlns:a16="http://schemas.microsoft.com/office/drawing/2014/main" id="{D1F08354-F90A-D263-2DE8-B8CCD01F11F6}"/>
                </a:ext>
              </a:extLst>
            </p:cNvPr>
            <p:cNvGrpSpPr/>
            <p:nvPr/>
          </p:nvGrpSpPr>
          <p:grpSpPr>
            <a:xfrm>
              <a:off x="5393705" y="4803110"/>
              <a:ext cx="1515145" cy="283650"/>
              <a:chOff x="1555907" y="4801471"/>
              <a:chExt cx="1515145" cy="283650"/>
            </a:xfrm>
          </p:grpSpPr>
          <p:grpSp>
            <p:nvGrpSpPr>
              <p:cNvPr id="1065" name="Grupo 1064">
                <a:extLst>
                  <a:ext uri="{FF2B5EF4-FFF2-40B4-BE49-F238E27FC236}">
                    <a16:creationId xmlns:a16="http://schemas.microsoft.com/office/drawing/2014/main" id="{58DBF9EF-EF00-B462-78BA-40AAD7F1DFB9}"/>
                  </a:ext>
                </a:extLst>
              </p:cNvPr>
              <p:cNvGrpSpPr/>
              <p:nvPr/>
            </p:nvGrpSpPr>
            <p:grpSpPr>
              <a:xfrm>
                <a:off x="1555908" y="4949270"/>
                <a:ext cx="1515143" cy="135851"/>
                <a:chOff x="1555908" y="4949270"/>
                <a:chExt cx="1515143" cy="135851"/>
              </a:xfrm>
            </p:grpSpPr>
            <p:sp>
              <p:nvSpPr>
                <p:cNvPr id="1070" name="Rectángulo 1069">
                  <a:extLst>
                    <a:ext uri="{FF2B5EF4-FFF2-40B4-BE49-F238E27FC236}">
                      <a16:creationId xmlns:a16="http://schemas.microsoft.com/office/drawing/2014/main" id="{ACF360B3-A3DA-7F2C-538D-8407EB51EB64}"/>
                    </a:ext>
                  </a:extLst>
                </p:cNvPr>
                <p:cNvSpPr/>
                <p:nvPr/>
              </p:nvSpPr>
              <p:spPr>
                <a:xfrm>
                  <a:off x="1555910" y="4949290"/>
                  <a:ext cx="1377596" cy="135831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71" name="Triángulo rectángulo 1070">
                  <a:extLst>
                    <a:ext uri="{FF2B5EF4-FFF2-40B4-BE49-F238E27FC236}">
                      <a16:creationId xmlns:a16="http://schemas.microsoft.com/office/drawing/2014/main" id="{982ADDC5-72E7-103F-779C-E38A956F57AA}"/>
                    </a:ext>
                  </a:extLst>
                </p:cNvPr>
                <p:cNvSpPr/>
                <p:nvPr/>
              </p:nvSpPr>
              <p:spPr>
                <a:xfrm rot="5400000">
                  <a:off x="1553255" y="4951923"/>
                  <a:ext cx="135839" cy="130533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72" name="Triángulo rectángulo 1071">
                  <a:extLst>
                    <a:ext uri="{FF2B5EF4-FFF2-40B4-BE49-F238E27FC236}">
                      <a16:creationId xmlns:a16="http://schemas.microsoft.com/office/drawing/2014/main" id="{365E6C03-38F1-C84C-FC0D-D98AEB5EB35C}"/>
                    </a:ext>
                  </a:extLst>
                </p:cNvPr>
                <p:cNvSpPr/>
                <p:nvPr/>
              </p:nvSpPr>
              <p:spPr>
                <a:xfrm rot="5400000">
                  <a:off x="2931496" y="4945544"/>
                  <a:ext cx="135830" cy="143281"/>
                </a:xfrm>
                <a:prstGeom prst="rtTriangle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066" name="Grupo 1065">
                <a:extLst>
                  <a:ext uri="{FF2B5EF4-FFF2-40B4-BE49-F238E27FC236}">
                    <a16:creationId xmlns:a16="http://schemas.microsoft.com/office/drawing/2014/main" id="{61925EC3-5EE0-1E93-178D-82A5D02F1EA8}"/>
                  </a:ext>
                </a:extLst>
              </p:cNvPr>
              <p:cNvGrpSpPr/>
              <p:nvPr/>
            </p:nvGrpSpPr>
            <p:grpSpPr>
              <a:xfrm>
                <a:off x="1555907" y="4801471"/>
                <a:ext cx="1515145" cy="135853"/>
                <a:chOff x="2902201" y="5511801"/>
                <a:chExt cx="1138351" cy="119219"/>
              </a:xfrm>
              <a:solidFill>
                <a:schemeClr val="accent6"/>
              </a:solidFill>
            </p:grpSpPr>
            <p:sp>
              <p:nvSpPr>
                <p:cNvPr id="1067" name="Triángulo rectángulo 1066">
                  <a:extLst>
                    <a:ext uri="{FF2B5EF4-FFF2-40B4-BE49-F238E27FC236}">
                      <a16:creationId xmlns:a16="http://schemas.microsoft.com/office/drawing/2014/main" id="{C728D5D9-1FFC-5124-3C38-95D8EF355563}"/>
                    </a:ext>
                  </a:extLst>
                </p:cNvPr>
                <p:cNvSpPr/>
                <p:nvPr/>
              </p:nvSpPr>
              <p:spPr>
                <a:xfrm>
                  <a:off x="3937211" y="5511801"/>
                  <a:ext cx="103341" cy="119209"/>
                </a:xfrm>
                <a:prstGeom prst="rtTriangle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68" name="Rectángulo 1067">
                  <a:extLst>
                    <a:ext uri="{FF2B5EF4-FFF2-40B4-BE49-F238E27FC236}">
                      <a16:creationId xmlns:a16="http://schemas.microsoft.com/office/drawing/2014/main" id="{DC769420-B49C-5866-7077-80AFE20ADC58}"/>
                    </a:ext>
                  </a:extLst>
                </p:cNvPr>
                <p:cNvSpPr/>
                <p:nvPr/>
              </p:nvSpPr>
              <p:spPr>
                <a:xfrm>
                  <a:off x="2902201" y="5511810"/>
                  <a:ext cx="1041199" cy="119209"/>
                </a:xfrm>
                <a:prstGeom prst="rect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69" name="Triángulo rectángulo 1068">
                  <a:extLst>
                    <a:ext uri="{FF2B5EF4-FFF2-40B4-BE49-F238E27FC236}">
                      <a16:creationId xmlns:a16="http://schemas.microsoft.com/office/drawing/2014/main" id="{86668DDF-E351-0B10-EB5F-9724D231E350}"/>
                    </a:ext>
                  </a:extLst>
                </p:cNvPr>
                <p:cNvSpPr/>
                <p:nvPr/>
              </p:nvSpPr>
              <p:spPr>
                <a:xfrm>
                  <a:off x="2902201" y="5511813"/>
                  <a:ext cx="103341" cy="119207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1055" name="Grupo 1054">
              <a:extLst>
                <a:ext uri="{FF2B5EF4-FFF2-40B4-BE49-F238E27FC236}">
                  <a16:creationId xmlns:a16="http://schemas.microsoft.com/office/drawing/2014/main" id="{0D3650E4-C648-AF07-0752-35599B9A4A6B}"/>
                </a:ext>
              </a:extLst>
            </p:cNvPr>
            <p:cNvGrpSpPr/>
            <p:nvPr/>
          </p:nvGrpSpPr>
          <p:grpSpPr>
            <a:xfrm>
              <a:off x="3984709" y="4803110"/>
              <a:ext cx="1515145" cy="283650"/>
              <a:chOff x="1555907" y="4801471"/>
              <a:chExt cx="1515145" cy="283650"/>
            </a:xfrm>
          </p:grpSpPr>
          <p:grpSp>
            <p:nvGrpSpPr>
              <p:cNvPr id="1056" name="Grupo 1055">
                <a:extLst>
                  <a:ext uri="{FF2B5EF4-FFF2-40B4-BE49-F238E27FC236}">
                    <a16:creationId xmlns:a16="http://schemas.microsoft.com/office/drawing/2014/main" id="{7C647619-DC59-8E8F-D3F3-69C7FA7C4E6B}"/>
                  </a:ext>
                </a:extLst>
              </p:cNvPr>
              <p:cNvGrpSpPr/>
              <p:nvPr/>
            </p:nvGrpSpPr>
            <p:grpSpPr>
              <a:xfrm>
                <a:off x="1555908" y="4949270"/>
                <a:ext cx="1515143" cy="135851"/>
                <a:chOff x="1555908" y="4949270"/>
                <a:chExt cx="1515143" cy="135851"/>
              </a:xfrm>
            </p:grpSpPr>
            <p:sp>
              <p:nvSpPr>
                <p:cNvPr id="1061" name="Rectángulo 1060">
                  <a:extLst>
                    <a:ext uri="{FF2B5EF4-FFF2-40B4-BE49-F238E27FC236}">
                      <a16:creationId xmlns:a16="http://schemas.microsoft.com/office/drawing/2014/main" id="{E1332B3D-5C3F-8FDA-91C1-33CF309815F7}"/>
                    </a:ext>
                  </a:extLst>
                </p:cNvPr>
                <p:cNvSpPr/>
                <p:nvPr/>
              </p:nvSpPr>
              <p:spPr>
                <a:xfrm>
                  <a:off x="1555910" y="4949290"/>
                  <a:ext cx="1377596" cy="135831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62" name="Triángulo rectángulo 1061">
                  <a:extLst>
                    <a:ext uri="{FF2B5EF4-FFF2-40B4-BE49-F238E27FC236}">
                      <a16:creationId xmlns:a16="http://schemas.microsoft.com/office/drawing/2014/main" id="{56EDF007-4D17-EA9F-758C-F467772B38EA}"/>
                    </a:ext>
                  </a:extLst>
                </p:cNvPr>
                <p:cNvSpPr/>
                <p:nvPr/>
              </p:nvSpPr>
              <p:spPr>
                <a:xfrm rot="5400000">
                  <a:off x="1553255" y="4951923"/>
                  <a:ext cx="135839" cy="130533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63" name="Triángulo rectángulo 1062">
                  <a:extLst>
                    <a:ext uri="{FF2B5EF4-FFF2-40B4-BE49-F238E27FC236}">
                      <a16:creationId xmlns:a16="http://schemas.microsoft.com/office/drawing/2014/main" id="{22957683-1D42-7137-9887-0C3F4E111949}"/>
                    </a:ext>
                  </a:extLst>
                </p:cNvPr>
                <p:cNvSpPr/>
                <p:nvPr/>
              </p:nvSpPr>
              <p:spPr>
                <a:xfrm rot="5400000">
                  <a:off x="2931496" y="4945544"/>
                  <a:ext cx="135830" cy="143281"/>
                </a:xfrm>
                <a:prstGeom prst="rtTriangle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057" name="Grupo 1056">
                <a:extLst>
                  <a:ext uri="{FF2B5EF4-FFF2-40B4-BE49-F238E27FC236}">
                    <a16:creationId xmlns:a16="http://schemas.microsoft.com/office/drawing/2014/main" id="{FE13DED3-8EED-B7AC-6A61-DAF492CD9C43}"/>
                  </a:ext>
                </a:extLst>
              </p:cNvPr>
              <p:cNvGrpSpPr/>
              <p:nvPr/>
            </p:nvGrpSpPr>
            <p:grpSpPr>
              <a:xfrm>
                <a:off x="1555907" y="4801471"/>
                <a:ext cx="1515145" cy="135853"/>
                <a:chOff x="2902201" y="5511801"/>
                <a:chExt cx="1138351" cy="119219"/>
              </a:xfrm>
              <a:solidFill>
                <a:schemeClr val="accent6"/>
              </a:solidFill>
            </p:grpSpPr>
            <p:sp>
              <p:nvSpPr>
                <p:cNvPr id="1058" name="Triángulo rectángulo 1057">
                  <a:extLst>
                    <a:ext uri="{FF2B5EF4-FFF2-40B4-BE49-F238E27FC236}">
                      <a16:creationId xmlns:a16="http://schemas.microsoft.com/office/drawing/2014/main" id="{AA1160F1-C589-234E-E26D-BF52F805F387}"/>
                    </a:ext>
                  </a:extLst>
                </p:cNvPr>
                <p:cNvSpPr/>
                <p:nvPr/>
              </p:nvSpPr>
              <p:spPr>
                <a:xfrm>
                  <a:off x="3937211" y="5511801"/>
                  <a:ext cx="103341" cy="119209"/>
                </a:xfrm>
                <a:prstGeom prst="rtTriangle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59" name="Rectángulo 1058">
                  <a:extLst>
                    <a:ext uri="{FF2B5EF4-FFF2-40B4-BE49-F238E27FC236}">
                      <a16:creationId xmlns:a16="http://schemas.microsoft.com/office/drawing/2014/main" id="{CF7024BD-B49D-6A52-B6DA-8C73B7AF2E7A}"/>
                    </a:ext>
                  </a:extLst>
                </p:cNvPr>
                <p:cNvSpPr/>
                <p:nvPr/>
              </p:nvSpPr>
              <p:spPr>
                <a:xfrm>
                  <a:off x="2902201" y="5511810"/>
                  <a:ext cx="1041199" cy="119209"/>
                </a:xfrm>
                <a:prstGeom prst="rect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60" name="Triángulo rectángulo 1059">
                  <a:extLst>
                    <a:ext uri="{FF2B5EF4-FFF2-40B4-BE49-F238E27FC236}">
                      <a16:creationId xmlns:a16="http://schemas.microsoft.com/office/drawing/2014/main" id="{8B801CCE-D123-83B9-085C-F66C1B4B573C}"/>
                    </a:ext>
                  </a:extLst>
                </p:cNvPr>
                <p:cNvSpPr/>
                <p:nvPr/>
              </p:nvSpPr>
              <p:spPr>
                <a:xfrm>
                  <a:off x="2902201" y="5511813"/>
                  <a:ext cx="103341" cy="119207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1046" name="Grupo 1045">
              <a:extLst>
                <a:ext uri="{FF2B5EF4-FFF2-40B4-BE49-F238E27FC236}">
                  <a16:creationId xmlns:a16="http://schemas.microsoft.com/office/drawing/2014/main" id="{1A78C8D9-6B8C-DBAE-F95B-CD33929E3FBC}"/>
                </a:ext>
              </a:extLst>
            </p:cNvPr>
            <p:cNvGrpSpPr/>
            <p:nvPr/>
          </p:nvGrpSpPr>
          <p:grpSpPr>
            <a:xfrm>
              <a:off x="2583826" y="4803110"/>
              <a:ext cx="1515145" cy="283650"/>
              <a:chOff x="1555907" y="4801471"/>
              <a:chExt cx="1515145" cy="283650"/>
            </a:xfrm>
          </p:grpSpPr>
          <p:grpSp>
            <p:nvGrpSpPr>
              <p:cNvPr id="1047" name="Grupo 1046">
                <a:extLst>
                  <a:ext uri="{FF2B5EF4-FFF2-40B4-BE49-F238E27FC236}">
                    <a16:creationId xmlns:a16="http://schemas.microsoft.com/office/drawing/2014/main" id="{D8C08813-8965-054D-20CE-135872F29555}"/>
                  </a:ext>
                </a:extLst>
              </p:cNvPr>
              <p:cNvGrpSpPr/>
              <p:nvPr/>
            </p:nvGrpSpPr>
            <p:grpSpPr>
              <a:xfrm>
                <a:off x="1555908" y="4949270"/>
                <a:ext cx="1515143" cy="135851"/>
                <a:chOff x="1555908" y="4949270"/>
                <a:chExt cx="1515143" cy="135851"/>
              </a:xfrm>
            </p:grpSpPr>
            <p:sp>
              <p:nvSpPr>
                <p:cNvPr id="1052" name="Rectángulo 1051">
                  <a:extLst>
                    <a:ext uri="{FF2B5EF4-FFF2-40B4-BE49-F238E27FC236}">
                      <a16:creationId xmlns:a16="http://schemas.microsoft.com/office/drawing/2014/main" id="{0E89AFEE-16CE-6521-E6E3-C6F901671B07}"/>
                    </a:ext>
                  </a:extLst>
                </p:cNvPr>
                <p:cNvSpPr/>
                <p:nvPr/>
              </p:nvSpPr>
              <p:spPr>
                <a:xfrm>
                  <a:off x="1555910" y="4949290"/>
                  <a:ext cx="1377596" cy="135831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53" name="Triángulo rectángulo 1052">
                  <a:extLst>
                    <a:ext uri="{FF2B5EF4-FFF2-40B4-BE49-F238E27FC236}">
                      <a16:creationId xmlns:a16="http://schemas.microsoft.com/office/drawing/2014/main" id="{368A4D40-D386-7599-E21E-BE0B7A07A00F}"/>
                    </a:ext>
                  </a:extLst>
                </p:cNvPr>
                <p:cNvSpPr/>
                <p:nvPr/>
              </p:nvSpPr>
              <p:spPr>
                <a:xfrm rot="5400000">
                  <a:off x="1553255" y="4951923"/>
                  <a:ext cx="135839" cy="130533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54" name="Triángulo rectángulo 1053">
                  <a:extLst>
                    <a:ext uri="{FF2B5EF4-FFF2-40B4-BE49-F238E27FC236}">
                      <a16:creationId xmlns:a16="http://schemas.microsoft.com/office/drawing/2014/main" id="{254E6FFF-88B8-0CC8-F66E-65B3E14A094F}"/>
                    </a:ext>
                  </a:extLst>
                </p:cNvPr>
                <p:cNvSpPr/>
                <p:nvPr/>
              </p:nvSpPr>
              <p:spPr>
                <a:xfrm rot="5400000">
                  <a:off x="2931496" y="4945544"/>
                  <a:ext cx="135830" cy="143281"/>
                </a:xfrm>
                <a:prstGeom prst="rtTriangle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048" name="Grupo 1047">
                <a:extLst>
                  <a:ext uri="{FF2B5EF4-FFF2-40B4-BE49-F238E27FC236}">
                    <a16:creationId xmlns:a16="http://schemas.microsoft.com/office/drawing/2014/main" id="{DBE592C9-2F7F-5020-8737-ADD9FB52986B}"/>
                  </a:ext>
                </a:extLst>
              </p:cNvPr>
              <p:cNvGrpSpPr/>
              <p:nvPr/>
            </p:nvGrpSpPr>
            <p:grpSpPr>
              <a:xfrm>
                <a:off x="1555907" y="4801471"/>
                <a:ext cx="1515145" cy="135853"/>
                <a:chOff x="2902201" y="5511801"/>
                <a:chExt cx="1138351" cy="119219"/>
              </a:xfrm>
              <a:solidFill>
                <a:schemeClr val="accent6"/>
              </a:solidFill>
            </p:grpSpPr>
            <p:sp>
              <p:nvSpPr>
                <p:cNvPr id="1049" name="Triángulo rectángulo 1048">
                  <a:extLst>
                    <a:ext uri="{FF2B5EF4-FFF2-40B4-BE49-F238E27FC236}">
                      <a16:creationId xmlns:a16="http://schemas.microsoft.com/office/drawing/2014/main" id="{F7371293-B9AA-FC85-AD04-188E4E280187}"/>
                    </a:ext>
                  </a:extLst>
                </p:cNvPr>
                <p:cNvSpPr/>
                <p:nvPr/>
              </p:nvSpPr>
              <p:spPr>
                <a:xfrm>
                  <a:off x="3937211" y="5511801"/>
                  <a:ext cx="103341" cy="119209"/>
                </a:xfrm>
                <a:prstGeom prst="rtTriangle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50" name="Rectángulo 1049">
                  <a:extLst>
                    <a:ext uri="{FF2B5EF4-FFF2-40B4-BE49-F238E27FC236}">
                      <a16:creationId xmlns:a16="http://schemas.microsoft.com/office/drawing/2014/main" id="{3FCD0D2E-302D-0B51-9393-90FF0E3AE942}"/>
                    </a:ext>
                  </a:extLst>
                </p:cNvPr>
                <p:cNvSpPr/>
                <p:nvPr/>
              </p:nvSpPr>
              <p:spPr>
                <a:xfrm>
                  <a:off x="2902201" y="5511810"/>
                  <a:ext cx="1041199" cy="119209"/>
                </a:xfrm>
                <a:prstGeom prst="rect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51" name="Triángulo rectángulo 1050">
                  <a:extLst>
                    <a:ext uri="{FF2B5EF4-FFF2-40B4-BE49-F238E27FC236}">
                      <a16:creationId xmlns:a16="http://schemas.microsoft.com/office/drawing/2014/main" id="{3265A6A0-19EA-6D58-6D8C-0A953E42E295}"/>
                    </a:ext>
                  </a:extLst>
                </p:cNvPr>
                <p:cNvSpPr/>
                <p:nvPr/>
              </p:nvSpPr>
              <p:spPr>
                <a:xfrm>
                  <a:off x="2902201" y="5511813"/>
                  <a:ext cx="103341" cy="119207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  <p:grpSp>
          <p:nvGrpSpPr>
            <p:cNvPr id="1027" name="Grupo 1026">
              <a:extLst>
                <a:ext uri="{FF2B5EF4-FFF2-40B4-BE49-F238E27FC236}">
                  <a16:creationId xmlns:a16="http://schemas.microsoft.com/office/drawing/2014/main" id="{9773D946-8EB9-9097-8950-F01D4F5D1888}"/>
                </a:ext>
              </a:extLst>
            </p:cNvPr>
            <p:cNvGrpSpPr/>
            <p:nvPr/>
          </p:nvGrpSpPr>
          <p:grpSpPr>
            <a:xfrm>
              <a:off x="1187624" y="4797137"/>
              <a:ext cx="1515145" cy="283650"/>
              <a:chOff x="1555907" y="4801471"/>
              <a:chExt cx="1515145" cy="283650"/>
            </a:xfrm>
          </p:grpSpPr>
          <p:grpSp>
            <p:nvGrpSpPr>
              <p:cNvPr id="1025" name="Grupo 1024">
                <a:extLst>
                  <a:ext uri="{FF2B5EF4-FFF2-40B4-BE49-F238E27FC236}">
                    <a16:creationId xmlns:a16="http://schemas.microsoft.com/office/drawing/2014/main" id="{038294BA-5D89-2067-AB44-904578ED1816}"/>
                  </a:ext>
                </a:extLst>
              </p:cNvPr>
              <p:cNvGrpSpPr/>
              <p:nvPr/>
            </p:nvGrpSpPr>
            <p:grpSpPr>
              <a:xfrm>
                <a:off x="1555908" y="4949270"/>
                <a:ext cx="1515143" cy="135851"/>
                <a:chOff x="1555908" y="4949270"/>
                <a:chExt cx="1515143" cy="135851"/>
              </a:xfrm>
            </p:grpSpPr>
            <p:sp>
              <p:nvSpPr>
                <p:cNvPr id="53" name="Rectángulo 52">
                  <a:extLst>
                    <a:ext uri="{FF2B5EF4-FFF2-40B4-BE49-F238E27FC236}">
                      <a16:creationId xmlns:a16="http://schemas.microsoft.com/office/drawing/2014/main" id="{1B4EE9A3-D880-4606-66DA-53BDA64CD839}"/>
                    </a:ext>
                  </a:extLst>
                </p:cNvPr>
                <p:cNvSpPr/>
                <p:nvPr/>
              </p:nvSpPr>
              <p:spPr>
                <a:xfrm>
                  <a:off x="1555910" y="4949290"/>
                  <a:ext cx="1377596" cy="135831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54" name="Triángulo rectángulo 53">
                  <a:extLst>
                    <a:ext uri="{FF2B5EF4-FFF2-40B4-BE49-F238E27FC236}">
                      <a16:creationId xmlns:a16="http://schemas.microsoft.com/office/drawing/2014/main" id="{94D83BE0-F392-1CF0-D062-B250FA23AB59}"/>
                    </a:ext>
                  </a:extLst>
                </p:cNvPr>
                <p:cNvSpPr/>
                <p:nvPr/>
              </p:nvSpPr>
              <p:spPr>
                <a:xfrm rot="5400000">
                  <a:off x="1553255" y="4951923"/>
                  <a:ext cx="135839" cy="130533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56" name="Triángulo rectángulo 55">
                  <a:extLst>
                    <a:ext uri="{FF2B5EF4-FFF2-40B4-BE49-F238E27FC236}">
                      <a16:creationId xmlns:a16="http://schemas.microsoft.com/office/drawing/2014/main" id="{0D88D665-9C63-F705-F90D-898E5BF6DD8B}"/>
                    </a:ext>
                  </a:extLst>
                </p:cNvPr>
                <p:cNvSpPr/>
                <p:nvPr/>
              </p:nvSpPr>
              <p:spPr>
                <a:xfrm rot="5400000">
                  <a:off x="2931496" y="4945544"/>
                  <a:ext cx="135830" cy="143281"/>
                </a:xfrm>
                <a:prstGeom prst="rtTriangl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BD1826C1-14D7-1627-E92E-26AB8A8263B5}"/>
                  </a:ext>
                </a:extLst>
              </p:cNvPr>
              <p:cNvGrpSpPr/>
              <p:nvPr/>
            </p:nvGrpSpPr>
            <p:grpSpPr>
              <a:xfrm>
                <a:off x="1555907" y="4801471"/>
                <a:ext cx="1515145" cy="135853"/>
                <a:chOff x="2902201" y="5511801"/>
                <a:chExt cx="1138351" cy="119219"/>
              </a:xfrm>
              <a:solidFill>
                <a:schemeClr val="accent6"/>
              </a:solidFill>
            </p:grpSpPr>
            <p:sp>
              <p:nvSpPr>
                <p:cNvPr id="9" name="Triángulo rectángulo 8">
                  <a:extLst>
                    <a:ext uri="{FF2B5EF4-FFF2-40B4-BE49-F238E27FC236}">
                      <a16:creationId xmlns:a16="http://schemas.microsoft.com/office/drawing/2014/main" id="{ECF59EF0-F09F-F26F-7FB1-4852744E7801}"/>
                    </a:ext>
                  </a:extLst>
                </p:cNvPr>
                <p:cNvSpPr/>
                <p:nvPr/>
              </p:nvSpPr>
              <p:spPr>
                <a:xfrm>
                  <a:off x="3937211" y="5511801"/>
                  <a:ext cx="103341" cy="119209"/>
                </a:xfrm>
                <a:prstGeom prst="rtTriangle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0" name="Rectángulo 9">
                  <a:extLst>
                    <a:ext uri="{FF2B5EF4-FFF2-40B4-BE49-F238E27FC236}">
                      <a16:creationId xmlns:a16="http://schemas.microsoft.com/office/drawing/2014/main" id="{A83E334E-E458-FB32-4AF0-578838DF0FD5}"/>
                    </a:ext>
                  </a:extLst>
                </p:cNvPr>
                <p:cNvSpPr/>
                <p:nvPr/>
              </p:nvSpPr>
              <p:spPr>
                <a:xfrm>
                  <a:off x="2902201" y="5511810"/>
                  <a:ext cx="1041199" cy="119209"/>
                </a:xfrm>
                <a:prstGeom prst="rect">
                  <a:avLst/>
                </a:prstGeom>
                <a:solidFill>
                  <a:srgbClr val="BA62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1" name="Triángulo rectángulo 10">
                  <a:extLst>
                    <a:ext uri="{FF2B5EF4-FFF2-40B4-BE49-F238E27FC236}">
                      <a16:creationId xmlns:a16="http://schemas.microsoft.com/office/drawing/2014/main" id="{6233F802-572B-8146-A15B-6BB534B22F1A}"/>
                    </a:ext>
                  </a:extLst>
                </p:cNvPr>
                <p:cNvSpPr/>
                <p:nvPr/>
              </p:nvSpPr>
              <p:spPr>
                <a:xfrm>
                  <a:off x="2902201" y="5511813"/>
                  <a:ext cx="103341" cy="119207"/>
                </a:xfrm>
                <a:prstGeom prst="rt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</p:grpSp>
      </p:grpSp>
      <p:sp>
        <p:nvSpPr>
          <p:cNvPr id="1074" name="CuadroTexto 1073">
            <a:extLst>
              <a:ext uri="{FF2B5EF4-FFF2-40B4-BE49-F238E27FC236}">
                <a16:creationId xmlns:a16="http://schemas.microsoft.com/office/drawing/2014/main" id="{EAB50B3A-0EF4-2B8D-A09C-C794CC3E27C6}"/>
              </a:ext>
            </a:extLst>
          </p:cNvPr>
          <p:cNvSpPr txBox="1"/>
          <p:nvPr/>
        </p:nvSpPr>
        <p:spPr>
          <a:xfrm>
            <a:off x="2639616" y="3368026"/>
            <a:ext cx="1195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Montserrat SemiBold" panose="00000700000000000000" pitchFamily="2" charset="0"/>
              </a:rPr>
              <a:t>Centralizado</a:t>
            </a:r>
          </a:p>
        </p:txBody>
      </p:sp>
      <p:sp>
        <p:nvSpPr>
          <p:cNvPr id="1075" name="CuadroTexto 1074">
            <a:extLst>
              <a:ext uri="{FF2B5EF4-FFF2-40B4-BE49-F238E27FC236}">
                <a16:creationId xmlns:a16="http://schemas.microsoft.com/office/drawing/2014/main" id="{4733AE14-C6D1-1F79-E475-329C9FB06AD2}"/>
              </a:ext>
            </a:extLst>
          </p:cNvPr>
          <p:cNvSpPr txBox="1"/>
          <p:nvPr/>
        </p:nvSpPr>
        <p:spPr>
          <a:xfrm>
            <a:off x="8069104" y="2708921"/>
            <a:ext cx="1195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Montserrat SemiBold" panose="00000700000000000000" pitchFamily="2" charset="0"/>
              </a:rPr>
              <a:t>Distribuido</a:t>
            </a:r>
          </a:p>
        </p:txBody>
      </p:sp>
      <p:sp>
        <p:nvSpPr>
          <p:cNvPr id="1076" name="CuadroTexto 1075">
            <a:extLst>
              <a:ext uri="{FF2B5EF4-FFF2-40B4-BE49-F238E27FC236}">
                <a16:creationId xmlns:a16="http://schemas.microsoft.com/office/drawing/2014/main" id="{8DAC0153-9F92-B94F-6BC8-0C7AFF653443}"/>
              </a:ext>
            </a:extLst>
          </p:cNvPr>
          <p:cNvSpPr txBox="1"/>
          <p:nvPr/>
        </p:nvSpPr>
        <p:spPr>
          <a:xfrm>
            <a:off x="2207569" y="1713877"/>
            <a:ext cx="2480425" cy="372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latin typeface="Montserrat" panose="00000500000000000000" pitchFamily="2" charset="0"/>
              </a:rPr>
              <a:t>Producción de artefactos de datos manejados por un equipo central</a:t>
            </a:r>
          </a:p>
        </p:txBody>
      </p:sp>
      <p:cxnSp>
        <p:nvCxnSpPr>
          <p:cNvPr id="1078" name="Conector recto 1077">
            <a:extLst>
              <a:ext uri="{FF2B5EF4-FFF2-40B4-BE49-F238E27FC236}">
                <a16:creationId xmlns:a16="http://schemas.microsoft.com/office/drawing/2014/main" id="{2127515C-7562-B1B4-97F9-D18E3060CA1B}"/>
              </a:ext>
            </a:extLst>
          </p:cNvPr>
          <p:cNvCxnSpPr>
            <a:cxnSpLocks/>
          </p:cNvCxnSpPr>
          <p:nvPr/>
        </p:nvCxnSpPr>
        <p:spPr>
          <a:xfrm>
            <a:off x="3071476" y="2157611"/>
            <a:ext cx="911812" cy="84524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9" name="CuadroTexto 1078">
            <a:extLst>
              <a:ext uri="{FF2B5EF4-FFF2-40B4-BE49-F238E27FC236}">
                <a16:creationId xmlns:a16="http://schemas.microsoft.com/office/drawing/2014/main" id="{51858926-A8AE-FDA5-B81F-C3A005C64126}"/>
              </a:ext>
            </a:extLst>
          </p:cNvPr>
          <p:cNvSpPr txBox="1"/>
          <p:nvPr/>
        </p:nvSpPr>
        <p:spPr>
          <a:xfrm>
            <a:off x="3346432" y="4402785"/>
            <a:ext cx="1749257" cy="507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 err="1">
                <a:latin typeface="Montserrat" panose="00000500000000000000" pitchFamily="2" charset="0"/>
              </a:rPr>
              <a:t>Politicas</a:t>
            </a:r>
            <a:r>
              <a:rPr lang="es-ES" sz="900" dirty="0">
                <a:latin typeface="Montserrat" panose="00000500000000000000" pitchFamily="2" charset="0"/>
              </a:rPr>
              <a:t> de gobernanza aplicadas y forzadas por un equipo central</a:t>
            </a:r>
          </a:p>
        </p:txBody>
      </p:sp>
      <p:cxnSp>
        <p:nvCxnSpPr>
          <p:cNvPr id="1080" name="Conector recto 1079">
            <a:extLst>
              <a:ext uri="{FF2B5EF4-FFF2-40B4-BE49-F238E27FC236}">
                <a16:creationId xmlns:a16="http://schemas.microsoft.com/office/drawing/2014/main" id="{13335B42-93C1-7315-6022-1BC84EA9504E}"/>
              </a:ext>
            </a:extLst>
          </p:cNvPr>
          <p:cNvCxnSpPr>
            <a:cxnSpLocks/>
          </p:cNvCxnSpPr>
          <p:nvPr/>
        </p:nvCxnSpPr>
        <p:spPr>
          <a:xfrm flipV="1">
            <a:off x="4168866" y="3473764"/>
            <a:ext cx="654882" cy="8193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3" name="CuadroTexto 1082">
            <a:extLst>
              <a:ext uri="{FF2B5EF4-FFF2-40B4-BE49-F238E27FC236}">
                <a16:creationId xmlns:a16="http://schemas.microsoft.com/office/drawing/2014/main" id="{6BDA3B09-E6A4-AEB7-0A8F-132CD953E961}"/>
              </a:ext>
            </a:extLst>
          </p:cNvPr>
          <p:cNvSpPr txBox="1"/>
          <p:nvPr/>
        </p:nvSpPr>
        <p:spPr>
          <a:xfrm>
            <a:off x="7496576" y="1682501"/>
            <a:ext cx="2480425" cy="372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latin typeface="Montserrat" panose="00000500000000000000" pitchFamily="2" charset="0"/>
              </a:rPr>
              <a:t>Producción de artefactos de datos impulsada por el dominio</a:t>
            </a:r>
          </a:p>
        </p:txBody>
      </p:sp>
      <p:cxnSp>
        <p:nvCxnSpPr>
          <p:cNvPr id="1084" name="Conector recto 1083">
            <a:extLst>
              <a:ext uri="{FF2B5EF4-FFF2-40B4-BE49-F238E27FC236}">
                <a16:creationId xmlns:a16="http://schemas.microsoft.com/office/drawing/2014/main" id="{046AE3E4-2380-A15E-B85D-CDE6359F4825}"/>
              </a:ext>
            </a:extLst>
          </p:cNvPr>
          <p:cNvCxnSpPr>
            <a:cxnSpLocks/>
          </p:cNvCxnSpPr>
          <p:nvPr/>
        </p:nvCxnSpPr>
        <p:spPr>
          <a:xfrm flipH="1">
            <a:off x="7762682" y="2156505"/>
            <a:ext cx="543259" cy="7992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CuadroTexto 1086">
            <a:extLst>
              <a:ext uri="{FF2B5EF4-FFF2-40B4-BE49-F238E27FC236}">
                <a16:creationId xmlns:a16="http://schemas.microsoft.com/office/drawing/2014/main" id="{F4AA6F1F-F222-5A6E-8422-B4DA6F07A9E8}"/>
              </a:ext>
            </a:extLst>
          </p:cNvPr>
          <p:cNvSpPr txBox="1"/>
          <p:nvPr/>
        </p:nvSpPr>
        <p:spPr>
          <a:xfrm>
            <a:off x="6639911" y="4401379"/>
            <a:ext cx="2480425" cy="372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latin typeface="Montserrat" panose="00000500000000000000" pitchFamily="2" charset="0"/>
              </a:rPr>
              <a:t>derechos sobre los datos propiedad de los equipos de dominio</a:t>
            </a:r>
          </a:p>
        </p:txBody>
      </p:sp>
      <p:cxnSp>
        <p:nvCxnSpPr>
          <p:cNvPr id="1088" name="Conector recto 1087">
            <a:extLst>
              <a:ext uri="{FF2B5EF4-FFF2-40B4-BE49-F238E27FC236}">
                <a16:creationId xmlns:a16="http://schemas.microsoft.com/office/drawing/2014/main" id="{76B29CCE-33F0-0245-09E6-F6B8311CDD62}"/>
              </a:ext>
            </a:extLst>
          </p:cNvPr>
          <p:cNvCxnSpPr>
            <a:cxnSpLocks/>
          </p:cNvCxnSpPr>
          <p:nvPr/>
        </p:nvCxnSpPr>
        <p:spPr>
          <a:xfrm flipH="1" flipV="1">
            <a:off x="6906681" y="3479128"/>
            <a:ext cx="816546" cy="90656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1" name="Elipse 1090">
            <a:extLst>
              <a:ext uri="{FF2B5EF4-FFF2-40B4-BE49-F238E27FC236}">
                <a16:creationId xmlns:a16="http://schemas.microsoft.com/office/drawing/2014/main" id="{F0CC7DBB-CE0F-C2C6-C79F-C7744A32E425}"/>
              </a:ext>
            </a:extLst>
          </p:cNvPr>
          <p:cNvSpPr/>
          <p:nvPr/>
        </p:nvSpPr>
        <p:spPr>
          <a:xfrm>
            <a:off x="5095689" y="2489816"/>
            <a:ext cx="1406169" cy="1406169"/>
          </a:xfrm>
          <a:prstGeom prst="ellipse">
            <a:avLst/>
          </a:prstGeom>
          <a:solidFill>
            <a:schemeClr val="bg1">
              <a:lumMod val="50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00B3B1E3-3014-FFE0-396F-6355C19195B8}"/>
              </a:ext>
            </a:extLst>
          </p:cNvPr>
          <p:cNvSpPr txBox="1">
            <a:spLocks/>
          </p:cNvSpPr>
          <p:nvPr/>
        </p:nvSpPr>
        <p:spPr>
          <a:xfrm>
            <a:off x="350163" y="174352"/>
            <a:ext cx="10121191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Gobernanza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Espectro de Gobernanza en las empresas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0FF6D0B-7E7D-FF43-8307-8EE6C584CEE6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C77A84CA-9B69-E084-0D94-4E2DA00AB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191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86598-4255-C9CC-3FE5-BABE90DDA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E07481A-2319-18C3-8D6A-DA4E9400B77E}"/>
              </a:ext>
            </a:extLst>
          </p:cNvPr>
          <p:cNvSpPr txBox="1"/>
          <p:nvPr/>
        </p:nvSpPr>
        <p:spPr>
          <a:xfrm>
            <a:off x="4007768" y="2537902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UNITY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CATALOG</a:t>
            </a:r>
          </a:p>
        </p:txBody>
      </p:sp>
    </p:spTree>
    <p:extLst>
      <p:ext uri="{BB962C8B-B14F-4D97-AF65-F5344CB8AC3E}">
        <p14:creationId xmlns:p14="http://schemas.microsoft.com/office/powerpoint/2010/main" val="4112078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upo 41">
            <a:extLst>
              <a:ext uri="{FF2B5EF4-FFF2-40B4-BE49-F238E27FC236}">
                <a16:creationId xmlns:a16="http://schemas.microsoft.com/office/drawing/2014/main" id="{48E6F61C-6EBA-6A95-52D6-FC84EE2B6427}"/>
              </a:ext>
            </a:extLst>
          </p:cNvPr>
          <p:cNvGrpSpPr/>
          <p:nvPr/>
        </p:nvGrpSpPr>
        <p:grpSpPr>
          <a:xfrm>
            <a:off x="1943378" y="1124744"/>
            <a:ext cx="8373386" cy="3168352"/>
            <a:chOff x="419378" y="1124744"/>
            <a:chExt cx="8373386" cy="3168352"/>
          </a:xfrm>
        </p:grpSpPr>
        <p:sp>
          <p:nvSpPr>
            <p:cNvPr id="6" name="Trapecio 5">
              <a:extLst>
                <a:ext uri="{FF2B5EF4-FFF2-40B4-BE49-F238E27FC236}">
                  <a16:creationId xmlns:a16="http://schemas.microsoft.com/office/drawing/2014/main" id="{67BA6D96-C62B-BEBB-AAFD-6638BBF55B9A}"/>
                </a:ext>
              </a:extLst>
            </p:cNvPr>
            <p:cNvSpPr/>
            <p:nvPr/>
          </p:nvSpPr>
          <p:spPr>
            <a:xfrm rot="5400000">
              <a:off x="1247470" y="1052736"/>
              <a:ext cx="2808312" cy="3384376"/>
            </a:xfrm>
            <a:prstGeom prst="trapezoid">
              <a:avLst/>
            </a:prstGeom>
            <a:gradFill flip="none" rotWithShape="1">
              <a:gsLst>
                <a:gs pos="0">
                  <a:schemeClr val="accent1">
                    <a:lumMod val="50000"/>
                    <a:tint val="66000"/>
                    <a:satMod val="160000"/>
                  </a:schemeClr>
                </a:gs>
                <a:gs pos="50000">
                  <a:schemeClr val="accent1">
                    <a:lumMod val="50000"/>
                    <a:tint val="44500"/>
                    <a:satMod val="160000"/>
                  </a:schemeClr>
                </a:gs>
                <a:gs pos="100000">
                  <a:schemeClr val="accent1">
                    <a:lumMod val="50000"/>
                    <a:tint val="23500"/>
                    <a:satMod val="1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A69F5C17-5CB4-1030-CE93-9F9D1C12A546}"/>
                </a:ext>
              </a:extLst>
            </p:cNvPr>
            <p:cNvSpPr/>
            <p:nvPr/>
          </p:nvSpPr>
          <p:spPr>
            <a:xfrm>
              <a:off x="419378" y="1124744"/>
              <a:ext cx="1368152" cy="316835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Trapecio 6">
              <a:extLst>
                <a:ext uri="{FF2B5EF4-FFF2-40B4-BE49-F238E27FC236}">
                  <a16:creationId xmlns:a16="http://schemas.microsoft.com/office/drawing/2014/main" id="{EDA760EA-4913-77A5-8736-64C4B30612B4}"/>
                </a:ext>
              </a:extLst>
            </p:cNvPr>
            <p:cNvSpPr/>
            <p:nvPr/>
          </p:nvSpPr>
          <p:spPr>
            <a:xfrm rot="16200000">
              <a:off x="4631846" y="1052736"/>
              <a:ext cx="2808312" cy="3384376"/>
            </a:xfrm>
            <a:prstGeom prst="trapezoid">
              <a:avLst/>
            </a:prstGeom>
            <a:gradFill flip="none" rotWithShape="1">
              <a:gsLst>
                <a:gs pos="0">
                  <a:schemeClr val="accent1">
                    <a:lumMod val="50000"/>
                    <a:tint val="66000"/>
                    <a:satMod val="160000"/>
                  </a:schemeClr>
                </a:gs>
                <a:gs pos="50000">
                  <a:schemeClr val="accent1">
                    <a:lumMod val="50000"/>
                    <a:tint val="44500"/>
                    <a:satMod val="160000"/>
                  </a:schemeClr>
                </a:gs>
                <a:gs pos="100000">
                  <a:schemeClr val="accent1">
                    <a:lumMod val="50000"/>
                    <a:tint val="23500"/>
                    <a:satMod val="1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914BD114-6878-E17B-2AD3-9D227B4785B8}"/>
                </a:ext>
              </a:extLst>
            </p:cNvPr>
            <p:cNvSpPr/>
            <p:nvPr/>
          </p:nvSpPr>
          <p:spPr>
            <a:xfrm>
              <a:off x="2759638" y="1628800"/>
              <a:ext cx="3312368" cy="2340260"/>
            </a:xfrm>
            <a:prstGeom prst="roundRect">
              <a:avLst>
                <a:gd name="adj" fmla="val 13247"/>
              </a:avLst>
            </a:prstGeom>
            <a:solidFill>
              <a:schemeClr val="bg2"/>
            </a:solidFill>
            <a:ln>
              <a:noFill/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UNITY CATALOG</a:t>
              </a:r>
            </a:p>
          </p:txBody>
        </p:sp>
        <p:pic>
          <p:nvPicPr>
            <p:cNvPr id="10" name="Gráfico 9" descr="Usuario con relleno sólido">
              <a:extLst>
                <a:ext uri="{FF2B5EF4-FFF2-40B4-BE49-F238E27FC236}">
                  <a16:creationId xmlns:a16="http://schemas.microsoft.com/office/drawing/2014/main" id="{7F0BE224-DAAD-9060-8339-BDEFBF342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2164" y="1196752"/>
              <a:ext cx="628748" cy="628748"/>
            </a:xfrm>
            <a:prstGeom prst="rect">
              <a:avLst/>
            </a:prstGeom>
          </p:spPr>
        </p:pic>
        <p:pic>
          <p:nvPicPr>
            <p:cNvPr id="11" name="Gráfico 10" descr="Usuario con relleno sólido">
              <a:extLst>
                <a:ext uri="{FF2B5EF4-FFF2-40B4-BE49-F238E27FC236}">
                  <a16:creationId xmlns:a16="http://schemas.microsoft.com/office/drawing/2014/main" id="{A995CC66-85DD-0E45-6574-00DC00DAE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2164" y="2132856"/>
              <a:ext cx="628748" cy="628748"/>
            </a:xfrm>
            <a:prstGeom prst="rect">
              <a:avLst/>
            </a:prstGeom>
          </p:spPr>
        </p:pic>
        <p:pic>
          <p:nvPicPr>
            <p:cNvPr id="12" name="Gráfico 11" descr="Usuario con relleno sólido">
              <a:extLst>
                <a:ext uri="{FF2B5EF4-FFF2-40B4-BE49-F238E27FC236}">
                  <a16:creationId xmlns:a16="http://schemas.microsoft.com/office/drawing/2014/main" id="{2D2F9EA7-5B02-2112-FAAC-6FCB5ACC7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2164" y="3191095"/>
              <a:ext cx="628748" cy="628748"/>
            </a:xfrm>
            <a:prstGeom prst="rect">
              <a:avLst/>
            </a:prstGeom>
          </p:spPr>
        </p:pic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BD215386-F474-FA1F-AB86-88477331ABAA}"/>
                </a:ext>
              </a:extLst>
            </p:cNvPr>
            <p:cNvSpPr/>
            <p:nvPr/>
          </p:nvSpPr>
          <p:spPr>
            <a:xfrm>
              <a:off x="7164288" y="1124744"/>
              <a:ext cx="1368152" cy="316835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3ADC6D66-90CD-FB16-9CB5-9DDB06FA3B0C}"/>
                </a:ext>
              </a:extLst>
            </p:cNvPr>
            <p:cNvSpPr txBox="1"/>
            <p:nvPr/>
          </p:nvSpPr>
          <p:spPr>
            <a:xfrm>
              <a:off x="7458923" y="1509530"/>
              <a:ext cx="12864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Data Lake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B4620D1A-A4E0-C9A6-3D76-5E3931FE91B8}"/>
                </a:ext>
              </a:extLst>
            </p:cNvPr>
            <p:cNvSpPr txBox="1"/>
            <p:nvPr/>
          </p:nvSpPr>
          <p:spPr>
            <a:xfrm>
              <a:off x="567583" y="2717842"/>
              <a:ext cx="136815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Data Engineer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3991B9D4-757A-DDC5-59A8-B89E30640293}"/>
                </a:ext>
              </a:extLst>
            </p:cNvPr>
            <p:cNvSpPr txBox="1"/>
            <p:nvPr/>
          </p:nvSpPr>
          <p:spPr>
            <a:xfrm>
              <a:off x="529499" y="3794859"/>
              <a:ext cx="136815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Data </a:t>
              </a:r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Scientist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18" name="Imagen 17" descr="Imagen en blanco y negro&#10;&#10;El contenido generado por IA puede ser incorrecto.">
              <a:extLst>
                <a:ext uri="{FF2B5EF4-FFF2-40B4-BE49-F238E27FC236}">
                  <a16:creationId xmlns:a16="http://schemas.microsoft.com/office/drawing/2014/main" id="{669D84B6-F6A6-D4CB-99BD-9F1E1E859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025" y="1981272"/>
              <a:ext cx="312442" cy="312442"/>
            </a:xfrm>
            <a:prstGeom prst="rect">
              <a:avLst/>
            </a:prstGeom>
          </p:spPr>
        </p:pic>
        <p:pic>
          <p:nvPicPr>
            <p:cNvPr id="20" name="Imagen 19" descr="Imagen que contiene muebles&#10;&#10;El contenido generado por IA puede ser incorrecto.">
              <a:extLst>
                <a:ext uri="{FF2B5EF4-FFF2-40B4-BE49-F238E27FC236}">
                  <a16:creationId xmlns:a16="http://schemas.microsoft.com/office/drawing/2014/main" id="{594D3727-4F5D-98F1-791B-8D7DA5809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9535" y="1223265"/>
              <a:ext cx="316228" cy="316228"/>
            </a:xfrm>
            <a:prstGeom prst="rect">
              <a:avLst/>
            </a:prstGeom>
          </p:spPr>
        </p:pic>
        <p:pic>
          <p:nvPicPr>
            <p:cNvPr id="22" name="Imagen 21" descr="Forma&#10;&#10;El contenido generado por IA puede ser incorrecto.">
              <a:extLst>
                <a:ext uri="{FF2B5EF4-FFF2-40B4-BE49-F238E27FC236}">
                  <a16:creationId xmlns:a16="http://schemas.microsoft.com/office/drawing/2014/main" id="{171E5199-E5EF-FE60-32C1-4E368AC49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4728" y="3530987"/>
              <a:ext cx="378430" cy="378430"/>
            </a:xfrm>
            <a:prstGeom prst="rect">
              <a:avLst/>
            </a:prstGeom>
          </p:spPr>
        </p:pic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FF57925-D1F5-F66E-50F0-30DF1A7D3722}"/>
                </a:ext>
              </a:extLst>
            </p:cNvPr>
            <p:cNvSpPr txBox="1"/>
            <p:nvPr/>
          </p:nvSpPr>
          <p:spPr>
            <a:xfrm>
              <a:off x="611169" y="1786608"/>
              <a:ext cx="12864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Data Analyst</a:t>
              </a: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9171CBC4-0112-EF41-E9DA-0AB68F91455A}"/>
                </a:ext>
              </a:extLst>
            </p:cNvPr>
            <p:cNvSpPr txBox="1"/>
            <p:nvPr/>
          </p:nvSpPr>
          <p:spPr>
            <a:xfrm>
              <a:off x="7303681" y="2255980"/>
              <a:ext cx="12864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Data </a:t>
              </a:r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Warehouse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D4BBC0E0-F075-10CA-BB8B-CBE00DBFC2D0}"/>
                </a:ext>
              </a:extLst>
            </p:cNvPr>
            <p:cNvSpPr txBox="1"/>
            <p:nvPr/>
          </p:nvSpPr>
          <p:spPr>
            <a:xfrm>
              <a:off x="7506282" y="3114751"/>
              <a:ext cx="12864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Metadata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D2A407C4-5677-C529-EEA9-050C8114A17E}"/>
                </a:ext>
              </a:extLst>
            </p:cNvPr>
            <p:cNvSpPr txBox="1"/>
            <p:nvPr/>
          </p:nvSpPr>
          <p:spPr>
            <a:xfrm>
              <a:off x="7430628" y="3882202"/>
              <a:ext cx="12864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ML </a:t>
              </a:r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Models</a:t>
              </a:r>
              <a:r>
                <a:rPr lang="es-ES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 &amp; </a:t>
              </a:r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Dashboards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A0B23B3-9A08-E1D2-C284-0FA06653CEA6}"/>
              </a:ext>
            </a:extLst>
          </p:cNvPr>
          <p:cNvSpPr txBox="1"/>
          <p:nvPr/>
        </p:nvSpPr>
        <p:spPr>
          <a:xfrm>
            <a:off x="2423592" y="4797152"/>
            <a:ext cx="7416824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Una primera definición de Unity </a:t>
            </a:r>
            <a:r>
              <a:rPr lang="es-ES" sz="1000" dirty="0" err="1">
                <a:latin typeface="Montserrat" panose="00000500000000000000" pitchFamily="2" charset="0"/>
              </a:rPr>
              <a:t>Catalog</a:t>
            </a:r>
            <a:r>
              <a:rPr lang="es-ES" sz="1000" dirty="0">
                <a:latin typeface="Montserrat" panose="00000500000000000000" pitchFamily="2" charset="0"/>
              </a:rPr>
              <a:t> es que es el ecosistema que propone </a:t>
            </a:r>
            <a:r>
              <a:rPr lang="es-ES" sz="1000" dirty="0" err="1">
                <a:latin typeface="Montserrat" panose="00000500000000000000" pitchFamily="2" charset="0"/>
              </a:rPr>
              <a:t>databricks</a:t>
            </a:r>
            <a:r>
              <a:rPr lang="es-ES" sz="1000" dirty="0">
                <a:latin typeface="Montserrat" panose="00000500000000000000" pitchFamily="2" charset="0"/>
              </a:rPr>
              <a:t> para que se comuniquen las distintas personas y objetos que pueden generarse en un </a:t>
            </a:r>
            <a:r>
              <a:rPr lang="es-ES" sz="1000" dirty="0" err="1">
                <a:latin typeface="Montserrat" panose="00000500000000000000" pitchFamily="2" charset="0"/>
              </a:rPr>
              <a:t>entonorno</a:t>
            </a:r>
            <a:r>
              <a:rPr lang="es-ES" sz="1000" dirty="0">
                <a:latin typeface="Montserrat" panose="00000500000000000000" pitchFamily="2" charset="0"/>
              </a:rPr>
              <a:t> de Datos.</a:t>
            </a: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E26F16B8-7D68-298C-24AC-540EE944ED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238" y="2728624"/>
            <a:ext cx="394235" cy="394235"/>
          </a:xfrm>
          <a:prstGeom prst="rect">
            <a:avLst/>
          </a:prstGeom>
        </p:spPr>
      </p:pic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257A5CBA-175B-4431-8338-7DD77A719C7E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Introducción a UC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¿Qué es Unity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Catalog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?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60382A6-B149-CD7A-5542-40C60951505D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9" name="Imagen 18" descr="Texto&#10;&#10;El contenido generado por IA puede ser incorrecto.">
            <a:extLst>
              <a:ext uri="{FF2B5EF4-FFF2-40B4-BE49-F238E27FC236}">
                <a16:creationId xmlns:a16="http://schemas.microsoft.com/office/drawing/2014/main" id="{23DAC6F9-5CC3-F1AF-E37B-7DA91ADD2E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62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o 34">
            <a:extLst>
              <a:ext uri="{FF2B5EF4-FFF2-40B4-BE49-F238E27FC236}">
                <a16:creationId xmlns:a16="http://schemas.microsoft.com/office/drawing/2014/main" id="{5B2ADFA1-8002-916A-E0B7-C661C550A918}"/>
              </a:ext>
            </a:extLst>
          </p:cNvPr>
          <p:cNvGrpSpPr/>
          <p:nvPr/>
        </p:nvGrpSpPr>
        <p:grpSpPr>
          <a:xfrm>
            <a:off x="1919536" y="2780928"/>
            <a:ext cx="8424936" cy="2016224"/>
            <a:chOff x="395536" y="3284984"/>
            <a:chExt cx="8424936" cy="2016224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8761BE6-8E35-5239-2071-B043EE5BF8A7}"/>
                </a:ext>
              </a:extLst>
            </p:cNvPr>
            <p:cNvSpPr/>
            <p:nvPr/>
          </p:nvSpPr>
          <p:spPr>
            <a:xfrm>
              <a:off x="395536" y="3284984"/>
              <a:ext cx="8424936" cy="2016224"/>
            </a:xfrm>
            <a:prstGeom prst="rect">
              <a:avLst/>
            </a:prstGeom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C229099-D1C4-FC32-20A2-67C7BD198F83}"/>
                </a:ext>
              </a:extLst>
            </p:cNvPr>
            <p:cNvSpPr/>
            <p:nvPr/>
          </p:nvSpPr>
          <p:spPr>
            <a:xfrm>
              <a:off x="626448" y="4293096"/>
              <a:ext cx="7949545" cy="79208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Metadata</a:t>
              </a:r>
              <a:r>
                <a:rPr lang="es-ES" sz="1600" dirty="0"/>
                <a:t> Management</a:t>
              </a:r>
            </a:p>
            <a:p>
              <a:pPr algn="ctr"/>
              <a:r>
                <a:rPr lang="es-ES" sz="1600" dirty="0"/>
                <a:t>(Files | Tables | ML </a:t>
              </a:r>
              <a:r>
                <a:rPr lang="es-ES" sz="1600" dirty="0" err="1"/>
                <a:t>Models</a:t>
              </a:r>
              <a:r>
                <a:rPr lang="es-ES" sz="1600" dirty="0"/>
                <a:t> | Notebooks | </a:t>
              </a:r>
              <a:r>
                <a:rPr lang="es-ES" sz="1600" dirty="0" err="1"/>
                <a:t>Dashboards</a:t>
              </a:r>
              <a:r>
                <a:rPr lang="es-ES" sz="1600" dirty="0"/>
                <a:t>)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07768FA-AE5B-B194-5781-DF1A44A5AB28}"/>
                </a:ext>
              </a:extLst>
            </p:cNvPr>
            <p:cNvSpPr/>
            <p:nvPr/>
          </p:nvSpPr>
          <p:spPr>
            <a:xfrm>
              <a:off x="63426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Access</a:t>
              </a:r>
            </a:p>
            <a:p>
              <a:pPr algn="ctr"/>
              <a:r>
                <a:rPr lang="es-ES" sz="1600" dirty="0" err="1"/>
                <a:t>Controls</a:t>
              </a:r>
              <a:endParaRPr lang="es-ES" sz="1600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6A2BC39B-DDDC-EB9F-3FEC-7BD701DDE43E}"/>
                </a:ext>
              </a:extLst>
            </p:cNvPr>
            <p:cNvSpPr/>
            <p:nvPr/>
          </p:nvSpPr>
          <p:spPr>
            <a:xfrm>
              <a:off x="197971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Lineage</a:t>
              </a:r>
              <a:endParaRPr lang="es-ES" sz="1600" dirty="0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4D755E14-37E9-200A-13D2-3891DA797952}"/>
                </a:ext>
              </a:extLst>
            </p:cNvPr>
            <p:cNvSpPr/>
            <p:nvPr/>
          </p:nvSpPr>
          <p:spPr>
            <a:xfrm>
              <a:off x="332897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Discovery</a:t>
              </a: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CCC73782-79DD-0543-F048-724F281BA7C8}"/>
                </a:ext>
              </a:extLst>
            </p:cNvPr>
            <p:cNvSpPr/>
            <p:nvPr/>
          </p:nvSpPr>
          <p:spPr>
            <a:xfrm>
              <a:off x="467824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Monitoring</a:t>
              </a:r>
              <a:endParaRPr lang="es-ES" sz="1600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0A01DED-CECF-E81B-A6D1-02F167A1D7C2}"/>
                </a:ext>
              </a:extLst>
            </p:cNvPr>
            <p:cNvSpPr/>
            <p:nvPr/>
          </p:nvSpPr>
          <p:spPr>
            <a:xfrm>
              <a:off x="602750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Auditing</a:t>
              </a:r>
              <a:endParaRPr lang="es-ES" sz="1600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296940DA-EB7D-029B-23EE-875C06A57881}"/>
                </a:ext>
              </a:extLst>
            </p:cNvPr>
            <p:cNvSpPr/>
            <p:nvPr/>
          </p:nvSpPr>
          <p:spPr>
            <a:xfrm>
              <a:off x="7374564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Sharing</a:t>
              </a:r>
              <a:endParaRPr lang="es-ES" sz="1600" dirty="0"/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66744B4-8C1E-F4CD-567E-1043F9800969}"/>
              </a:ext>
            </a:extLst>
          </p:cNvPr>
          <p:cNvSpPr txBox="1"/>
          <p:nvPr/>
        </p:nvSpPr>
        <p:spPr>
          <a:xfrm>
            <a:off x="2639616" y="1859658"/>
            <a:ext cx="72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latin typeface="Montserrat" panose="00000500000000000000" pitchFamily="2" charset="0"/>
              </a:rPr>
              <a:t>Unity </a:t>
            </a:r>
            <a:r>
              <a:rPr lang="es-ES" sz="1200" b="1" dirty="0" err="1">
                <a:latin typeface="Montserrat" panose="00000500000000000000" pitchFamily="2" charset="0"/>
              </a:rPr>
              <a:t>Catalog</a:t>
            </a:r>
            <a:r>
              <a:rPr lang="es-ES" sz="1200" dirty="0">
                <a:latin typeface="Montserrat" panose="00000500000000000000" pitchFamily="2" charset="0"/>
              </a:rPr>
              <a:t> es la solución de </a:t>
            </a:r>
            <a:r>
              <a:rPr lang="es-ES" sz="1200" b="1" dirty="0">
                <a:latin typeface="Montserrat" panose="00000500000000000000" pitchFamily="2" charset="0"/>
              </a:rPr>
              <a:t>gobernanza unificada de datos e inteligencia artificial</a:t>
            </a:r>
            <a:r>
              <a:rPr lang="es-ES" sz="1200" dirty="0">
                <a:latin typeface="Montserrat" panose="00000500000000000000" pitchFamily="2" charset="0"/>
              </a:rPr>
              <a:t> en </a:t>
            </a:r>
            <a:r>
              <a:rPr lang="es-ES" sz="1200" dirty="0" err="1">
                <a:latin typeface="Montserrat" panose="00000500000000000000" pitchFamily="2" charset="0"/>
              </a:rPr>
              <a:t>Databricks</a:t>
            </a:r>
            <a:r>
              <a:rPr lang="es-ES" sz="12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4" name="Google Shape;274;g35ee5cc475b_0_15">
            <a:extLst>
              <a:ext uri="{FF2B5EF4-FFF2-40B4-BE49-F238E27FC236}">
                <a16:creationId xmlns:a16="http://schemas.microsoft.com/office/drawing/2014/main" id="{8871BBDA-3058-087F-E38A-D8E3B93171E6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10612476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Introducción a UC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Unity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Catalog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desde la perspectiva de Gobernanza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3C80243-6858-6DA5-8962-3ED9C71074C0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 descr="Texto&#10;&#10;El contenido generado por IA puede ser incorrecto.">
            <a:extLst>
              <a:ext uri="{FF2B5EF4-FFF2-40B4-BE49-F238E27FC236}">
                <a16:creationId xmlns:a16="http://schemas.microsoft.com/office/drawing/2014/main" id="{3C0CB601-88FB-0594-2957-0B09C40EB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100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upo 40">
            <a:extLst>
              <a:ext uri="{FF2B5EF4-FFF2-40B4-BE49-F238E27FC236}">
                <a16:creationId xmlns:a16="http://schemas.microsoft.com/office/drawing/2014/main" id="{298DF9B6-9EB1-FE6F-5E3F-B3DE1A24627A}"/>
              </a:ext>
            </a:extLst>
          </p:cNvPr>
          <p:cNvGrpSpPr/>
          <p:nvPr/>
        </p:nvGrpSpPr>
        <p:grpSpPr>
          <a:xfrm>
            <a:off x="1973084" y="1556793"/>
            <a:ext cx="8245832" cy="2995259"/>
            <a:chOff x="241328" y="1905671"/>
            <a:chExt cx="8544056" cy="3222444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055D5D2-79A5-BCDF-2122-F8700A9CF140}"/>
                </a:ext>
              </a:extLst>
            </p:cNvPr>
            <p:cNvSpPr/>
            <p:nvPr/>
          </p:nvSpPr>
          <p:spPr>
            <a:xfrm>
              <a:off x="539552" y="3078520"/>
              <a:ext cx="7949545" cy="79208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b="1" dirty="0"/>
                <a:t>Unity </a:t>
              </a:r>
              <a:r>
                <a:rPr lang="es-ES" sz="1400" b="1" dirty="0" err="1"/>
                <a:t>Catalog</a:t>
              </a:r>
              <a:endParaRPr lang="es-ES" sz="1400" b="1" dirty="0"/>
            </a:p>
            <a:p>
              <a:pPr algn="ctr"/>
              <a:r>
                <a:rPr lang="es-ES" sz="1400" dirty="0"/>
                <a:t>Un modelo de Gobernanza para datos estructurados y no estructurados + IA</a:t>
              </a: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85130D38-DEFA-7DB9-9A1B-E20C55A27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71024" y="4118142"/>
              <a:ext cx="3414360" cy="1009973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36726BB7-D2C5-688D-6823-4755EF87D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5964" y="4143915"/>
              <a:ext cx="1427445" cy="958427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E0D91B00-8C06-0A51-D29A-CA3FFF801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2093" y="4165215"/>
              <a:ext cx="2727336" cy="958427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AA4DC719-41DA-67B7-66B6-EE0AA3E0A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1328" y="1905671"/>
              <a:ext cx="3840970" cy="958427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5906C86C-1A2C-27DE-C7F6-0EF15F621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14588" y="1924791"/>
              <a:ext cx="2660708" cy="958427"/>
            </a:xfrm>
            <a:prstGeom prst="rect">
              <a:avLst/>
            </a:prstGeom>
          </p:spPr>
        </p:pic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89D8D5C6-5AE7-4E8A-08B7-6B3DF131D0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2673" y="2780928"/>
              <a:ext cx="1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3B06C496-57FF-7074-6DDB-7110402AFB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3768" y="2780928"/>
              <a:ext cx="0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A5107DE7-24B2-D239-5540-3FF9654E50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0232" y="2799860"/>
              <a:ext cx="1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D64C794D-FB7B-78AE-774A-267A5BAC61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1327" y="2799860"/>
              <a:ext cx="0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9EEF8744-CF49-3954-1B8C-9EB164656E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609" y="3916264"/>
              <a:ext cx="1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6F1B3464-7ED6-AFB9-01B1-6226BADA7F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7704" y="3916264"/>
              <a:ext cx="0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a16:creationId xmlns:a16="http://schemas.microsoft.com/office/drawing/2014/main" id="{B317FD51-558E-68DE-4CF8-185E9F3055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8897" y="3899332"/>
              <a:ext cx="1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de flecha 37">
              <a:extLst>
                <a:ext uri="{FF2B5EF4-FFF2-40B4-BE49-F238E27FC236}">
                  <a16:creationId xmlns:a16="http://schemas.microsoft.com/office/drawing/2014/main" id="{DA2A08A0-29AD-C5B9-ACA8-E9F9772CB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9992" y="3899332"/>
              <a:ext cx="0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DDBBBCEF-4676-D1BA-4B33-64BCA569DC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7331" y="3916264"/>
              <a:ext cx="1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de flecha 39">
              <a:extLst>
                <a:ext uri="{FF2B5EF4-FFF2-40B4-BE49-F238E27FC236}">
                  <a16:creationId xmlns:a16="http://schemas.microsoft.com/office/drawing/2014/main" id="{7E923A42-A0C7-ED44-89BF-9409DC1DA7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8426" y="3916264"/>
              <a:ext cx="0" cy="24386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F21E845-8E91-22B2-0264-94A405A5CCEF}"/>
              </a:ext>
            </a:extLst>
          </p:cNvPr>
          <p:cNvSpPr txBox="1"/>
          <p:nvPr/>
        </p:nvSpPr>
        <p:spPr>
          <a:xfrm>
            <a:off x="2260900" y="5169983"/>
            <a:ext cx="8083573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latin typeface="Montserrat" panose="00000500000000000000" pitchFamily="2" charset="0"/>
              </a:rPr>
              <a:t>Una de las </a:t>
            </a:r>
            <a:r>
              <a:rPr lang="es-ES" sz="1000" dirty="0" err="1">
                <a:latin typeface="Montserrat" panose="00000500000000000000" pitchFamily="2" charset="0"/>
              </a:rPr>
              <a:t>caracteristicas</a:t>
            </a:r>
            <a:r>
              <a:rPr lang="es-ES" sz="1000" dirty="0">
                <a:latin typeface="Montserrat" panose="00000500000000000000" pitchFamily="2" charset="0"/>
              </a:rPr>
              <a:t> o capacidades mas importantes de UC en </a:t>
            </a:r>
            <a:r>
              <a:rPr lang="es-ES" sz="1000" dirty="0" err="1">
                <a:latin typeface="Montserrat" panose="00000500000000000000" pitchFamily="2" charset="0"/>
              </a:rPr>
              <a:t>Databricks</a:t>
            </a:r>
            <a:r>
              <a:rPr lang="es-ES" sz="1000" dirty="0">
                <a:latin typeface="Montserrat" panose="00000500000000000000" pitchFamily="2" charset="0"/>
              </a:rPr>
              <a:t> es la posibilidad de </a:t>
            </a:r>
            <a:r>
              <a:rPr lang="es-ES" sz="1000" b="1" dirty="0">
                <a:latin typeface="Montserrat" panose="00000500000000000000" pitchFamily="2" charset="0"/>
              </a:rPr>
              <a:t>unificar datos </a:t>
            </a:r>
            <a:r>
              <a:rPr lang="es-ES" sz="1000" dirty="0">
                <a:latin typeface="Montserrat" panose="00000500000000000000" pitchFamily="2" charset="0"/>
              </a:rPr>
              <a:t>provenientes de diferentes entornos o fuentes. </a:t>
            </a:r>
          </a:p>
        </p:txBody>
      </p: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D0C33FB2-A7DF-A751-9A58-865A5B3845AB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Introducción a UC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Unity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Catalog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Claves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57C486F-76AE-2B61-7D2D-EAB4EB30C362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44B3E056-1111-872E-3835-10F8F84F2F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48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DC207-B2F5-4757-F34B-26504C75B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E965E18E-19E7-F3F4-E29A-2A544AD52D84}"/>
              </a:ext>
            </a:extLst>
          </p:cNvPr>
          <p:cNvGrpSpPr/>
          <p:nvPr/>
        </p:nvGrpSpPr>
        <p:grpSpPr>
          <a:xfrm>
            <a:off x="6168008" y="1772817"/>
            <a:ext cx="3960440" cy="3241721"/>
            <a:chOff x="395001" y="2473527"/>
            <a:chExt cx="3816959" cy="2224149"/>
          </a:xfrm>
        </p:grpSpPr>
        <p:sp>
          <p:nvSpPr>
            <p:cNvPr id="5" name="Google Shape;2204;p106">
              <a:extLst>
                <a:ext uri="{FF2B5EF4-FFF2-40B4-BE49-F238E27FC236}">
                  <a16:creationId xmlns:a16="http://schemas.microsoft.com/office/drawing/2014/main" id="{55D0B4F0-EA46-F99F-06F4-E2AC20B44B2C}"/>
                </a:ext>
              </a:extLst>
            </p:cNvPr>
            <p:cNvSpPr/>
            <p:nvPr/>
          </p:nvSpPr>
          <p:spPr>
            <a:xfrm>
              <a:off x="1909074" y="2473527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0B3E1362-6815-9AFB-C3DE-EEE38C37CB60}"/>
                </a:ext>
              </a:extLst>
            </p:cNvPr>
            <p:cNvSpPr txBox="1"/>
            <p:nvPr/>
          </p:nvSpPr>
          <p:spPr>
            <a:xfrm>
              <a:off x="1889154" y="2539961"/>
              <a:ext cx="864096" cy="147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METASTORE</a:t>
              </a:r>
            </a:p>
          </p:txBody>
        </p:sp>
        <p:sp>
          <p:nvSpPr>
            <p:cNvPr id="7" name="Google Shape;2204;p106">
              <a:extLst>
                <a:ext uri="{FF2B5EF4-FFF2-40B4-BE49-F238E27FC236}">
                  <a16:creationId xmlns:a16="http://schemas.microsoft.com/office/drawing/2014/main" id="{5411CB6E-3DF9-8A3B-644D-A5364E7F0A4B}"/>
                </a:ext>
              </a:extLst>
            </p:cNvPr>
            <p:cNvSpPr/>
            <p:nvPr/>
          </p:nvSpPr>
          <p:spPr>
            <a:xfrm>
              <a:off x="1909074" y="3017535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D182A5E1-57C4-FA51-EE2F-76F2E3BD50E5}"/>
                </a:ext>
              </a:extLst>
            </p:cNvPr>
            <p:cNvSpPr txBox="1"/>
            <p:nvPr/>
          </p:nvSpPr>
          <p:spPr>
            <a:xfrm>
              <a:off x="1909074" y="3097903"/>
              <a:ext cx="792088" cy="147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CATALOG</a:t>
              </a:r>
            </a:p>
          </p:txBody>
        </p:sp>
        <p:sp>
          <p:nvSpPr>
            <p:cNvPr id="9" name="Google Shape;2204;p106">
              <a:extLst>
                <a:ext uri="{FF2B5EF4-FFF2-40B4-BE49-F238E27FC236}">
                  <a16:creationId xmlns:a16="http://schemas.microsoft.com/office/drawing/2014/main" id="{33820760-7E40-527F-01F7-5B0E6377E939}"/>
                </a:ext>
              </a:extLst>
            </p:cNvPr>
            <p:cNvSpPr/>
            <p:nvPr/>
          </p:nvSpPr>
          <p:spPr>
            <a:xfrm>
              <a:off x="1907169" y="3604604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69FB0A2F-D5EB-0B1E-ED34-C0FEC365E6DA}"/>
                </a:ext>
              </a:extLst>
            </p:cNvPr>
            <p:cNvSpPr txBox="1"/>
            <p:nvPr/>
          </p:nvSpPr>
          <p:spPr>
            <a:xfrm>
              <a:off x="1907169" y="3684972"/>
              <a:ext cx="792088" cy="147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SCHEMA</a:t>
              </a:r>
            </a:p>
          </p:txBody>
        </p:sp>
        <p:sp>
          <p:nvSpPr>
            <p:cNvPr id="11" name="Google Shape;2204;p106">
              <a:extLst>
                <a:ext uri="{FF2B5EF4-FFF2-40B4-BE49-F238E27FC236}">
                  <a16:creationId xmlns:a16="http://schemas.microsoft.com/office/drawing/2014/main" id="{4B7AE8BD-16E5-8ADB-71FE-EC8A92813567}"/>
                </a:ext>
              </a:extLst>
            </p:cNvPr>
            <p:cNvSpPr/>
            <p:nvPr/>
          </p:nvSpPr>
          <p:spPr>
            <a:xfrm>
              <a:off x="395001" y="4349364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61E77B5F-AC15-2612-E680-851D8B7D5307}"/>
                </a:ext>
              </a:extLst>
            </p:cNvPr>
            <p:cNvSpPr txBox="1"/>
            <p:nvPr/>
          </p:nvSpPr>
          <p:spPr>
            <a:xfrm>
              <a:off x="395001" y="4429732"/>
              <a:ext cx="792088" cy="147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TABLE</a:t>
              </a:r>
            </a:p>
          </p:txBody>
        </p:sp>
        <p:sp>
          <p:nvSpPr>
            <p:cNvPr id="17" name="Google Shape;2204;p106">
              <a:extLst>
                <a:ext uri="{FF2B5EF4-FFF2-40B4-BE49-F238E27FC236}">
                  <a16:creationId xmlns:a16="http://schemas.microsoft.com/office/drawing/2014/main" id="{4121D988-F05F-DEC8-BD59-26352DA06661}"/>
                </a:ext>
              </a:extLst>
            </p:cNvPr>
            <p:cNvSpPr/>
            <p:nvPr/>
          </p:nvSpPr>
          <p:spPr>
            <a:xfrm>
              <a:off x="1403113" y="4349364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9337867A-EE55-0D71-A3AB-E0D80C3DBBBE}"/>
                </a:ext>
              </a:extLst>
            </p:cNvPr>
            <p:cNvSpPr txBox="1"/>
            <p:nvPr/>
          </p:nvSpPr>
          <p:spPr>
            <a:xfrm>
              <a:off x="1403113" y="4429732"/>
              <a:ext cx="792088" cy="147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VIEW</a:t>
              </a:r>
            </a:p>
          </p:txBody>
        </p:sp>
        <p:sp>
          <p:nvSpPr>
            <p:cNvPr id="19" name="Google Shape;2204;p106">
              <a:extLst>
                <a:ext uri="{FF2B5EF4-FFF2-40B4-BE49-F238E27FC236}">
                  <a16:creationId xmlns:a16="http://schemas.microsoft.com/office/drawing/2014/main" id="{4E87FAE6-E6EB-7C14-6367-EC2F08D5CEB6}"/>
                </a:ext>
              </a:extLst>
            </p:cNvPr>
            <p:cNvSpPr/>
            <p:nvPr/>
          </p:nvSpPr>
          <p:spPr>
            <a:xfrm>
              <a:off x="2411760" y="4335738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D10C964-35C3-67E8-3E68-5B283A52438B}"/>
                </a:ext>
              </a:extLst>
            </p:cNvPr>
            <p:cNvSpPr txBox="1"/>
            <p:nvPr/>
          </p:nvSpPr>
          <p:spPr>
            <a:xfrm>
              <a:off x="2411760" y="4416106"/>
              <a:ext cx="792088" cy="147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VOLUME</a:t>
              </a:r>
            </a:p>
          </p:txBody>
        </p:sp>
        <p:sp>
          <p:nvSpPr>
            <p:cNvPr id="21" name="Google Shape;2204;p106">
              <a:extLst>
                <a:ext uri="{FF2B5EF4-FFF2-40B4-BE49-F238E27FC236}">
                  <a16:creationId xmlns:a16="http://schemas.microsoft.com/office/drawing/2014/main" id="{3FD96C8C-D324-C70F-6CAF-661311CB7A44}"/>
                </a:ext>
              </a:extLst>
            </p:cNvPr>
            <p:cNvSpPr/>
            <p:nvPr/>
          </p:nvSpPr>
          <p:spPr>
            <a:xfrm>
              <a:off x="3419872" y="4335738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algn="ctr"/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2945474-89D3-60DD-1322-2BBCD2006BCB}"/>
                </a:ext>
              </a:extLst>
            </p:cNvPr>
            <p:cNvSpPr txBox="1"/>
            <p:nvPr/>
          </p:nvSpPr>
          <p:spPr>
            <a:xfrm>
              <a:off x="3419872" y="4416106"/>
              <a:ext cx="792088" cy="1478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FUNCTION</a:t>
              </a:r>
            </a:p>
          </p:txBody>
        </p: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B236CB42-297E-E5FC-D9F0-D604E91AB2B1}"/>
                </a:ext>
              </a:extLst>
            </p:cNvPr>
            <p:cNvCxnSpPr>
              <a:stCxn id="5" idx="2"/>
              <a:endCxn id="7" idx="0"/>
            </p:cNvCxnSpPr>
            <p:nvPr/>
          </p:nvCxnSpPr>
          <p:spPr>
            <a:xfrm>
              <a:off x="2305118" y="2821839"/>
              <a:ext cx="0" cy="1956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AB80FBB4-7DFB-E7CE-BE92-8EFC0C37390D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flipH="1">
              <a:off x="2303213" y="3365847"/>
              <a:ext cx="1905" cy="2387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: angular 31">
              <a:extLst>
                <a:ext uri="{FF2B5EF4-FFF2-40B4-BE49-F238E27FC236}">
                  <a16:creationId xmlns:a16="http://schemas.microsoft.com/office/drawing/2014/main" id="{637E8983-DD7E-5783-40CC-299B42F5E7FE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 rot="5400000">
              <a:off x="1348905" y="3395056"/>
              <a:ext cx="396448" cy="151216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: angular 32">
              <a:extLst>
                <a:ext uri="{FF2B5EF4-FFF2-40B4-BE49-F238E27FC236}">
                  <a16:creationId xmlns:a16="http://schemas.microsoft.com/office/drawing/2014/main" id="{E4D19E2D-C67B-067B-0A95-B07B380A9864}"/>
                </a:ext>
              </a:extLst>
            </p:cNvPr>
            <p:cNvCxnSpPr>
              <a:cxnSpLocks/>
              <a:stCxn id="9" idx="2"/>
              <a:endCxn id="17" idx="0"/>
            </p:cNvCxnSpPr>
            <p:nvPr/>
          </p:nvCxnSpPr>
          <p:spPr>
            <a:xfrm rot="5400000">
              <a:off x="1852961" y="3899112"/>
              <a:ext cx="396448" cy="50405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: angular 35">
              <a:extLst>
                <a:ext uri="{FF2B5EF4-FFF2-40B4-BE49-F238E27FC236}">
                  <a16:creationId xmlns:a16="http://schemas.microsoft.com/office/drawing/2014/main" id="{13DEE937-FD62-921F-D197-D2F0B56FED9A}"/>
                </a:ext>
              </a:extLst>
            </p:cNvPr>
            <p:cNvCxnSpPr>
              <a:cxnSpLocks/>
              <a:stCxn id="9" idx="2"/>
              <a:endCxn id="19" idx="0"/>
            </p:cNvCxnSpPr>
            <p:nvPr/>
          </p:nvCxnSpPr>
          <p:spPr>
            <a:xfrm rot="16200000" flipH="1">
              <a:off x="2364097" y="3892031"/>
              <a:ext cx="382822" cy="50459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: angular 38">
              <a:extLst>
                <a:ext uri="{FF2B5EF4-FFF2-40B4-BE49-F238E27FC236}">
                  <a16:creationId xmlns:a16="http://schemas.microsoft.com/office/drawing/2014/main" id="{B300E3EE-4B4F-C265-09F8-FAC884CB5EFB}"/>
                </a:ext>
              </a:extLst>
            </p:cNvPr>
            <p:cNvCxnSpPr>
              <a:cxnSpLocks/>
              <a:stCxn id="9" idx="2"/>
              <a:endCxn id="21" idx="0"/>
            </p:cNvCxnSpPr>
            <p:nvPr/>
          </p:nvCxnSpPr>
          <p:spPr>
            <a:xfrm rot="16200000" flipH="1">
              <a:off x="2868153" y="3387975"/>
              <a:ext cx="382822" cy="1512703"/>
            </a:xfrm>
            <a:prstGeom prst="bentConnector3">
              <a:avLst>
                <a:gd name="adj1" fmla="val 50001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Google Shape;2204;p106">
            <a:extLst>
              <a:ext uri="{FF2B5EF4-FFF2-40B4-BE49-F238E27FC236}">
                <a16:creationId xmlns:a16="http://schemas.microsoft.com/office/drawing/2014/main" id="{610DEF20-929A-09E9-8E31-1B77FA2D48F7}"/>
              </a:ext>
            </a:extLst>
          </p:cNvPr>
          <p:cNvSpPr/>
          <p:nvPr/>
        </p:nvSpPr>
        <p:spPr>
          <a:xfrm>
            <a:off x="2152650" y="1412777"/>
            <a:ext cx="3583310" cy="9203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38100" rIns="1097275" bIns="38100" anchor="ctr" anchorCtr="0">
            <a:noAutofit/>
          </a:bodyPr>
          <a:lstStyle/>
          <a:p>
            <a:pPr algn="ctr"/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BE31528-EF3D-AC11-FB7F-26B0FF991974}"/>
              </a:ext>
            </a:extLst>
          </p:cNvPr>
          <p:cNvSpPr txBox="1"/>
          <p:nvPr/>
        </p:nvSpPr>
        <p:spPr>
          <a:xfrm>
            <a:off x="2152651" y="1524746"/>
            <a:ext cx="3511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>
                <a:latin typeface="Montserrat" panose="00000500000000000000" pitchFamily="2" charset="0"/>
              </a:rPr>
              <a:t>Nivel 1 — Catálogo </a:t>
            </a:r>
            <a:r>
              <a:rPr lang="es-ES" sz="900" dirty="0">
                <a:latin typeface="Montserrat" panose="00000500000000000000" pitchFamily="2" charset="0"/>
              </a:rPr>
              <a:t>(máximo nivel de organización y gobernanza)Agrupa y aísla los recursos de datos a nivel corporativo. Normalmente refleja unidades organizativas, entornos (</a:t>
            </a:r>
            <a:r>
              <a:rPr lang="es-ES" sz="900" dirty="0" err="1">
                <a:latin typeface="Montserrat" panose="00000500000000000000" pitchFamily="2" charset="0"/>
              </a:rPr>
              <a:t>dev</a:t>
            </a:r>
            <a:r>
              <a:rPr lang="es-ES" sz="900" dirty="0">
                <a:latin typeface="Montserrat" panose="00000500000000000000" pitchFamily="2" charset="0"/>
              </a:rPr>
              <a:t>/test/</a:t>
            </a:r>
            <a:r>
              <a:rPr lang="es-ES" sz="900" dirty="0" err="1">
                <a:latin typeface="Montserrat" panose="00000500000000000000" pitchFamily="2" charset="0"/>
              </a:rPr>
              <a:t>prod</a:t>
            </a:r>
            <a:r>
              <a:rPr lang="es-ES" sz="900" dirty="0">
                <a:latin typeface="Montserrat" panose="00000500000000000000" pitchFamily="2" charset="0"/>
              </a:rPr>
              <a:t>) o dominios globales.</a:t>
            </a:r>
          </a:p>
        </p:txBody>
      </p:sp>
      <p:sp>
        <p:nvSpPr>
          <p:cNvPr id="14" name="Google Shape;2204;p106">
            <a:extLst>
              <a:ext uri="{FF2B5EF4-FFF2-40B4-BE49-F238E27FC236}">
                <a16:creationId xmlns:a16="http://schemas.microsoft.com/office/drawing/2014/main" id="{66CCCBA8-1EEF-7300-5D8B-3FD585DC3AE5}"/>
              </a:ext>
            </a:extLst>
          </p:cNvPr>
          <p:cNvSpPr/>
          <p:nvPr/>
        </p:nvSpPr>
        <p:spPr>
          <a:xfrm>
            <a:off x="2166274" y="2679727"/>
            <a:ext cx="3583310" cy="9203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38100" rIns="1097275" bIns="38100" anchor="ctr" anchorCtr="0">
            <a:noAutofit/>
          </a:bodyPr>
          <a:lstStyle/>
          <a:p>
            <a:pPr algn="ctr"/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2EF5BE7-B6B9-F854-BAC2-429EDF794E67}"/>
              </a:ext>
            </a:extLst>
          </p:cNvPr>
          <p:cNvSpPr txBox="1"/>
          <p:nvPr/>
        </p:nvSpPr>
        <p:spPr>
          <a:xfrm>
            <a:off x="2166275" y="2791696"/>
            <a:ext cx="3511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>
                <a:latin typeface="Montserrat" panose="00000500000000000000" pitchFamily="2" charset="0"/>
              </a:rPr>
              <a:t>Nivel 2 — Esquema </a:t>
            </a:r>
            <a:r>
              <a:rPr lang="es-ES" sz="900" dirty="0">
                <a:latin typeface="Montserrat" panose="00000500000000000000" pitchFamily="2" charset="0"/>
              </a:rPr>
              <a:t>(espacio lógico de trabajo por proyecto o equipo) Subdivisión dentro del catálogo para organizar datos por caso de uso, área funcional o equipo de trabajo, aislando su contexto operativo.</a:t>
            </a:r>
          </a:p>
        </p:txBody>
      </p:sp>
      <p:sp>
        <p:nvSpPr>
          <p:cNvPr id="16" name="Google Shape;2204;p106">
            <a:extLst>
              <a:ext uri="{FF2B5EF4-FFF2-40B4-BE49-F238E27FC236}">
                <a16:creationId xmlns:a16="http://schemas.microsoft.com/office/drawing/2014/main" id="{AAB96288-4817-7CD6-7EE5-10C0529EE7CE}"/>
              </a:ext>
            </a:extLst>
          </p:cNvPr>
          <p:cNvSpPr/>
          <p:nvPr/>
        </p:nvSpPr>
        <p:spPr>
          <a:xfrm>
            <a:off x="2161369" y="3946677"/>
            <a:ext cx="3583310" cy="15340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38100" rIns="1097275" bIns="38100" anchor="ctr" anchorCtr="0">
            <a:noAutofit/>
          </a:bodyPr>
          <a:lstStyle/>
          <a:p>
            <a:endParaRPr lang="es-ES" sz="800" dirty="0">
              <a:latin typeface="Montserrat" panose="00000500000000000000" pitchFamily="2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998197C-4B42-8E66-1F4D-04077B82EC00}"/>
              </a:ext>
            </a:extLst>
          </p:cNvPr>
          <p:cNvSpPr txBox="1"/>
          <p:nvPr/>
        </p:nvSpPr>
        <p:spPr>
          <a:xfrm>
            <a:off x="2232751" y="4064925"/>
            <a:ext cx="351130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>
                <a:latin typeface="Montserrat" panose="00000500000000000000" pitchFamily="2" charset="0"/>
              </a:rPr>
              <a:t>Nivel 3 — Objetos </a:t>
            </a:r>
            <a:r>
              <a:rPr lang="es-ES" sz="900" dirty="0">
                <a:latin typeface="Montserrat" panose="00000500000000000000" pitchFamily="2" charset="0"/>
              </a:rPr>
              <a:t>(donde realmente residen o se consumen los datos)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Elementos concretos dentro del esquema: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Tablas → datos estructurados gestionados por UC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Vistas → consultas reutilizables y gobernadas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Volúmenes → archivos crudos o semiestructurados en </a:t>
            </a:r>
            <a:r>
              <a:rPr lang="es-ES" sz="900" dirty="0" err="1">
                <a:latin typeface="Montserrat" panose="00000500000000000000" pitchFamily="2" charset="0"/>
              </a:rPr>
              <a:t>cloud</a:t>
            </a:r>
            <a:r>
              <a:rPr lang="es-ES" sz="900" dirty="0">
                <a:latin typeface="Montserrat" panose="00000500000000000000" pitchFamily="2" charset="0"/>
              </a:rPr>
              <a:t> </a:t>
            </a:r>
            <a:r>
              <a:rPr lang="es-ES" sz="900" dirty="0" err="1">
                <a:latin typeface="Montserrat" panose="00000500000000000000" pitchFamily="2" charset="0"/>
              </a:rPr>
              <a:t>storage</a:t>
            </a:r>
            <a:endParaRPr lang="es-ES" sz="900" dirty="0">
              <a:latin typeface="Montserrat" panose="00000500000000000000" pitchFamily="2" charset="0"/>
            </a:endParaRPr>
          </a:p>
          <a:p>
            <a:r>
              <a:rPr lang="es-ES" sz="900" dirty="0">
                <a:latin typeface="Montserrat" panose="00000500000000000000" pitchFamily="2" charset="0"/>
              </a:rPr>
              <a:t>Funciones → lógica reutilizable para transformar o proteger datos</a:t>
            </a:r>
          </a:p>
        </p:txBody>
      </p:sp>
      <p:sp>
        <p:nvSpPr>
          <p:cNvPr id="4" name="Google Shape;274;g35ee5cc475b_0_15">
            <a:extLst>
              <a:ext uri="{FF2B5EF4-FFF2-40B4-BE49-F238E27FC236}">
                <a16:creationId xmlns:a16="http://schemas.microsoft.com/office/drawing/2014/main" id="{BEED3B4C-1E7F-1A6D-A109-30B936B6D785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Introducción a UC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Repaso Objetos en UC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8811157-D6CE-FE67-66AB-EDA15DD35226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9" name="Imagen 28" descr="Texto&#10;&#10;El contenido generado por IA puede ser incorrecto.">
            <a:extLst>
              <a:ext uri="{FF2B5EF4-FFF2-40B4-BE49-F238E27FC236}">
                <a16:creationId xmlns:a16="http://schemas.microsoft.com/office/drawing/2014/main" id="{F7249BF3-7B66-A3CC-72C3-9D755A037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00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5ECF3-BB85-ABD3-7D2C-B7C1ADD8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o 87">
            <a:extLst>
              <a:ext uri="{FF2B5EF4-FFF2-40B4-BE49-F238E27FC236}">
                <a16:creationId xmlns:a16="http://schemas.microsoft.com/office/drawing/2014/main" id="{253E5A63-410F-AAF0-DE5B-19D0ADDD21A1}"/>
              </a:ext>
            </a:extLst>
          </p:cNvPr>
          <p:cNvGrpSpPr/>
          <p:nvPr/>
        </p:nvGrpSpPr>
        <p:grpSpPr>
          <a:xfrm>
            <a:off x="3359696" y="1772817"/>
            <a:ext cx="6336704" cy="3830727"/>
            <a:chOff x="899592" y="1830521"/>
            <a:chExt cx="6336704" cy="3830727"/>
          </a:xfrm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834C366A-96FC-DF21-01BE-2406A8B9ED09}"/>
                </a:ext>
              </a:extLst>
            </p:cNvPr>
            <p:cNvSpPr/>
            <p:nvPr/>
          </p:nvSpPr>
          <p:spPr>
            <a:xfrm>
              <a:off x="899592" y="2417551"/>
              <a:ext cx="6336704" cy="324369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FD62C77D-0FB6-FD89-D41F-766A8016EEF5}"/>
                </a:ext>
              </a:extLst>
            </p:cNvPr>
            <p:cNvGrpSpPr/>
            <p:nvPr/>
          </p:nvGrpSpPr>
          <p:grpSpPr>
            <a:xfrm>
              <a:off x="2915816" y="2669588"/>
              <a:ext cx="896578" cy="360040"/>
              <a:chOff x="2953967" y="1988840"/>
              <a:chExt cx="896578" cy="507668"/>
            </a:xfrm>
          </p:grpSpPr>
          <p:sp>
            <p:nvSpPr>
              <p:cNvPr id="5" name="Google Shape;2204;p106">
                <a:extLst>
                  <a:ext uri="{FF2B5EF4-FFF2-40B4-BE49-F238E27FC236}">
                    <a16:creationId xmlns:a16="http://schemas.microsoft.com/office/drawing/2014/main" id="{F82120AF-EE5C-8AFA-C4E2-6FAEB746E59F}"/>
                  </a:ext>
                </a:extLst>
              </p:cNvPr>
              <p:cNvSpPr/>
              <p:nvPr/>
            </p:nvSpPr>
            <p:spPr>
              <a:xfrm>
                <a:off x="2974636" y="1988840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algn="ctr"/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C38F02C-749C-6C2F-A5C1-C80B8C3E6C05}"/>
                  </a:ext>
                </a:extLst>
              </p:cNvPr>
              <p:cNvSpPr txBox="1"/>
              <p:nvPr/>
            </p:nvSpPr>
            <p:spPr>
              <a:xfrm>
                <a:off x="2953967" y="2085668"/>
                <a:ext cx="896578" cy="303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Metastore</a:t>
                </a:r>
                <a:endPara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174CB108-30A0-CA43-B642-5DCFE911ABD2}"/>
                </a:ext>
              </a:extLst>
            </p:cNvPr>
            <p:cNvGrpSpPr/>
            <p:nvPr/>
          </p:nvGrpSpPr>
          <p:grpSpPr>
            <a:xfrm>
              <a:off x="1475655" y="3352482"/>
              <a:ext cx="821864" cy="360040"/>
              <a:chOff x="1903619" y="3362586"/>
              <a:chExt cx="821864" cy="507668"/>
            </a:xfrm>
          </p:grpSpPr>
          <p:sp>
            <p:nvSpPr>
              <p:cNvPr id="7" name="Google Shape;2204;p106">
                <a:extLst>
                  <a:ext uri="{FF2B5EF4-FFF2-40B4-BE49-F238E27FC236}">
                    <a16:creationId xmlns:a16="http://schemas.microsoft.com/office/drawing/2014/main" id="{F01B8B74-F35E-C70F-06DD-1E9D25125CDA}"/>
                  </a:ext>
                </a:extLst>
              </p:cNvPr>
              <p:cNvSpPr/>
              <p:nvPr/>
            </p:nvSpPr>
            <p:spPr>
              <a:xfrm>
                <a:off x="1903620" y="3362586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algn="ctr"/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D3A22BA-DAAB-8E5F-44B7-67188A167A13}"/>
                  </a:ext>
                </a:extLst>
              </p:cNvPr>
              <p:cNvSpPr txBox="1"/>
              <p:nvPr/>
            </p:nvSpPr>
            <p:spPr>
              <a:xfrm>
                <a:off x="1903619" y="3451989"/>
                <a:ext cx="821863" cy="303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Catalog1</a:t>
                </a:r>
              </a:p>
            </p:txBody>
          </p:sp>
        </p:grpSp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ED166383-94B5-0620-77E6-4E0DA12DE9E9}"/>
                </a:ext>
              </a:extLst>
            </p:cNvPr>
            <p:cNvGrpSpPr/>
            <p:nvPr/>
          </p:nvGrpSpPr>
          <p:grpSpPr>
            <a:xfrm>
              <a:off x="2297518" y="4105338"/>
              <a:ext cx="821863" cy="360040"/>
              <a:chOff x="3402256" y="4040930"/>
              <a:chExt cx="821863" cy="507668"/>
            </a:xfrm>
          </p:grpSpPr>
          <p:sp>
            <p:nvSpPr>
              <p:cNvPr id="9" name="Google Shape;2204;p106">
                <a:extLst>
                  <a:ext uri="{FF2B5EF4-FFF2-40B4-BE49-F238E27FC236}">
                    <a16:creationId xmlns:a16="http://schemas.microsoft.com/office/drawing/2014/main" id="{8AB2180A-4012-3C9F-5294-0D0EA964358A}"/>
                  </a:ext>
                </a:extLst>
              </p:cNvPr>
              <p:cNvSpPr/>
              <p:nvPr/>
            </p:nvSpPr>
            <p:spPr>
              <a:xfrm>
                <a:off x="3402256" y="4040930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algn="ctr"/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53DA60F-464A-4AC0-A776-27E2FFDFAFDD}"/>
                  </a:ext>
                </a:extLst>
              </p:cNvPr>
              <p:cNvSpPr txBox="1"/>
              <p:nvPr/>
            </p:nvSpPr>
            <p:spPr>
              <a:xfrm>
                <a:off x="3402256" y="4158067"/>
                <a:ext cx="821863" cy="303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Schema1</a:t>
                </a:r>
              </a:p>
            </p:txBody>
          </p:sp>
        </p:grpSp>
        <p:cxnSp>
          <p:nvCxnSpPr>
            <p:cNvPr id="28" name="Conector recto de flecha 27">
              <a:extLst>
                <a:ext uri="{FF2B5EF4-FFF2-40B4-BE49-F238E27FC236}">
                  <a16:creationId xmlns:a16="http://schemas.microsoft.com/office/drawing/2014/main" id="{61E0EA9A-7EE7-F173-CA21-054CE2423076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 rot="5400000">
              <a:off x="2455576" y="2460641"/>
              <a:ext cx="322854" cy="146082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E392CA7B-4E19-1275-C326-AB268B1C893B}"/>
                </a:ext>
              </a:extLst>
            </p:cNvPr>
            <p:cNvCxnSpPr>
              <a:cxnSpLocks/>
              <a:stCxn id="7" idx="2"/>
              <a:endCxn id="10" idx="1"/>
            </p:cNvCxnSpPr>
            <p:nvPr/>
          </p:nvCxnSpPr>
          <p:spPr>
            <a:xfrm rot="16200000" flipH="1">
              <a:off x="1800247" y="3798863"/>
              <a:ext cx="583612" cy="410930"/>
            </a:xfrm>
            <a:prstGeom prst="bentConnector2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41EC6628-DDDA-CFBF-9080-DE6839004597}"/>
                </a:ext>
              </a:extLst>
            </p:cNvPr>
            <p:cNvGrpSpPr/>
            <p:nvPr/>
          </p:nvGrpSpPr>
          <p:grpSpPr>
            <a:xfrm>
              <a:off x="2297518" y="4858194"/>
              <a:ext cx="821863" cy="360040"/>
              <a:chOff x="3402256" y="4040930"/>
              <a:chExt cx="821863" cy="507668"/>
            </a:xfrm>
          </p:grpSpPr>
          <p:sp>
            <p:nvSpPr>
              <p:cNvPr id="44" name="Google Shape;2204;p106">
                <a:extLst>
                  <a:ext uri="{FF2B5EF4-FFF2-40B4-BE49-F238E27FC236}">
                    <a16:creationId xmlns:a16="http://schemas.microsoft.com/office/drawing/2014/main" id="{D97A3181-94EB-480A-45DA-16BEB3A657BA}"/>
                  </a:ext>
                </a:extLst>
              </p:cNvPr>
              <p:cNvSpPr/>
              <p:nvPr/>
            </p:nvSpPr>
            <p:spPr>
              <a:xfrm>
                <a:off x="3402256" y="4040930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algn="ctr"/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245813C1-3331-E8DA-D60D-3BCA99F79209}"/>
                  </a:ext>
                </a:extLst>
              </p:cNvPr>
              <p:cNvSpPr txBox="1"/>
              <p:nvPr/>
            </p:nvSpPr>
            <p:spPr>
              <a:xfrm>
                <a:off x="3402256" y="4158067"/>
                <a:ext cx="821863" cy="303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Schema2</a:t>
                </a:r>
              </a:p>
            </p:txBody>
          </p:sp>
        </p:grpSp>
        <p:cxnSp>
          <p:nvCxnSpPr>
            <p:cNvPr id="51" name="Conector recto de flecha 28">
              <a:extLst>
                <a:ext uri="{FF2B5EF4-FFF2-40B4-BE49-F238E27FC236}">
                  <a16:creationId xmlns:a16="http://schemas.microsoft.com/office/drawing/2014/main" id="{4B7ED5FF-B042-16EA-61FB-BB82428458C7}"/>
                </a:ext>
              </a:extLst>
            </p:cNvPr>
            <p:cNvCxnSpPr>
              <a:cxnSpLocks/>
              <a:stCxn id="7" idx="2"/>
              <a:endCxn id="46" idx="1"/>
            </p:cNvCxnSpPr>
            <p:nvPr/>
          </p:nvCxnSpPr>
          <p:spPr>
            <a:xfrm rot="16200000" flipH="1">
              <a:off x="1423819" y="4175291"/>
              <a:ext cx="1336468" cy="410930"/>
            </a:xfrm>
            <a:prstGeom prst="bentConnector2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39C7AF64-FC9C-1299-6973-514EEB206CCA}"/>
                </a:ext>
              </a:extLst>
            </p:cNvPr>
            <p:cNvGrpSpPr/>
            <p:nvPr/>
          </p:nvGrpSpPr>
          <p:grpSpPr>
            <a:xfrm>
              <a:off x="3995936" y="3352482"/>
              <a:ext cx="821864" cy="360040"/>
              <a:chOff x="1903619" y="3362586"/>
              <a:chExt cx="821864" cy="507668"/>
            </a:xfrm>
          </p:grpSpPr>
          <p:sp>
            <p:nvSpPr>
              <p:cNvPr id="55" name="Google Shape;2204;p106">
                <a:extLst>
                  <a:ext uri="{FF2B5EF4-FFF2-40B4-BE49-F238E27FC236}">
                    <a16:creationId xmlns:a16="http://schemas.microsoft.com/office/drawing/2014/main" id="{55ECE0D4-5659-9C3E-EB05-9BE754E2A4DB}"/>
                  </a:ext>
                </a:extLst>
              </p:cNvPr>
              <p:cNvSpPr/>
              <p:nvPr/>
            </p:nvSpPr>
            <p:spPr>
              <a:xfrm>
                <a:off x="1903620" y="3362586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algn="ctr"/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319C501D-6471-B097-8C43-47A19363682C}"/>
                  </a:ext>
                </a:extLst>
              </p:cNvPr>
              <p:cNvSpPr txBox="1"/>
              <p:nvPr/>
            </p:nvSpPr>
            <p:spPr>
              <a:xfrm>
                <a:off x="1903619" y="3451989"/>
                <a:ext cx="821863" cy="303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Catalog2</a:t>
                </a:r>
              </a:p>
            </p:txBody>
          </p:sp>
        </p:grpSp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CAA5BE8B-F6BF-AF28-E43E-43DF58BB18BB}"/>
                </a:ext>
              </a:extLst>
            </p:cNvPr>
            <p:cNvGrpSpPr/>
            <p:nvPr/>
          </p:nvGrpSpPr>
          <p:grpSpPr>
            <a:xfrm>
              <a:off x="4817799" y="4105338"/>
              <a:ext cx="834321" cy="360040"/>
              <a:chOff x="3402256" y="4040930"/>
              <a:chExt cx="834321" cy="507668"/>
            </a:xfrm>
          </p:grpSpPr>
          <p:sp>
            <p:nvSpPr>
              <p:cNvPr id="58" name="Google Shape;2204;p106">
                <a:extLst>
                  <a:ext uri="{FF2B5EF4-FFF2-40B4-BE49-F238E27FC236}">
                    <a16:creationId xmlns:a16="http://schemas.microsoft.com/office/drawing/2014/main" id="{AE10E7FC-E732-2BD9-6BC4-CF1A44FA8B07}"/>
                  </a:ext>
                </a:extLst>
              </p:cNvPr>
              <p:cNvSpPr/>
              <p:nvPr/>
            </p:nvSpPr>
            <p:spPr>
              <a:xfrm>
                <a:off x="3402256" y="4040930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algn="ctr"/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0C317623-6AF1-B510-248A-985344B7F960}"/>
                  </a:ext>
                </a:extLst>
              </p:cNvPr>
              <p:cNvSpPr txBox="1"/>
              <p:nvPr/>
            </p:nvSpPr>
            <p:spPr>
              <a:xfrm>
                <a:off x="3414714" y="4158067"/>
                <a:ext cx="821863" cy="303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Schema3</a:t>
                </a:r>
              </a:p>
            </p:txBody>
          </p:sp>
        </p:grpSp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B951725C-5896-6FCB-F0B1-A54637B0924A}"/>
                </a:ext>
              </a:extLst>
            </p:cNvPr>
            <p:cNvGrpSpPr/>
            <p:nvPr/>
          </p:nvGrpSpPr>
          <p:grpSpPr>
            <a:xfrm>
              <a:off x="4817799" y="4858194"/>
              <a:ext cx="821863" cy="360040"/>
              <a:chOff x="3402256" y="4040930"/>
              <a:chExt cx="821863" cy="507668"/>
            </a:xfrm>
          </p:grpSpPr>
          <p:sp>
            <p:nvSpPr>
              <p:cNvPr id="61" name="Google Shape;2204;p106">
                <a:extLst>
                  <a:ext uri="{FF2B5EF4-FFF2-40B4-BE49-F238E27FC236}">
                    <a16:creationId xmlns:a16="http://schemas.microsoft.com/office/drawing/2014/main" id="{B1F926F1-1060-A264-9553-DB9291165355}"/>
                  </a:ext>
                </a:extLst>
              </p:cNvPr>
              <p:cNvSpPr/>
              <p:nvPr/>
            </p:nvSpPr>
            <p:spPr>
              <a:xfrm>
                <a:off x="3402256" y="4040930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algn="ctr"/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29386564-C314-74CA-21D1-DCA7A14D4068}"/>
                  </a:ext>
                </a:extLst>
              </p:cNvPr>
              <p:cNvSpPr txBox="1"/>
              <p:nvPr/>
            </p:nvSpPr>
            <p:spPr>
              <a:xfrm>
                <a:off x="3402256" y="4158067"/>
                <a:ext cx="821863" cy="303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Schema4</a:t>
                </a:r>
              </a:p>
            </p:txBody>
          </p:sp>
        </p:grpSp>
        <p:cxnSp>
          <p:nvCxnSpPr>
            <p:cNvPr id="63" name="Conector recto de flecha 27">
              <a:extLst>
                <a:ext uri="{FF2B5EF4-FFF2-40B4-BE49-F238E27FC236}">
                  <a16:creationId xmlns:a16="http://schemas.microsoft.com/office/drawing/2014/main" id="{4E0452A6-9121-5750-F883-98436C6DE686}"/>
                </a:ext>
              </a:extLst>
            </p:cNvPr>
            <p:cNvCxnSpPr>
              <a:cxnSpLocks/>
              <a:stCxn id="5" idx="2"/>
              <a:endCxn id="55" idx="0"/>
            </p:cNvCxnSpPr>
            <p:nvPr/>
          </p:nvCxnSpPr>
          <p:spPr>
            <a:xfrm rot="16200000" flipH="1">
              <a:off x="3715716" y="2661329"/>
              <a:ext cx="322854" cy="105945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de flecha 28">
              <a:extLst>
                <a:ext uri="{FF2B5EF4-FFF2-40B4-BE49-F238E27FC236}">
                  <a16:creationId xmlns:a16="http://schemas.microsoft.com/office/drawing/2014/main" id="{E3FA3043-814E-B05F-752A-4A65F06331A8}"/>
                </a:ext>
              </a:extLst>
            </p:cNvPr>
            <p:cNvCxnSpPr>
              <a:cxnSpLocks/>
              <a:stCxn id="55" idx="2"/>
              <a:endCxn id="62" idx="1"/>
            </p:cNvCxnSpPr>
            <p:nvPr/>
          </p:nvCxnSpPr>
          <p:spPr>
            <a:xfrm rot="16200000" flipH="1">
              <a:off x="3944100" y="4175291"/>
              <a:ext cx="1336468" cy="410930"/>
            </a:xfrm>
            <a:prstGeom prst="bentConnector2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de flecha 28">
              <a:extLst>
                <a:ext uri="{FF2B5EF4-FFF2-40B4-BE49-F238E27FC236}">
                  <a16:creationId xmlns:a16="http://schemas.microsoft.com/office/drawing/2014/main" id="{09857082-ECB3-0A50-4A78-8F58C1690072}"/>
                </a:ext>
              </a:extLst>
            </p:cNvPr>
            <p:cNvCxnSpPr>
              <a:cxnSpLocks/>
              <a:stCxn id="55" idx="2"/>
              <a:endCxn id="59" idx="1"/>
            </p:cNvCxnSpPr>
            <p:nvPr/>
          </p:nvCxnSpPr>
          <p:spPr>
            <a:xfrm rot="16200000" flipH="1">
              <a:off x="4326757" y="3792634"/>
              <a:ext cx="583612" cy="423388"/>
            </a:xfrm>
            <a:prstGeom prst="bentConnector2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12E00CF5-9E1A-CE16-B573-773F93414939}"/>
                </a:ext>
              </a:extLst>
            </p:cNvPr>
            <p:cNvSpPr txBox="1"/>
            <p:nvPr/>
          </p:nvSpPr>
          <p:spPr>
            <a:xfrm>
              <a:off x="5201662" y="2562187"/>
              <a:ext cx="125391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Metastore</a:t>
              </a:r>
              <a:r>
                <a: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8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Admin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4" name="Rectángulo 73">
              <a:extLst>
                <a:ext uri="{FF2B5EF4-FFF2-40B4-BE49-F238E27FC236}">
                  <a16:creationId xmlns:a16="http://schemas.microsoft.com/office/drawing/2014/main" id="{E12C7E6E-BA33-0C95-35C6-34BD6DAB85DE}"/>
                </a:ext>
              </a:extLst>
            </p:cNvPr>
            <p:cNvSpPr/>
            <p:nvPr/>
          </p:nvSpPr>
          <p:spPr>
            <a:xfrm>
              <a:off x="1068831" y="3313112"/>
              <a:ext cx="2278585" cy="2132112"/>
            </a:xfrm>
            <a:prstGeom prst="rect">
              <a:avLst/>
            </a:prstGeom>
            <a:noFill/>
            <a:ln>
              <a:solidFill>
                <a:srgbClr val="FFFF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highlight>
                  <a:srgbClr val="FFFF00"/>
                </a:highlight>
              </a:endParaRPr>
            </a:p>
          </p:txBody>
        </p: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61993BFA-449C-70A3-DBCD-D34324CEEF03}"/>
                </a:ext>
              </a:extLst>
            </p:cNvPr>
            <p:cNvSpPr txBox="1"/>
            <p:nvPr/>
          </p:nvSpPr>
          <p:spPr>
            <a:xfrm>
              <a:off x="1106711" y="5168972"/>
              <a:ext cx="10548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b="1" dirty="0" err="1">
                  <a:solidFill>
                    <a:srgbClr val="FFFF00"/>
                  </a:solidFill>
                  <a:latin typeface="Montserrat" panose="00000500000000000000" pitchFamily="2" charset="0"/>
                </a:rPr>
                <a:t>Catalog</a:t>
              </a:r>
              <a:r>
                <a:rPr lang="es-ES" sz="800" b="1" dirty="0">
                  <a:solidFill>
                    <a:srgbClr val="FFFF00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800" b="1" dirty="0" err="1">
                  <a:solidFill>
                    <a:srgbClr val="FFFF00"/>
                  </a:solidFill>
                  <a:latin typeface="Montserrat" panose="00000500000000000000" pitchFamily="2" charset="0"/>
                </a:rPr>
                <a:t>Admin</a:t>
              </a:r>
              <a:endParaRPr lang="es-ES" sz="800" b="1" dirty="0">
                <a:solidFill>
                  <a:srgbClr val="FFFF00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49BFB6C0-8F26-3920-1DD1-F782C6AAEFFB}"/>
                </a:ext>
              </a:extLst>
            </p:cNvPr>
            <p:cNvGrpSpPr/>
            <p:nvPr/>
          </p:nvGrpSpPr>
          <p:grpSpPr>
            <a:xfrm>
              <a:off x="2411312" y="1830521"/>
              <a:ext cx="1872208" cy="360040"/>
              <a:chOff x="2953967" y="1988840"/>
              <a:chExt cx="896578" cy="507668"/>
            </a:xfrm>
          </p:grpSpPr>
          <p:sp>
            <p:nvSpPr>
              <p:cNvPr id="77" name="Google Shape;2204;p106">
                <a:extLst>
                  <a:ext uri="{FF2B5EF4-FFF2-40B4-BE49-F238E27FC236}">
                    <a16:creationId xmlns:a16="http://schemas.microsoft.com/office/drawing/2014/main" id="{81087DFE-87BB-61DC-CBDB-C8B4A2CF12FC}"/>
                  </a:ext>
                </a:extLst>
              </p:cNvPr>
              <p:cNvSpPr/>
              <p:nvPr/>
            </p:nvSpPr>
            <p:spPr>
              <a:xfrm>
                <a:off x="2991325" y="1988840"/>
                <a:ext cx="821863" cy="507668"/>
              </a:xfrm>
              <a:prstGeom prst="rect">
                <a:avLst/>
              </a:prstGeom>
              <a:solidFill>
                <a:srgbClr val="203864"/>
              </a:solidFill>
              <a:ln>
                <a:noFill/>
              </a:ln>
            </p:spPr>
            <p:txBody>
              <a:bodyPr spcFirstLastPara="1" wrap="square" lIns="91425" tIns="38100" rIns="1097275" bIns="38100" anchor="ctr" anchorCtr="0">
                <a:noAutofit/>
              </a:bodyPr>
              <a:lstStyle/>
              <a:p>
                <a:pPr algn="ctr"/>
                <a:endParaRPr sz="800" dirty="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15C2E9AC-1F8D-7D57-A3A5-C3F547EE9548}"/>
                  </a:ext>
                </a:extLst>
              </p:cNvPr>
              <p:cNvSpPr txBox="1"/>
              <p:nvPr/>
            </p:nvSpPr>
            <p:spPr>
              <a:xfrm>
                <a:off x="2953967" y="2085668"/>
                <a:ext cx="896578" cy="3037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800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Unity </a:t>
                </a:r>
                <a:r>
                  <a:rPr lang="es-ES" sz="8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Catalog</a:t>
                </a:r>
                <a:endParaRPr lang="es-ES" sz="8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cxnSp>
          <p:nvCxnSpPr>
            <p:cNvPr id="79" name="Conector recto de flecha 27">
              <a:extLst>
                <a:ext uri="{FF2B5EF4-FFF2-40B4-BE49-F238E27FC236}">
                  <a16:creationId xmlns:a16="http://schemas.microsoft.com/office/drawing/2014/main" id="{A7AB87B4-1A0E-3FE9-73E4-5622DB979351}"/>
                </a:ext>
              </a:extLst>
            </p:cNvPr>
            <p:cNvCxnSpPr>
              <a:cxnSpLocks/>
              <a:stCxn id="77" idx="2"/>
              <a:endCxn id="5" idx="0"/>
            </p:cNvCxnSpPr>
            <p:nvPr/>
          </p:nvCxnSpPr>
          <p:spPr>
            <a:xfrm rot="5400000">
              <a:off x="3107904" y="2430074"/>
              <a:ext cx="479027" cy="1270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CC0EAC93-8EA2-2B9A-170A-AD530BD82821}"/>
                </a:ext>
              </a:extLst>
            </p:cNvPr>
            <p:cNvCxnSpPr/>
            <p:nvPr/>
          </p:nvCxnSpPr>
          <p:spPr>
            <a:xfrm flipV="1">
              <a:off x="5796136" y="2114636"/>
              <a:ext cx="1008112" cy="447551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CuadroTexto 85">
            <a:extLst>
              <a:ext uri="{FF2B5EF4-FFF2-40B4-BE49-F238E27FC236}">
                <a16:creationId xmlns:a16="http://schemas.microsoft.com/office/drawing/2014/main" id="{6E17ADA6-9748-3334-9472-AC3D527B062F}"/>
              </a:ext>
            </a:extLst>
          </p:cNvPr>
          <p:cNvSpPr txBox="1"/>
          <p:nvPr/>
        </p:nvSpPr>
        <p:spPr>
          <a:xfrm>
            <a:off x="8616280" y="1610655"/>
            <a:ext cx="1625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</a:rPr>
              <a:t>Tiene Full Access sobre el </a:t>
            </a:r>
            <a:r>
              <a:rPr lang="es-ES" sz="800" dirty="0" err="1">
                <a:latin typeface="Montserrat" panose="00000500000000000000" pitchFamily="2" charset="0"/>
              </a:rPr>
              <a:t>Metastore</a:t>
            </a:r>
            <a:r>
              <a:rPr lang="es-ES" sz="800" dirty="0">
                <a:latin typeface="Montserrat" panose="00000500000000000000" pitchFamily="2" charset="0"/>
              </a:rPr>
              <a:t>, pero no acceso sobre datos salvo se le dé.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090D1674-BC9B-1564-58B1-96D6941BEEF7}"/>
              </a:ext>
            </a:extLst>
          </p:cNvPr>
          <p:cNvSpPr txBox="1"/>
          <p:nvPr/>
        </p:nvSpPr>
        <p:spPr>
          <a:xfrm>
            <a:off x="1789685" y="4637343"/>
            <a:ext cx="1625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</a:rPr>
              <a:t>Puede crear </a:t>
            </a:r>
            <a:r>
              <a:rPr lang="es-ES" sz="800" dirty="0" err="1">
                <a:latin typeface="Montserrat" panose="00000500000000000000" pitchFamily="2" charset="0"/>
              </a:rPr>
              <a:t>schemas</a:t>
            </a:r>
            <a:r>
              <a:rPr lang="es-ES" sz="800" dirty="0">
                <a:latin typeface="Montserrat" panose="00000500000000000000" pitchFamily="2" charset="0"/>
              </a:rPr>
              <a:t> y manejar los accesos en Catalogo1 </a:t>
            </a:r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DE0A6BC5-D6EF-962C-A999-3DE369EA97D3}"/>
              </a:ext>
            </a:extLst>
          </p:cNvPr>
          <p:cNvCxnSpPr>
            <a:cxnSpLocks/>
            <a:stCxn id="87" idx="2"/>
          </p:cNvCxnSpPr>
          <p:nvPr/>
        </p:nvCxnSpPr>
        <p:spPr>
          <a:xfrm>
            <a:off x="2602422" y="5099007"/>
            <a:ext cx="981654" cy="12614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ángulo: esquinas redondeadas 92">
            <a:extLst>
              <a:ext uri="{FF2B5EF4-FFF2-40B4-BE49-F238E27FC236}">
                <a16:creationId xmlns:a16="http://schemas.microsoft.com/office/drawing/2014/main" id="{AA7B30A2-DACD-5E4B-2369-BAA827300FFE}"/>
              </a:ext>
            </a:extLst>
          </p:cNvPr>
          <p:cNvSpPr/>
          <p:nvPr/>
        </p:nvSpPr>
        <p:spPr>
          <a:xfrm>
            <a:off x="1784132" y="1268761"/>
            <a:ext cx="2727693" cy="62199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050" dirty="0">
              <a:solidFill>
                <a:schemeClr val="tx1"/>
              </a:solidFill>
            </a:endParaRPr>
          </a:p>
        </p:txBody>
      </p:sp>
      <p:pic>
        <p:nvPicPr>
          <p:cNvPr id="95" name="Gráfico 94" descr="Estrella con relleno sólido">
            <a:extLst>
              <a:ext uri="{FF2B5EF4-FFF2-40B4-BE49-F238E27FC236}">
                <a16:creationId xmlns:a16="http://schemas.microsoft.com/office/drawing/2014/main" id="{2B790DAD-0612-6360-7EAB-1714BF2FF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4673" y="1446110"/>
            <a:ext cx="93876" cy="91302"/>
          </a:xfrm>
          <a:prstGeom prst="rect">
            <a:avLst/>
          </a:prstGeom>
        </p:spPr>
      </p:pic>
      <p:sp>
        <p:nvSpPr>
          <p:cNvPr id="96" name="CuadroTexto 95">
            <a:extLst>
              <a:ext uri="{FF2B5EF4-FFF2-40B4-BE49-F238E27FC236}">
                <a16:creationId xmlns:a16="http://schemas.microsoft.com/office/drawing/2014/main" id="{E3C176E9-E3FC-C324-FC55-9836E142422D}"/>
              </a:ext>
            </a:extLst>
          </p:cNvPr>
          <p:cNvSpPr txBox="1"/>
          <p:nvPr/>
        </p:nvSpPr>
        <p:spPr>
          <a:xfrm>
            <a:off x="1885384" y="1251222"/>
            <a:ext cx="262644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b="1" dirty="0" err="1">
                <a:latin typeface="Montserrat" panose="00000500000000000000" pitchFamily="2" charset="0"/>
              </a:rPr>
              <a:t>Best</a:t>
            </a:r>
            <a:r>
              <a:rPr lang="es-ES" sz="900" b="1" dirty="0">
                <a:latin typeface="Montserrat" panose="00000500000000000000" pitchFamily="2" charset="0"/>
              </a:rPr>
              <a:t> </a:t>
            </a:r>
            <a:r>
              <a:rPr lang="es-ES" sz="900" b="1" dirty="0" err="1">
                <a:latin typeface="Montserrat" panose="00000500000000000000" pitchFamily="2" charset="0"/>
              </a:rPr>
              <a:t>Practise</a:t>
            </a:r>
            <a:r>
              <a:rPr lang="es-ES" sz="900" b="1" dirty="0">
                <a:latin typeface="Montserrat" panose="00000500000000000000" pitchFamily="2" charset="0"/>
              </a:rPr>
              <a:t>!</a:t>
            </a:r>
          </a:p>
          <a:p>
            <a:r>
              <a:rPr lang="es-ES" sz="800" dirty="0">
                <a:latin typeface="Montserrat" panose="00000500000000000000" pitchFamily="2" charset="0"/>
              </a:rPr>
              <a:t>Asignar Roles a grupos</a:t>
            </a:r>
          </a:p>
          <a:p>
            <a:r>
              <a:rPr lang="es-ES" sz="800" dirty="0">
                <a:latin typeface="Montserrat" panose="00000500000000000000" pitchFamily="2" charset="0"/>
              </a:rPr>
              <a:t>Alinear la asignación de roles con el enfoque de la organización en gobernanza</a:t>
            </a:r>
          </a:p>
        </p:txBody>
      </p:sp>
      <p:pic>
        <p:nvPicPr>
          <p:cNvPr id="97" name="Gráfico 96" descr="Estrella con relleno sólido">
            <a:extLst>
              <a:ext uri="{FF2B5EF4-FFF2-40B4-BE49-F238E27FC236}">
                <a16:creationId xmlns:a16="http://schemas.microsoft.com/office/drawing/2014/main" id="{D79F3992-34AB-04A2-7FBE-529C8DFEEE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4673" y="1573778"/>
            <a:ext cx="93876" cy="91302"/>
          </a:xfrm>
          <a:prstGeom prst="rect">
            <a:avLst/>
          </a:prstGeom>
        </p:spPr>
      </p:pic>
      <p:sp>
        <p:nvSpPr>
          <p:cNvPr id="12" name="Google Shape;274;g35ee5cc475b_0_15">
            <a:extLst>
              <a:ext uri="{FF2B5EF4-FFF2-40B4-BE49-F238E27FC236}">
                <a16:creationId xmlns:a16="http://schemas.microsoft.com/office/drawing/2014/main" id="{E04B4892-BC60-BEC4-F190-144E3452DBCE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Introducción a UC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Intro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Control de Accesos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A9320C5-3C42-32FA-A20E-EFAB99BC6362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Imagen 15" descr="Texto&#10;&#10;El contenido generado por IA puede ser incorrecto.">
            <a:extLst>
              <a:ext uri="{FF2B5EF4-FFF2-40B4-BE49-F238E27FC236}">
                <a16:creationId xmlns:a16="http://schemas.microsoft.com/office/drawing/2014/main" id="{4FE427B9-B70F-133D-B67D-D448947625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974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5A17-4CCE-3ECB-6BB8-0AE9B71A2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o 34">
            <a:extLst>
              <a:ext uri="{FF2B5EF4-FFF2-40B4-BE49-F238E27FC236}">
                <a16:creationId xmlns:a16="http://schemas.microsoft.com/office/drawing/2014/main" id="{3BB68BF7-F425-68C9-57D8-B0779328C804}"/>
              </a:ext>
            </a:extLst>
          </p:cNvPr>
          <p:cNvGrpSpPr/>
          <p:nvPr/>
        </p:nvGrpSpPr>
        <p:grpSpPr>
          <a:xfrm>
            <a:off x="1919536" y="2780928"/>
            <a:ext cx="8424936" cy="2016224"/>
            <a:chOff x="395536" y="3284984"/>
            <a:chExt cx="8424936" cy="2016224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3A145AE8-9EC2-D7BA-0B1B-75656C6F2C11}"/>
                </a:ext>
              </a:extLst>
            </p:cNvPr>
            <p:cNvSpPr/>
            <p:nvPr/>
          </p:nvSpPr>
          <p:spPr>
            <a:xfrm>
              <a:off x="395536" y="3284984"/>
              <a:ext cx="8424936" cy="2016224"/>
            </a:xfrm>
            <a:prstGeom prst="rect">
              <a:avLst/>
            </a:prstGeom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B4FF902-4F40-F197-A8F9-0CBA970781AE}"/>
                </a:ext>
              </a:extLst>
            </p:cNvPr>
            <p:cNvSpPr/>
            <p:nvPr/>
          </p:nvSpPr>
          <p:spPr>
            <a:xfrm>
              <a:off x="626448" y="4293096"/>
              <a:ext cx="7949545" cy="79208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Metadata</a:t>
              </a:r>
              <a:r>
                <a:rPr lang="es-ES" sz="1600" dirty="0"/>
                <a:t> Management</a:t>
              </a:r>
            </a:p>
            <a:p>
              <a:pPr algn="ctr"/>
              <a:r>
                <a:rPr lang="es-ES" sz="1600" dirty="0"/>
                <a:t>(Files | Tables | ML </a:t>
              </a:r>
              <a:r>
                <a:rPr lang="es-ES" sz="1600" dirty="0" err="1"/>
                <a:t>Models</a:t>
              </a:r>
              <a:r>
                <a:rPr lang="es-ES" sz="1600" dirty="0"/>
                <a:t> | Notebooks | </a:t>
              </a:r>
              <a:r>
                <a:rPr lang="es-ES" sz="1600" dirty="0" err="1"/>
                <a:t>Dashboards</a:t>
              </a:r>
              <a:r>
                <a:rPr lang="es-ES" sz="1600" dirty="0"/>
                <a:t>)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AA8671A-66BB-A67B-D515-E6D3F1E4A56A}"/>
                </a:ext>
              </a:extLst>
            </p:cNvPr>
            <p:cNvSpPr/>
            <p:nvPr/>
          </p:nvSpPr>
          <p:spPr>
            <a:xfrm>
              <a:off x="63426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Access</a:t>
              </a:r>
            </a:p>
            <a:p>
              <a:pPr algn="ctr"/>
              <a:r>
                <a:rPr lang="es-ES" sz="1600" dirty="0" err="1"/>
                <a:t>Controls</a:t>
              </a:r>
              <a:endParaRPr lang="es-ES" sz="1600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841BECE6-03CE-0454-54C6-38BA2FAA943C}"/>
                </a:ext>
              </a:extLst>
            </p:cNvPr>
            <p:cNvSpPr/>
            <p:nvPr/>
          </p:nvSpPr>
          <p:spPr>
            <a:xfrm>
              <a:off x="197971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Lineage</a:t>
              </a:r>
              <a:endParaRPr lang="es-ES" sz="1600" dirty="0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E60F226F-14E1-77F3-58C8-5A504F25E121}"/>
                </a:ext>
              </a:extLst>
            </p:cNvPr>
            <p:cNvSpPr/>
            <p:nvPr/>
          </p:nvSpPr>
          <p:spPr>
            <a:xfrm>
              <a:off x="332897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Discovery</a:t>
              </a: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DF7E5F51-9708-4D3F-B5C2-268C8D6EC95F}"/>
                </a:ext>
              </a:extLst>
            </p:cNvPr>
            <p:cNvSpPr/>
            <p:nvPr/>
          </p:nvSpPr>
          <p:spPr>
            <a:xfrm>
              <a:off x="467824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Monitoring</a:t>
              </a:r>
              <a:endParaRPr lang="es-ES" sz="1600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B17F15E-B907-C8FB-94DC-CC081E401007}"/>
                </a:ext>
              </a:extLst>
            </p:cNvPr>
            <p:cNvSpPr/>
            <p:nvPr/>
          </p:nvSpPr>
          <p:spPr>
            <a:xfrm>
              <a:off x="602750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Auditing</a:t>
              </a:r>
              <a:endParaRPr lang="es-ES" sz="1600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592244E6-A9A1-1914-85FA-AB5F9CBA3A6C}"/>
                </a:ext>
              </a:extLst>
            </p:cNvPr>
            <p:cNvSpPr/>
            <p:nvPr/>
          </p:nvSpPr>
          <p:spPr>
            <a:xfrm>
              <a:off x="7374564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Sharing</a:t>
              </a:r>
              <a:endParaRPr lang="es-ES" sz="1600" dirty="0"/>
            </a:p>
          </p:txBody>
        </p:sp>
      </p:grp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B8870F92-28F9-BB4A-1DA5-43980EF1F5D6}"/>
              </a:ext>
            </a:extLst>
          </p:cNvPr>
          <p:cNvSpPr txBox="1">
            <a:spLocks/>
          </p:cNvSpPr>
          <p:nvPr/>
        </p:nvSpPr>
        <p:spPr>
          <a:xfrm>
            <a:off x="350164" y="174352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24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Introducción a UC </a:t>
            </a:r>
            <a:r>
              <a:rPr lang="es-ES" sz="24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</a:t>
            </a:r>
            <a:r>
              <a:rPr lang="es-ES" sz="24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Modulos</a:t>
            </a:r>
            <a:endParaRPr lang="es-ES" sz="24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5FEE5CB-2038-73ED-2E38-C9CAFAE434A8}"/>
              </a:ext>
            </a:extLst>
          </p:cNvPr>
          <p:cNvSpPr/>
          <p:nvPr/>
        </p:nvSpPr>
        <p:spPr>
          <a:xfrm>
            <a:off x="0" y="6246660"/>
            <a:ext cx="12192000" cy="6113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4" name="Imagen 13" descr="Texto&#10;&#10;El contenido generado por IA puede ser incorrecto.">
            <a:extLst>
              <a:ext uri="{FF2B5EF4-FFF2-40B4-BE49-F238E27FC236}">
                <a16:creationId xmlns:a16="http://schemas.microsoft.com/office/drawing/2014/main" id="{B4DD4B5E-9DD8-99C8-AEED-80DCF4A66C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586" y="6280748"/>
            <a:ext cx="800145" cy="5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71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D92B1-F3B5-F047-67B3-2A3F4643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F4A72C6-4696-24A6-0E07-12CD5C3837D2}"/>
              </a:ext>
            </a:extLst>
          </p:cNvPr>
          <p:cNvSpPr txBox="1"/>
          <p:nvPr/>
        </p:nvSpPr>
        <p:spPr>
          <a:xfrm>
            <a:off x="3467708" y="2422032"/>
            <a:ext cx="52565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endParaRPr lang="es-ES" sz="28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CONTROL DE ACCESOS</a:t>
            </a:r>
          </a:p>
        </p:txBody>
      </p:sp>
    </p:spTree>
    <p:extLst>
      <p:ext uri="{BB962C8B-B14F-4D97-AF65-F5344CB8AC3E}">
        <p14:creationId xmlns:p14="http://schemas.microsoft.com/office/powerpoint/2010/main" val="10132046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2747</Words>
  <Application>Microsoft Office PowerPoint</Application>
  <PresentationFormat>Panorámica</PresentationFormat>
  <Paragraphs>311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Montserrat</vt:lpstr>
      <vt:lpstr>Montserrat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Martínez Morales</dc:creator>
  <cp:lastModifiedBy>Javier Martínez Morales</cp:lastModifiedBy>
  <cp:revision>3</cp:revision>
  <dcterms:created xsi:type="dcterms:W3CDTF">2025-12-03T10:42:45Z</dcterms:created>
  <dcterms:modified xsi:type="dcterms:W3CDTF">2025-12-03T11:04:28Z</dcterms:modified>
</cp:coreProperties>
</file>